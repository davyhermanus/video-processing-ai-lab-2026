
<file path=[Content_Types].xml><?xml version="1.0" encoding="utf-8"?>
<Types xmlns="http://schemas.openxmlformats.org/package/2006/content-types">
  <Default Extension="emf" ContentType="image/x-emf"/>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9"/>
  </p:notesMasterIdLst>
  <p:sldIdLst>
    <p:sldId id="256" r:id="rId2"/>
    <p:sldId id="257" r:id="rId3"/>
    <p:sldId id="258" r:id="rId4"/>
    <p:sldId id="299" r:id="rId5"/>
    <p:sldId id="326" r:id="rId38"/>
    <p:sldId id="318" r:id="rId6"/>
    <p:sldId id="314" r:id="rId7"/>
    <p:sldId id="319" r:id="rId8"/>
    <p:sldId id="327" r:id="rId39"/>
    <p:sldId id="333" r:id="rId45"/>
    <p:sldId id="334" r:id="rId46"/>
    <p:sldId id="335" r:id="rId47"/>
    <p:sldId id="336" r:id="rId48"/>
    <p:sldId id="337" r:id="rId49"/>
    <p:sldId id="338" r:id="rId50"/>
    <p:sldId id="339" r:id="rId51"/>
    <p:sldId id="340" r:id="rId52"/>
    <p:sldId id="341" r:id="rId53"/>
    <p:sldId id="342" r:id="rId54"/>
    <p:sldId id="315" r:id="rId9"/>
    <p:sldId id="320" r:id="rId10"/>
    <p:sldId id="328" r:id="rId40"/>
    <p:sldId id="316" r:id="rId11"/>
    <p:sldId id="321" r:id="rId12"/>
    <p:sldId id="329" r:id="rId41"/>
    <p:sldId id="317" r:id="rId13"/>
    <p:sldId id="322" r:id="rId14"/>
    <p:sldId id="323" r:id="rId15"/>
    <p:sldId id="330" r:id="rId42"/>
    <p:sldId id="324" r:id="rId16"/>
    <p:sldId id="325" r:id="rId17"/>
    <p:sldId id="331" r:id="rId43"/>
    <p:sldId id="278" r:id="rId18"/>
    <p:sldId id="332" r:id="rId44"/>
  </p:sldIdLst>
  <p:sldSz cx="24384000" cy="13716000"/>
  <p:notesSz cx="6858000" cy="9144000"/>
  <p:embeddedFontLst>
    <p:embeddedFont>
      <p:font typeface="OCRB" panose="020B0609020202020204" pitchFamily="49" charset="77"/>
      <p:regular r:id="rId20"/>
    </p:embeddedFont>
    <p:embeddedFont>
      <p:font typeface="Open Sans" panose="020B0606030504020204" pitchFamily="34" charset="0"/>
      <p:regular r:id="rId21"/>
      <p:bold r:id="rId22"/>
      <p:italic r:id="rId23"/>
      <p:boldItalic r:id="rId24"/>
    </p:embeddedFont>
    <p:embeddedFont>
      <p:font typeface="Open Sans ExtraBold" panose="020B0606030504020204" pitchFamily="34" charset="0"/>
      <p:bold r:id="rId25"/>
      <p:italic r:id="rId26"/>
      <p:boldItalic r:id="rId27"/>
    </p:embeddedFont>
    <p:embeddedFont>
      <p:font typeface="Open Sans Light" panose="020B0306030504020204" pitchFamily="34" charset="0"/>
      <p:regular r:id="rId28"/>
      <p:italic r:id="rId29"/>
    </p:embeddedFont>
    <p:embeddedFont>
      <p:font typeface="Open Sans Semibold" panose="020B0606030504020204" pitchFamily="34" charset="0"/>
      <p:regular r:id="rId30"/>
      <p:bold r:id="rId31"/>
      <p:italic r:id="rId32"/>
      <p:boldItalic r:id="rId33"/>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B5FF"/>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82606"/>
  </p:normalViewPr>
  <p:slideViewPr>
    <p:cSldViewPr snapToGrid="0" snapToObjects="1">
      <p:cViewPr varScale="1">
        <p:scale>
          <a:sx n="50" d="100"/>
          <a:sy n="50" d="100"/>
        </p:scale>
        <p:origin x="920" y="184"/>
      </p:cViewPr>
      <p:guideLst>
        <p:guide orient="horz" pos="4320"/>
        <p:guide pos="76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14.xml"/><Relationship Id="rId10" Type="http://schemas.openxmlformats.org/officeDocument/2006/relationships/slide" Target="slides/slide15.xml"/><Relationship Id="rId11" Type="http://schemas.openxmlformats.org/officeDocument/2006/relationships/slide" Target="slides/slide17.xml"/><Relationship Id="rId12" Type="http://schemas.openxmlformats.org/officeDocument/2006/relationships/slide" Target="slides/slide18.xml"/><Relationship Id="rId13" Type="http://schemas.openxmlformats.org/officeDocument/2006/relationships/slide" Target="slides/slide20.xml"/><Relationship Id="rId14" Type="http://schemas.openxmlformats.org/officeDocument/2006/relationships/slide" Target="slides/slide21.xml"/><Relationship Id="rId15" Type="http://schemas.openxmlformats.org/officeDocument/2006/relationships/slide" Target="slides/slide22.xml"/><Relationship Id="rId16" Type="http://schemas.openxmlformats.org/officeDocument/2006/relationships/slide" Target="slides/slide24.xml"/><Relationship Id="rId17" Type="http://schemas.openxmlformats.org/officeDocument/2006/relationships/slide" Target="slides/slide25.xml"/><Relationship Id="rId18" Type="http://schemas.openxmlformats.org/officeDocument/2006/relationships/slide" Target="slides/slide27.xml"/><Relationship Id="rId19" Type="http://schemas.openxmlformats.org/officeDocument/2006/relationships/notesMaster" Target="notesMasters/notesMaster1.xml"/><Relationship Id="rId20" Type="http://schemas.openxmlformats.org/officeDocument/2006/relationships/font" Target="fonts/font1.fntdata"/><Relationship Id="rId21" Type="http://schemas.openxmlformats.org/officeDocument/2006/relationships/font" Target="fonts/font2.fntdata"/><Relationship Id="rId22" Type="http://schemas.openxmlformats.org/officeDocument/2006/relationships/font" Target="fonts/font3.fntdata"/><Relationship Id="rId23" Type="http://schemas.openxmlformats.org/officeDocument/2006/relationships/font" Target="fonts/font4.fntdata"/><Relationship Id="rId24" Type="http://schemas.openxmlformats.org/officeDocument/2006/relationships/font" Target="fonts/font5.fntdata"/><Relationship Id="rId25" Type="http://schemas.openxmlformats.org/officeDocument/2006/relationships/font" Target="fonts/font6.fntdata"/><Relationship Id="rId26" Type="http://schemas.openxmlformats.org/officeDocument/2006/relationships/font" Target="fonts/font7.fntdata"/><Relationship Id="rId27" Type="http://schemas.openxmlformats.org/officeDocument/2006/relationships/font" Target="fonts/font8.fntdata"/><Relationship Id="rId28" Type="http://schemas.openxmlformats.org/officeDocument/2006/relationships/font" Target="fonts/font9.fntdata"/><Relationship Id="rId29" Type="http://schemas.openxmlformats.org/officeDocument/2006/relationships/font" Target="fonts/font10.fntdata"/><Relationship Id="rId30" Type="http://schemas.openxmlformats.org/officeDocument/2006/relationships/font" Target="fonts/font11.fntdata"/><Relationship Id="rId31" Type="http://schemas.openxmlformats.org/officeDocument/2006/relationships/font" Target="fonts/font12.fntdata"/><Relationship Id="rId32" Type="http://schemas.openxmlformats.org/officeDocument/2006/relationships/font" Target="fonts/font13.fntdata"/><Relationship Id="rId33" Type="http://schemas.openxmlformats.org/officeDocument/2006/relationships/font" Target="fonts/font14.fntdata"/><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38" Type="http://schemas.openxmlformats.org/officeDocument/2006/relationships/slide" Target="slides/slide5.xml"/><Relationship Id="rId39" Type="http://schemas.openxmlformats.org/officeDocument/2006/relationships/slide" Target="slides/slide9.xml"/><Relationship Id="rId40" Type="http://schemas.openxmlformats.org/officeDocument/2006/relationships/slide" Target="slides/slide16.xml"/><Relationship Id="rId41" Type="http://schemas.openxmlformats.org/officeDocument/2006/relationships/slide" Target="slides/slide19.xml"/><Relationship Id="rId42" Type="http://schemas.openxmlformats.org/officeDocument/2006/relationships/slide" Target="slides/slide23.xml"/><Relationship Id="rId43" Type="http://schemas.openxmlformats.org/officeDocument/2006/relationships/slide" Target="slides/slide26.xml"/><Relationship Id="rId44" Type="http://schemas.openxmlformats.org/officeDocument/2006/relationships/slide" Target="slides/slide28.xml"/><Relationship Id="rId45" Type="http://schemas.openxmlformats.org/officeDocument/2006/relationships/slide" Target="slides/slide10.xml"/><Relationship Id="rId46" Type="http://schemas.openxmlformats.org/officeDocument/2006/relationships/slide" Target="slides/slide11.xml"/><Relationship Id="rId47" Type="http://schemas.openxmlformats.org/officeDocument/2006/relationships/slide" Target="slides/slide12.xml"/><Relationship Id="rId48" Type="http://schemas.openxmlformats.org/officeDocument/2006/relationships/slide" Target="slides/slide13.xml"/><Relationship Id="rId49" Type="http://schemas.openxmlformats.org/officeDocument/2006/relationships/slide" Target="slides/slide29.xml"/><Relationship Id="rId50" Type="http://schemas.openxmlformats.org/officeDocument/2006/relationships/slide" Target="slides/slide30.xml"/><Relationship Id="rId51" Type="http://schemas.openxmlformats.org/officeDocument/2006/relationships/slide" Target="slides/slide31.xml"/><Relationship Id="rId52" Type="http://schemas.openxmlformats.org/officeDocument/2006/relationships/slide" Target="slides/slide32.xml"/><Relationship Id="rId53" Type="http://schemas.openxmlformats.org/officeDocument/2006/relationships/slide" Target="slides/slide33.xml"/><Relationship Id="rId54"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67522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006688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457200" eaLnBrk="1" fontAlgn="auto" latinLnBrk="0" hangingPunct="1">
              <a:lnSpc>
                <a:spcPct val="117999"/>
              </a:lnSpc>
              <a:spcBef>
                <a:spcPts val="0"/>
              </a:spcBef>
              <a:spcAft>
                <a:spcPts val="0"/>
              </a:spcAft>
              <a:buClrTx/>
              <a:buSzTx/>
              <a:buFontTx/>
              <a:buNone/>
              <a:tabLst/>
              <a:defRPr/>
            </a:pPr>
            <a:r>
              <a:rPr kumimoji="0" lang="en-US" sz="2400" b="0" i="0" u="none" strike="noStrike" cap="none" spc="0" normalizeH="0" baseline="0" dirty="0">
                <a:ln>
                  <a:noFill/>
                </a:ln>
                <a:solidFill>
                  <a:schemeClr val="bg2">
                    <a:lumMod val="10000"/>
                  </a:schemeClr>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rPr>
              <a:t>Note that despite the comparison,  the video of Will Smith eating spaghetti did not represent the state of the art in text-to-video synthesis at the time of its creation in March 2023 (that title would likely apply to Runway's Gen-2: https://</a:t>
            </a:r>
            <a:r>
              <a:rPr kumimoji="0" lang="en-US" sz="2400" b="0" i="0" u="none" strike="noStrike" cap="none" spc="0" normalizeH="0" baseline="0" dirty="0" err="1">
                <a:ln>
                  <a:noFill/>
                </a:ln>
                <a:solidFill>
                  <a:schemeClr val="bg2">
                    <a:lumMod val="10000"/>
                  </a:schemeClr>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rPr>
              <a:t>research.runwayml.com</a:t>
            </a:r>
            <a:r>
              <a:rPr kumimoji="0" lang="en-US" sz="2400" b="0" i="0" u="none" strike="noStrike" cap="none" spc="0" normalizeH="0" baseline="0" dirty="0">
                <a:ln>
                  <a:noFill/>
                </a:ln>
                <a:solidFill>
                  <a:schemeClr val="bg2">
                    <a:lumMod val="10000"/>
                  </a:schemeClr>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rPr>
              <a:t>/gen2, which was then in closed testing). </a:t>
            </a:r>
            <a:r>
              <a:rPr lang="en-ID" sz="20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However, the spaghetti video was reasonably advanced for open weights models at the time, having used the </a:t>
            </a:r>
            <a:r>
              <a:rPr lang="en-ID" sz="2000" b="0" i="0" u="none" strike="noStrike" dirty="0" err="1">
                <a:solidFill>
                  <a:srgbClr val="FF4E00"/>
                </a:solidFill>
                <a:effectLst/>
                <a:latin typeface="Open Sans" panose="020B0606030504020204" pitchFamily="34" charset="0"/>
                <a:ea typeface="Open Sans" panose="020B0606030504020204" pitchFamily="34" charset="0"/>
                <a:cs typeface="Open Sans" panose="020B0606030504020204" pitchFamily="34" charset="0"/>
              </a:rPr>
              <a:t>ModelScope</a:t>
            </a:r>
            <a:r>
              <a:rPr lang="en-ID" sz="20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AI model. More capable video synthesis models had already been released at that time, but due to the humorous cultural reference, it's arguably more fun to compare today's AI video synthesis to Will Smith grotesquely eating spaghetti than to teddy bears washing dishes (https://</a:t>
            </a:r>
            <a:r>
              <a:rPr lang="en-ID" sz="2000" b="0" i="0" u="none" strike="noStrike" dirty="0" err="1">
                <a:solidFill>
                  <a:srgbClr val="000000"/>
                </a:solidFill>
                <a:effectLst/>
                <a:latin typeface="Open Sans" panose="020B0606030504020204" pitchFamily="34" charset="0"/>
                <a:ea typeface="Open Sans" panose="020B0606030504020204" pitchFamily="34" charset="0"/>
                <a:cs typeface="Open Sans" panose="020B0606030504020204" pitchFamily="34" charset="0"/>
              </a:rPr>
              <a:t>arstechnica.com</a:t>
            </a:r>
            <a:r>
              <a:rPr lang="en-ID" sz="20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/information-technology/2022/10/googles-newest-ai-generator-creates-</a:t>
            </a:r>
            <a:r>
              <a:rPr lang="en-ID" sz="2000" b="0" i="0" u="none" strike="noStrike" dirty="0" err="1">
                <a:solidFill>
                  <a:srgbClr val="000000"/>
                </a:solidFill>
                <a:effectLst/>
                <a:latin typeface="Open Sans" panose="020B0606030504020204" pitchFamily="34" charset="0"/>
                <a:ea typeface="Open Sans" panose="020B0606030504020204" pitchFamily="34" charset="0"/>
                <a:cs typeface="Open Sans" panose="020B0606030504020204" pitchFamily="34" charset="0"/>
              </a:rPr>
              <a:t>hd</a:t>
            </a:r>
            <a:r>
              <a:rPr lang="en-ID" sz="20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-video-from-text-prompts/)</a:t>
            </a:r>
          </a:p>
          <a:p>
            <a:pPr marL="0" marR="0" lvl="0" indent="0" algn="l" defTabSz="457200" eaLnBrk="1" fontAlgn="auto" latinLnBrk="0" hangingPunct="1">
              <a:lnSpc>
                <a:spcPct val="117999"/>
              </a:lnSpc>
              <a:spcBef>
                <a:spcPts val="0"/>
              </a:spcBef>
              <a:spcAft>
                <a:spcPts val="0"/>
              </a:spcAft>
              <a:buClrTx/>
              <a:buSzTx/>
              <a:buFontTx/>
              <a:buNone/>
              <a:tabLst/>
              <a:defRPr/>
            </a:pPr>
            <a:r>
              <a:rPr lang="en-ID" sz="20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Source: https://</a:t>
            </a:r>
            <a:r>
              <a:rPr lang="en-ID" sz="2000" b="0" i="0" u="none" strike="noStrike" dirty="0" err="1">
                <a:solidFill>
                  <a:srgbClr val="000000"/>
                </a:solidFill>
                <a:effectLst/>
                <a:latin typeface="Open Sans" panose="020B0606030504020204" pitchFamily="34" charset="0"/>
                <a:ea typeface="Open Sans" panose="020B0606030504020204" pitchFamily="34" charset="0"/>
                <a:cs typeface="Open Sans" panose="020B0606030504020204" pitchFamily="34" charset="0"/>
              </a:rPr>
              <a:t>arstechnica.com</a:t>
            </a:r>
            <a:r>
              <a:rPr lang="en-ID" sz="20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/information-technology/2024/02/will-smith-parodies-viral-ai-generated-video-by-actually-eating-spaghetti/</a:t>
            </a:r>
            <a:endParaRPr lang="en-US"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810295937"/>
      </p:ext>
    </p:extLst>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Ask students to predict which video will appear smoothest before running the cells. Distinguish frame rate from video playback speed.</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Students can first run the CPU-friendly synthetic scene. Then introduce Ultralytics modern tracker modes as an optional exercise.</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Do not claim optical flow is 3D reconstruction. Explain camera calibration, parallax and scale ambiguity.</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Have students discuss hallucination risks: enhancement cannot guarantee restoration of lost details.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Avoid presenting older examples as the current state of the art; highlight changing product availability.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Ask students to distinguish procedural frames from generative video model outputs.</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Groups should explain input video, FPS, detector/tracker, computation, output and limits.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Introduce all three demos here. Ask students which one they want to try first and why.</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Best first demo because the targets are large and visually easy to follow.</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Connect this slide to mountain safety, SAR, and disaster-response applications.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is the most relatable scenario because students can imagine campus, mall, and office environments.</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Do not represent the traffic baseline as a trained vehicle classifier. Explain three scenarios and what has actually been run in class.</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Show original HOG output first. Then contrast with YOLO output. Ask why small aerial targets and crowd occlusion challenge detection. 63 IDs does not equal 63 people.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Play full clip: start display is zero; cumulative IN reaches 2 at the end. Remind that no OUT event can reflect clip direction and boundary choice; not necessarily a model failure.</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Ask students to distinguish count per frame from event count and evaluate cases around frames with cumulative jumps.</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For each notebook use Runtime &gt; Run all. For student group exercise allow 10 to 20 seconds clip per group. Video sources must be appropriately licensed or consented.</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Answer key: motion masks detect changing pixels rather than semantic classes; aerial HOG detector does not generalize to bird-eye small people; crossing counts depend on position and orientation of line; occupancy requires a defined area and initial population.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emf"/><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emf"/><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emf"/><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emf"/><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emf"/><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emf"/><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emf"/><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emf"/><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emf"/><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10.png"/><Relationship Id="rId5" Type="http://schemas.openxmlformats.org/officeDocument/2006/relationships/image" Target="../media/image11.svg"/><Relationship Id="rId6" Type="http://schemas.openxmlformats.org/officeDocument/2006/relationships/image" Target="../media/image12.png"/><Relationship Id="rId7" Type="http://schemas.openxmlformats.org/officeDocument/2006/relationships/image" Target="../media/image13.svg"/><Relationship Id="rId8" Type="http://schemas.openxmlformats.org/officeDocument/2006/relationships/image" Target="../media/image14.png"/><Relationship Id="rId9" Type="http://schemas.openxmlformats.org/officeDocument/2006/relationships/image" Target="../media/image15.svg"/><Relationship Id="rId10" Type="http://schemas.openxmlformats.org/officeDocument/2006/relationships/image" Target="../media/image4.png"/><Relationship Id="rId11" Type="http://schemas.openxmlformats.org/officeDocument/2006/relationships/image" Target="../media/image5.png"/><Relationship Id="rId12"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sv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20.png"/><Relationship Id="rId5" Type="http://schemas.openxmlformats.org/officeDocument/2006/relationships/image" Target="../media/image21.sv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emf"/><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emf"/><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700630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lang="en-ID" dirty="0"/>
              <a:t>Presentation Subtitle</a:t>
            </a:r>
          </a:p>
          <a:p>
            <a:pPr lvl="4"/>
            <a:endParaRPr lang="en-ID"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826451"/>
            <a:ext cx="21971004" cy="3917819"/>
          </a:xfrm>
          <a:prstGeom prst="rect">
            <a:avLst/>
          </a:prstGeom>
        </p:spPr>
        <p:txBody>
          <a:bodyPr anchor="b">
            <a:normAutofit/>
          </a:bodyPr>
          <a:lstStyle>
            <a:lvl1pPr algn="ctr">
              <a:defRPr kumimoji="0" sz="1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 Title</a:t>
            </a:r>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7" y="758208"/>
            <a:ext cx="2698754" cy="1143002"/>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409412486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2167376" y="3714224"/>
            <a:ext cx="20052543" cy="8129718"/>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2" name="Group">
            <a:extLst>
              <a:ext uri="{FF2B5EF4-FFF2-40B4-BE49-F238E27FC236}">
                <a16:creationId xmlns:a16="http://schemas.microsoft.com/office/drawing/2014/main" id="{AC8C371E-C0F6-4081-3D3F-D6E3528C4285}"/>
              </a:ext>
            </a:extLst>
          </p:cNvPr>
          <p:cNvGrpSpPr/>
          <p:nvPr userDrawn="1"/>
        </p:nvGrpSpPr>
        <p:grpSpPr>
          <a:xfrm>
            <a:off x="756659" y="-3867"/>
            <a:ext cx="2783909" cy="2014172"/>
            <a:chOff x="-2864397" y="0"/>
            <a:chExt cx="2783907" cy="2014171"/>
          </a:xfrm>
        </p:grpSpPr>
        <p:pic>
          <p:nvPicPr>
            <p:cNvPr id="4" name="Image" descr="Image">
              <a:extLst>
                <a:ext uri="{FF2B5EF4-FFF2-40B4-BE49-F238E27FC236}">
                  <a16:creationId xmlns:a16="http://schemas.microsoft.com/office/drawing/2014/main" id="{521B05C9-D576-5C9F-B6FD-5FB48D1A784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6" name="Image" descr="Image">
              <a:extLst>
                <a:ext uri="{FF2B5EF4-FFF2-40B4-BE49-F238E27FC236}">
                  <a16:creationId xmlns:a16="http://schemas.microsoft.com/office/drawing/2014/main" id="{BAAB4BAE-E916-72F8-967D-ECE287538CA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7" name="Image" descr="Image">
              <a:extLst>
                <a:ext uri="{FF2B5EF4-FFF2-40B4-BE49-F238E27FC236}">
                  <a16:creationId xmlns:a16="http://schemas.microsoft.com/office/drawing/2014/main" id="{4B27BB17-04E8-65DD-1C87-6ECA478DD2AB}"/>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902452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480060" y="-57547"/>
            <a:ext cx="25214580" cy="13888641"/>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8" y="758208"/>
            <a:ext cx="2698754" cy="1143002"/>
          </a:xfrm>
          <a:prstGeom prst="rect">
            <a:avLst/>
          </a:prstGeom>
        </p:spPr>
      </p:pic>
      <p:pic>
        <p:nvPicPr>
          <p:cNvPr id="5" name="Image" descr="Image">
            <a:extLst>
              <a:ext uri="{FF2B5EF4-FFF2-40B4-BE49-F238E27FC236}">
                <a16:creationId xmlns:a16="http://schemas.microsoft.com/office/drawing/2014/main" id="{926A66CA-CC36-3D53-1A6D-2BBE35B859D5}"/>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50031857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r>
              <a:rPr lang="en-ID"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01451" y="758208"/>
            <a:ext cx="2698754" cy="1143002"/>
          </a:xfrm>
          <a:prstGeom prst="rect">
            <a:avLst/>
          </a:prstGeom>
        </p:spPr>
      </p:pic>
      <p:pic>
        <p:nvPicPr>
          <p:cNvPr id="3" name="Image" descr="Image">
            <a:extLst>
              <a:ext uri="{FF2B5EF4-FFF2-40B4-BE49-F238E27FC236}">
                <a16:creationId xmlns:a16="http://schemas.microsoft.com/office/drawing/2014/main" id="{B64D7030-BF7A-6737-0471-B16F6A5E9140}"/>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82620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4" name="Picture 3">
            <a:extLst>
              <a:ext uri="{FF2B5EF4-FFF2-40B4-BE49-F238E27FC236}">
                <a16:creationId xmlns:a16="http://schemas.microsoft.com/office/drawing/2014/main" id="{76F37568-0478-FF67-A2F0-B1647C1EC99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6" name="Image" descr="Image">
            <a:extLst>
              <a:ext uri="{FF2B5EF4-FFF2-40B4-BE49-F238E27FC236}">
                <a16:creationId xmlns:a16="http://schemas.microsoft.com/office/drawing/2014/main" id="{97B52BDB-6F34-5E38-95B5-002D2E4627E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18212086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3" name="Image" descr="Image">
            <a:extLst>
              <a:ext uri="{FF2B5EF4-FFF2-40B4-BE49-F238E27FC236}">
                <a16:creationId xmlns:a16="http://schemas.microsoft.com/office/drawing/2014/main" id="{023E32AF-B055-2D80-60DC-AD951FFC6EC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402990515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123155" y="-274320"/>
            <a:ext cx="24971975" cy="14105414"/>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r>
              <a:rPr lang="en-ID"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3" name="Image" descr="Image">
            <a:extLst>
              <a:ext uri="{FF2B5EF4-FFF2-40B4-BE49-F238E27FC236}">
                <a16:creationId xmlns:a16="http://schemas.microsoft.com/office/drawing/2014/main" id="{171C5759-0A99-760B-64A0-C6156603CACB}"/>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48888290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502920" y="-57547"/>
            <a:ext cx="25237440" cy="13888641"/>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r>
              <a:rPr lang="en-ID" dirty="0"/>
              <a:t>Section Title</a:t>
            </a:r>
          </a:p>
        </p:txBody>
      </p:sp>
      <p:pic>
        <p:nvPicPr>
          <p:cNvPr id="3" name="Picture 2">
            <a:extLst>
              <a:ext uri="{FF2B5EF4-FFF2-40B4-BE49-F238E27FC236}">
                <a16:creationId xmlns:a16="http://schemas.microsoft.com/office/drawing/2014/main" id="{4CFBCE66-A5E8-A158-9B31-BA9AFC1032C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F25DF897-C0D1-81DA-05D2-9D6EC69E200F}"/>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120730222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86098" y="-57547"/>
            <a:ext cx="24752038" cy="14070727"/>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r>
              <a:rPr lang="en-ID" dirty="0"/>
              <a:t>Section Title</a:t>
            </a:r>
          </a:p>
        </p:txBody>
      </p:sp>
      <p:pic>
        <p:nvPicPr>
          <p:cNvPr id="3" name="Picture 2">
            <a:extLst>
              <a:ext uri="{FF2B5EF4-FFF2-40B4-BE49-F238E27FC236}">
                <a16:creationId xmlns:a16="http://schemas.microsoft.com/office/drawing/2014/main" id="{643DC583-F6CD-401E-7E06-373CCF95240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B18B5FE2-77F7-8983-B96D-E39C876C98D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51268309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251460" y="-57547"/>
            <a:ext cx="24940260" cy="14093587"/>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r>
              <a:rPr lang="en-ID" dirty="0"/>
              <a:t>Section Title</a:t>
            </a:r>
          </a:p>
        </p:txBody>
      </p:sp>
      <p:pic>
        <p:nvPicPr>
          <p:cNvPr id="3" name="Picture 2">
            <a:extLst>
              <a:ext uri="{FF2B5EF4-FFF2-40B4-BE49-F238E27FC236}">
                <a16:creationId xmlns:a16="http://schemas.microsoft.com/office/drawing/2014/main" id="{7353EC82-39FF-16C4-642C-2070D4989D3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79D2E17-CD2E-3750-65DE-315E0C44F517}"/>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35794635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3" name="Picture 2">
            <a:extLst>
              <a:ext uri="{FF2B5EF4-FFF2-40B4-BE49-F238E27FC236}">
                <a16:creationId xmlns:a16="http://schemas.microsoft.com/office/drawing/2014/main" id="{18947DDD-26C7-6643-F78E-7D846EE616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4" name="Group">
            <a:extLst>
              <a:ext uri="{FF2B5EF4-FFF2-40B4-BE49-F238E27FC236}">
                <a16:creationId xmlns:a16="http://schemas.microsoft.com/office/drawing/2014/main" id="{7ECEA5DF-6E18-3A6E-8D5B-83F815F6641C}"/>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7091168A-CF21-90B0-E317-4D5837F6741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3" name="Image" descr="Image">
              <a:extLst>
                <a:ext uri="{FF2B5EF4-FFF2-40B4-BE49-F238E27FC236}">
                  <a16:creationId xmlns:a16="http://schemas.microsoft.com/office/drawing/2014/main" id="{66F1D347-8887-50E1-404D-81CA8EA95453}"/>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9" name="Image" descr="Image">
              <a:extLst>
                <a:ext uri="{FF2B5EF4-FFF2-40B4-BE49-F238E27FC236}">
                  <a16:creationId xmlns:a16="http://schemas.microsoft.com/office/drawing/2014/main" id="{31815DE4-517D-1DFD-DEB0-EFAEBDA0E36C}"/>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99810271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4" name="Picture 3">
            <a:extLst>
              <a:ext uri="{FF2B5EF4-FFF2-40B4-BE49-F238E27FC236}">
                <a16:creationId xmlns:a16="http://schemas.microsoft.com/office/drawing/2014/main" id="{4DA99AE5-3E66-BB3F-4028-3D48CC999F2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394FDA65-5E81-1098-0941-1FB18BED14DD}"/>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38BA09D8-F8B2-19A8-B70A-1A73ACE241C6}"/>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C8189981-CA8D-3F41-4C71-452D07E52915}"/>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F2CA1978-1D7F-9FBC-1610-A6CA7FFAA5B4}"/>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
        <p:nvSpPr>
          <p:cNvPr id="2" name="Content Placeholder 7">
            <a:extLst>
              <a:ext uri="{FF2B5EF4-FFF2-40B4-BE49-F238E27FC236}">
                <a16:creationId xmlns:a16="http://schemas.microsoft.com/office/drawing/2014/main" id="{23987A6D-AD04-0FF1-0C66-3D62A8BBD97B}"/>
              </a:ext>
            </a:extLst>
          </p:cNvPr>
          <p:cNvSpPr>
            <a:spLocks noGrp="1"/>
          </p:cNvSpPr>
          <p:nvPr>
            <p:ph sz="quarter" idx="11"/>
          </p:nvPr>
        </p:nvSpPr>
        <p:spPr>
          <a:xfrm>
            <a:off x="2167377" y="3714224"/>
            <a:ext cx="19309300" cy="8129718"/>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405103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80B8984F-75C1-9D5B-FF38-2151D771412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4440FB6-864F-EC32-9C12-F5781DD839A1}"/>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FD2AEEAF-7ADA-0233-2FB3-A724EEF0325B}"/>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8" name="Image" descr="Image">
              <a:extLst>
                <a:ext uri="{FF2B5EF4-FFF2-40B4-BE49-F238E27FC236}">
                  <a16:creationId xmlns:a16="http://schemas.microsoft.com/office/drawing/2014/main" id="{27230D68-4A71-B42E-9C59-8EFE95EE533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9" name="Image" descr="Image">
              <a:extLst>
                <a:ext uri="{FF2B5EF4-FFF2-40B4-BE49-F238E27FC236}">
                  <a16:creationId xmlns:a16="http://schemas.microsoft.com/office/drawing/2014/main" id="{6FA4D137-12D3-04A4-6F7D-A965125F654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50518920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7" name="Picture 6">
            <a:extLst>
              <a:ext uri="{FF2B5EF4-FFF2-40B4-BE49-F238E27FC236}">
                <a16:creationId xmlns:a16="http://schemas.microsoft.com/office/drawing/2014/main" id="{5EC48672-F1E2-A230-B095-57E67183FCA6}"/>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8D3FDAF8-012C-4D3A-C949-6317F6E219D0}"/>
              </a:ext>
            </a:extLst>
          </p:cNvPr>
          <p:cNvGrpSpPr/>
          <p:nvPr userDrawn="1"/>
        </p:nvGrpSpPr>
        <p:grpSpPr>
          <a:xfrm>
            <a:off x="756659" y="-3867"/>
            <a:ext cx="2783909" cy="2014172"/>
            <a:chOff x="-2864397" y="0"/>
            <a:chExt cx="2783907" cy="2014171"/>
          </a:xfrm>
        </p:grpSpPr>
        <p:pic>
          <p:nvPicPr>
            <p:cNvPr id="11" name="Image" descr="Image">
              <a:extLst>
                <a:ext uri="{FF2B5EF4-FFF2-40B4-BE49-F238E27FC236}">
                  <a16:creationId xmlns:a16="http://schemas.microsoft.com/office/drawing/2014/main" id="{56EB9265-9B68-78E9-B5B8-F2C39D9134A2}"/>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E445F39B-125D-DE62-15D6-B4FE5E3C4A7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5" name="Image" descr="Image">
              <a:extLst>
                <a:ext uri="{FF2B5EF4-FFF2-40B4-BE49-F238E27FC236}">
                  <a16:creationId xmlns:a16="http://schemas.microsoft.com/office/drawing/2014/main" id="{CC8E73D5-72F6-77A3-C650-62976C85848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80928499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D5CD14E8-DE1C-14FC-FEA7-30EAAA9BB93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E62B7B4A-4960-D224-2BB3-BD1A6C05E12C}"/>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6F2D1DB1-7918-B846-534B-BCACC79082A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A33628EC-398A-85C8-EA60-202449B367CC}"/>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4EE2131F-630C-FF89-05AC-61DFC807180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08532981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5" name="Picture 4">
            <a:extLst>
              <a:ext uri="{FF2B5EF4-FFF2-40B4-BE49-F238E27FC236}">
                <a16:creationId xmlns:a16="http://schemas.microsoft.com/office/drawing/2014/main" id="{C97FCB3B-92B7-9A04-09DB-5667129A353E}"/>
              </a:ext>
              <a:ext uri="{C183D7F6-B498-43B3-948B-1728B52AA6E4}">
                <adec:decorative xmlns:adec="http://schemas.microsoft.com/office/drawing/2017/decorative" val="1"/>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805F1785-290C-1641-A96F-184692C72980}"/>
              </a:ext>
            </a:extLst>
          </p:cNvPr>
          <p:cNvGrpSpPr/>
          <p:nvPr userDrawn="1"/>
        </p:nvGrpSpPr>
        <p:grpSpPr>
          <a:xfrm>
            <a:off x="756659" y="-3867"/>
            <a:ext cx="2783909" cy="2014172"/>
            <a:chOff x="-2864397" y="0"/>
            <a:chExt cx="2783907" cy="2014171"/>
          </a:xfrm>
        </p:grpSpPr>
        <p:pic>
          <p:nvPicPr>
            <p:cNvPr id="9" name="Image" descr="Image">
              <a:extLst>
                <a:ext uri="{FF2B5EF4-FFF2-40B4-BE49-F238E27FC236}">
                  <a16:creationId xmlns:a16="http://schemas.microsoft.com/office/drawing/2014/main" id="{DE051A88-BFBF-58FB-0D20-AA66E50B943F}"/>
                </a:ext>
              </a:extLst>
            </p:cNvPr>
            <p:cNvPicPr>
              <a:picLocks noChangeAspect="1"/>
            </p:cNvPicPr>
            <p:nvPr/>
          </p:nvPicPr>
          <p:blipFill>
            <a:blip r:embed="rId11"/>
            <a:stretch>
              <a:fillRect/>
            </a:stretch>
          </p:blipFill>
          <p:spPr>
            <a:xfrm>
              <a:off x="-2864398" y="-1"/>
              <a:ext cx="630382" cy="1359672"/>
            </a:xfrm>
            <a:prstGeom prst="rect">
              <a:avLst/>
            </a:prstGeom>
            <a:ln w="12700" cap="flat">
              <a:noFill/>
              <a:miter lim="400000"/>
            </a:ln>
            <a:effectLst/>
          </p:spPr>
        </p:pic>
        <p:pic>
          <p:nvPicPr>
            <p:cNvPr id="10" name="Image" descr="Image">
              <a:extLst>
                <a:ext uri="{FF2B5EF4-FFF2-40B4-BE49-F238E27FC236}">
                  <a16:creationId xmlns:a16="http://schemas.microsoft.com/office/drawing/2014/main" id="{FF606EC9-F598-701C-CF2B-AC339348BD1A}"/>
                </a:ext>
              </a:extLst>
            </p:cNvPr>
            <p:cNvPicPr>
              <a:picLocks noChangeAspect="1"/>
            </p:cNvPicPr>
            <p:nvPr/>
          </p:nvPicPr>
          <p:blipFill>
            <a:blip r:embed="rId12"/>
            <a:srcRect t="88153" r="78332"/>
            <a:stretch>
              <a:fillRect/>
            </a:stretch>
          </p:blipFill>
          <p:spPr>
            <a:xfrm>
              <a:off x="-2850027" y="1390294"/>
              <a:ext cx="601633" cy="623878"/>
            </a:xfrm>
            <a:prstGeom prst="rect">
              <a:avLst/>
            </a:prstGeom>
            <a:ln w="12700" cap="flat">
              <a:noFill/>
              <a:miter lim="400000"/>
            </a:ln>
            <a:effectLst/>
          </p:spPr>
        </p:pic>
        <p:pic>
          <p:nvPicPr>
            <p:cNvPr id="11" name="Image" descr="Image">
              <a:extLst>
                <a:ext uri="{FF2B5EF4-FFF2-40B4-BE49-F238E27FC236}">
                  <a16:creationId xmlns:a16="http://schemas.microsoft.com/office/drawing/2014/main" id="{1DD6A07B-1CB5-B903-09DB-950559FCE4E0}"/>
                </a:ext>
              </a:extLst>
            </p:cNvPr>
            <p:cNvPicPr>
              <a:picLocks noChangeAspect="1"/>
            </p:cNvPicPr>
            <p:nvPr/>
          </p:nvPicPr>
          <p:blipFill>
            <a:blip r:embed="rId12"/>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701029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6" name="Picture 5">
            <a:extLst>
              <a:ext uri="{FF2B5EF4-FFF2-40B4-BE49-F238E27FC236}">
                <a16:creationId xmlns:a16="http://schemas.microsoft.com/office/drawing/2014/main" id="{8D1F61AE-0C1A-636C-687E-207E2A2A70F6}"/>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A734540B-EB64-130D-3523-93575103ED02}"/>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5953221E-8F74-C3B9-7C70-CFB02A3B7E6C}"/>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49A2096B-323B-F3EF-7CC9-DF562AC8C228}"/>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8B7EE6C9-8BC7-CD09-089B-BA35D919D1CC}"/>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22704086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D5210B6C-2009-3AB9-2B36-C9C111BD1FB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6BFD5909-E19C-D820-5C51-280C15B09CBC}"/>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8B08C927-B7A0-43BA-4100-83612BFB59A9}"/>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6AFC5A1D-896A-4BE5-A25A-A0172137210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58C85CFC-A584-60C9-398C-FC5F3B10CF07}"/>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77924557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7" name="Picture 6">
            <a:extLst>
              <a:ext uri="{FF2B5EF4-FFF2-40B4-BE49-F238E27FC236}">
                <a16:creationId xmlns:a16="http://schemas.microsoft.com/office/drawing/2014/main" id="{D0C22165-28E5-078B-D527-EB85E34E9D08}"/>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8" name="Group">
            <a:extLst>
              <a:ext uri="{FF2B5EF4-FFF2-40B4-BE49-F238E27FC236}">
                <a16:creationId xmlns:a16="http://schemas.microsoft.com/office/drawing/2014/main" id="{1AB01AB1-EADC-77A2-A940-2DE69B7ABE8E}"/>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3B174F11-D671-E0EF-C5C9-332FF7B2255D}"/>
                </a:ext>
              </a:extLst>
            </p:cNvPr>
            <p:cNvPicPr>
              <a:picLocks noChangeAspect="1"/>
            </p:cNvPicPr>
            <p:nvPr/>
          </p:nvPicPr>
          <p:blipFill>
            <a:blip r:embed="rId7"/>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B2D60E6B-CEFB-1201-1ABC-A47A5C6DEDA7}"/>
                </a:ext>
              </a:extLst>
            </p:cNvPr>
            <p:cNvPicPr>
              <a:picLocks noChangeAspect="1"/>
            </p:cNvPicPr>
            <p:nvPr/>
          </p:nvPicPr>
          <p:blipFill>
            <a:blip r:embed="rId8"/>
            <a:srcRect t="88153" r="78332"/>
            <a:stretch>
              <a:fillRect/>
            </a:stretch>
          </p:blipFill>
          <p:spPr>
            <a:xfrm>
              <a:off x="-2850027" y="1390294"/>
              <a:ext cx="601633" cy="623878"/>
            </a:xfrm>
            <a:prstGeom prst="rect">
              <a:avLst/>
            </a:prstGeom>
            <a:ln w="12700" cap="flat">
              <a:noFill/>
              <a:miter lim="400000"/>
            </a:ln>
            <a:effectLst/>
          </p:spPr>
        </p:pic>
        <p:pic>
          <p:nvPicPr>
            <p:cNvPr id="14" name="Image" descr="Image">
              <a:extLst>
                <a:ext uri="{FF2B5EF4-FFF2-40B4-BE49-F238E27FC236}">
                  <a16:creationId xmlns:a16="http://schemas.microsoft.com/office/drawing/2014/main" id="{3ECE39F8-02C5-64A7-9AC5-4BDC8C44E368}"/>
                </a:ext>
              </a:extLst>
            </p:cNvPr>
            <p:cNvPicPr>
              <a:picLocks noChangeAspect="1"/>
            </p:cNvPicPr>
            <p:nvPr/>
          </p:nvPicPr>
          <p:blipFill>
            <a:blip r:embed="rId8"/>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81101224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0079C9F5-AAFF-0002-246E-C6EBF2351B3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9954499-52C9-37B8-CE68-E31F97D9B97E}"/>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1827E7EE-F7D7-B912-1873-48F271C754AF}"/>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97CC2254-DB2F-2222-3ACB-0F4D49DF246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1DEA3358-B0D8-2D88-2DDF-CD2824CEACE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3404523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7" name="Picture 6">
            <a:extLst>
              <a:ext uri="{FF2B5EF4-FFF2-40B4-BE49-F238E27FC236}">
                <a16:creationId xmlns:a16="http://schemas.microsoft.com/office/drawing/2014/main" id="{9F9AF533-B5F6-1F4C-DB2A-D5C619F6972D}"/>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CACAE48A-1410-60E4-FCE8-EBA95AD9A7D1}"/>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835D3321-F5AB-7B39-240A-709C3EABC96A}"/>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11" name="Image" descr="Image">
              <a:extLst>
                <a:ext uri="{FF2B5EF4-FFF2-40B4-BE49-F238E27FC236}">
                  <a16:creationId xmlns:a16="http://schemas.microsoft.com/office/drawing/2014/main" id="{9A5045C5-E6D9-0C02-A60D-808D1A46D9CC}"/>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2" name="Image" descr="Image">
              <a:extLst>
                <a:ext uri="{FF2B5EF4-FFF2-40B4-BE49-F238E27FC236}">
                  <a16:creationId xmlns:a16="http://schemas.microsoft.com/office/drawing/2014/main" id="{5C378790-9194-7CF7-64F2-DCDC541DE747}"/>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51361529"/>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8EBE46FE-17DA-131C-25CA-513E1EB2D6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9D08008-1FC5-26A6-E9A3-34742000683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27320987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C5851190-1E16-8731-05F7-9E415A2E72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16478055-4CD9-7AD2-1E0C-062019F0D612}"/>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jpeg"/><Relationship Id="rId3" Type="http://schemas.openxmlformats.org/officeDocument/2006/relationships/hyperlink" Target="https://viso.ai/deep-learning/object-tracking/" TargetMode="External"/></Relationships>
</file>

<file path=ppt/slides/_rels/slide8.xml.rels><?xml version='1.0' encoding='UTF-8' standalone='yes'?>
<Relationships xmlns="http://schemas.openxmlformats.org/package/2006/relationships"><Relationship Id="rId1" Type="http://schemas.openxmlformats.org/officeDocument/2006/relationships/video" Target="https://www.youtube.com/embed/Avpce9ouYJQ?feature=oembed" TargetMode="External"/><Relationship Id="rId2" Type="http://schemas.openxmlformats.org/officeDocument/2006/relationships/slideLayout" Target="../slideLayouts/slideLayout2.xml"/><Relationship Id="rId3" Type="http://schemas.openxmlformats.org/officeDocument/2006/relationships/image" Target="../media/image27.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video" Target="https://www.youtube.com/embed/PQMNCXR-WF8?feature=oembed" TargetMode="External"/><Relationship Id="rId2" Type="http://schemas.openxmlformats.org/officeDocument/2006/relationships/slideLayout" Target="../slideLayouts/slideLayout2.xml"/><Relationship Id="rId3" Type="http://schemas.openxmlformats.org/officeDocument/2006/relationships/image" Target="../media/image28.jpeg"/><Relationship Id="rId4" Type="http://schemas.openxmlformats.org/officeDocument/2006/relationships/hyperlink" Target="https://research.nvidia.com/labs/dir/neuralangelo/"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video" Target="https://www.youtube.com/embed/J8JWSqUnkW0?feature=oembed" TargetMode="External"/><Relationship Id="rId2" Type="http://schemas.openxmlformats.org/officeDocument/2006/relationships/slideLayout" Target="../slideLayouts/slideLayout2.xml"/><Relationship Id="rId3" Type="http://schemas.openxmlformats.org/officeDocument/2006/relationships/image" Target="../media/image29.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0.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2.xml"/><Relationship Id="rId4" Type="http://schemas.openxmlformats.org/officeDocument/2006/relationships/notesSlide" Target="../notesSlides/notesSlide3.xml"/><Relationship Id="rId5" Type="http://schemas.openxmlformats.org/officeDocument/2006/relationships/image" Target="../media/image30.png"/><Relationship Id="rId6" Type="http://schemas.openxmlformats.org/officeDocument/2006/relationships/hyperlink" Target="https://huggingface.co/spaces/ali-vilab/modelscope-text-to-video-synthesis" TargetMode="External"/></Relationships>
</file>

<file path=ppt/slides/_rels/slide21.xml.rels><?xml version='1.0' encoding='UTF-8' standalone='yes'?>
<Relationships xmlns="http://schemas.openxmlformats.org/package/2006/relationships"><Relationship Id="rId1" Type="http://schemas.openxmlformats.org/officeDocument/2006/relationships/video" Target="https://www.youtube.com/embed/dwgihU196mU?feature=oembed" TargetMode="External"/><Relationship Id="rId2" Type="http://schemas.openxmlformats.org/officeDocument/2006/relationships/slideLayout" Target="../slideLayouts/slideLayout2.xml"/><Relationship Id="rId3" Type="http://schemas.openxmlformats.org/officeDocument/2006/relationships/image" Target="../media/image31.jpeg"/></Relationships>
</file>

<file path=ppt/slides/_rels/slide22.xml.rels><?xml version='1.0' encoding='UTF-8' standalone='yes'?>
<Relationships xmlns="http://schemas.openxmlformats.org/package/2006/relationships"><Relationship Id="rId1" Type="http://schemas.openxmlformats.org/officeDocument/2006/relationships/video" Target="https://www.youtube.com/embed/HK6y8DAPN_0?feature=oembed" TargetMode="External"/><Relationship Id="rId2" Type="http://schemas.openxmlformats.org/officeDocument/2006/relationships/slideLayout" Target="../slideLayouts/slideLayout2.xml"/><Relationship Id="rId3" Type="http://schemas.openxmlformats.org/officeDocument/2006/relationships/image" Target="../media/image32.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uggingface.co/stabilityai/stable-video-diffusion-img2vid-xt" TargetMode="External"/><Relationship Id="rId3" Type="http://schemas.openxmlformats.org/officeDocument/2006/relationships/hyperlink" Target="https://huggingface.co/spaces/multimodalart/stable-video-diffusion" TargetMode="External"/></Relationships>
</file>

<file path=ppt/slides/_rels/slide25.xml.rels><?xml version='1.0' encoding='UTF-8' standalone='yes'?>
<Relationships xmlns="http://schemas.openxmlformats.org/package/2006/relationships"><Relationship Id="rId1" Type="http://schemas.microsoft.com/office/2007/relationships/media" Target="../media/media2.mp4"/><Relationship Id="rId2" Type="http://schemas.openxmlformats.org/officeDocument/2006/relationships/video" Target="../media/media2.mp4"/><Relationship Id="rId3" Type="http://schemas.openxmlformats.org/officeDocument/2006/relationships/slideLayout" Target="../slideLayouts/slideLayout2.xml"/><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1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dirty="0"/>
              <a:t>Session 07</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lstStyle/>
          <a:p>
            <a:r>
              <a:rPr lang="en-US" dirty="0"/>
              <a:t>Video Processing</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Henry Lucky, </a:t>
            </a:r>
            <a:r>
              <a:rPr lang="en-US" dirty="0" err="1"/>
              <a:t>S.Kom</a:t>
            </a:r>
            <a:r>
              <a:rPr lang="en-US" dirty="0"/>
              <a:t>., </a:t>
            </a:r>
            <a:r>
              <a:rPr lang="en-US" dirty="0" err="1"/>
              <a:t>M.Kom</a:t>
            </a:r>
            <a:r>
              <a:rPr lang="en-US" dirty="0"/>
              <a:t>.</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Learning Outcomes</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7</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pPr marL="0" indent="0">
              <a:buNone/>
            </a:pPr>
            <a:r>
              <a:rPr lang="en-ID" dirty="0"/>
              <a:t>At the end of this session, students will be able to:</a:t>
            </a:r>
          </a:p>
          <a:p>
            <a:r>
              <a:rPr lang="en-ID" dirty="0"/>
              <a:t>LO 2: Explain terms like machine learning, deep learning, neural networks, natural language processing, computer vision, speech recognition, etc. </a:t>
            </a:r>
          </a:p>
          <a:p>
            <a:r>
              <a:rPr lang="en-ID" dirty="0"/>
              <a:t>LO 3: Use AI tools and platforms to perform various tasks such as content creation, assessment, feedback, etc. </a:t>
            </a:r>
          </a:p>
          <a:p>
            <a:r>
              <a:rPr lang="en-ID" dirty="0"/>
              <a:t>LO 4: Evaluate the performance and limitations of AI systems and tools </a:t>
            </a:r>
          </a:p>
          <a:p>
            <a:endParaRPr lang="en-ID" dirty="0"/>
          </a:p>
          <a:p>
            <a:endParaRPr lang="en-ID" dirty="0"/>
          </a:p>
        </p:txBody>
      </p:sp>
    </p:spTree>
    <p:extLst>
      <p:ext uri="{BB962C8B-B14F-4D97-AF65-F5344CB8AC3E}">
        <p14:creationId xmlns:p14="http://schemas.microsoft.com/office/powerpoint/2010/main" val="276645439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outline</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7</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r>
              <a:rPr lang="en-ID" dirty="0"/>
              <a:t>Introduction to Video Processing</a:t>
            </a:r>
          </a:p>
          <a:p>
            <a:r>
              <a:rPr lang="en-ID" dirty="0"/>
              <a:t>Object tracking</a:t>
            </a:r>
          </a:p>
          <a:p>
            <a:r>
              <a:rPr lang="en-ID" dirty="0"/>
              <a:t>Video-based 3D data inference</a:t>
            </a:r>
          </a:p>
          <a:p>
            <a:r>
              <a:rPr lang="en-ID" dirty="0"/>
              <a:t>Video restoration</a:t>
            </a:r>
          </a:p>
          <a:p>
            <a:r>
              <a:rPr lang="en-ID" dirty="0"/>
              <a:t>Video generator</a:t>
            </a:r>
          </a:p>
          <a:p>
            <a:endParaRPr lang="en-ID" dirty="0"/>
          </a:p>
        </p:txBody>
      </p:sp>
    </p:spTree>
    <p:extLst>
      <p:ext uri="{BB962C8B-B14F-4D97-AF65-F5344CB8AC3E}">
        <p14:creationId xmlns:p14="http://schemas.microsoft.com/office/powerpoint/2010/main" val="188946247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6E60B-7DE7-9308-412B-246D8E00A70F}"/>
              </a:ext>
            </a:extLst>
          </p:cNvPr>
          <p:cNvSpPr>
            <a:spLocks noGrp="1"/>
          </p:cNvSpPr>
          <p:nvPr>
            <p:ph type="title"/>
          </p:nvPr>
        </p:nvSpPr>
        <p:spPr/>
        <p:txBody>
          <a:bodyPr>
            <a:normAutofit fontScale="90000"/>
          </a:bodyPr>
          <a:lstStyle/>
          <a:p>
            <a:r>
              <a:rPr lang="en-US" dirty="0"/>
              <a:t>Introduction to video processing</a:t>
            </a:r>
          </a:p>
        </p:txBody>
      </p:sp>
      <p:sp>
        <p:nvSpPr>
          <p:cNvPr id="3" name="Text Placeholder 2">
            <a:extLst>
              <a:ext uri="{FF2B5EF4-FFF2-40B4-BE49-F238E27FC236}">
                <a16:creationId xmlns:a16="http://schemas.microsoft.com/office/drawing/2014/main" id="{FD73B2DE-9721-70D0-2D26-5D72EF6C30E7}"/>
              </a:ext>
            </a:extLst>
          </p:cNvPr>
          <p:cNvSpPr>
            <a:spLocks noGrp="1"/>
          </p:cNvSpPr>
          <p:nvPr>
            <p:ph type="body" sz="quarter" idx="10"/>
          </p:nvPr>
        </p:nvSpPr>
        <p:spPr/>
        <p:txBody>
          <a:bodyPr/>
          <a:lstStyle/>
          <a:p>
            <a:r>
              <a:rPr lang="en-US" dirty="0"/>
              <a:t>definition</a:t>
            </a:r>
          </a:p>
        </p:txBody>
      </p:sp>
      <p:sp>
        <p:nvSpPr>
          <p:cNvPr id="4" name="Content Placeholder 3">
            <a:extLst>
              <a:ext uri="{FF2B5EF4-FFF2-40B4-BE49-F238E27FC236}">
                <a16:creationId xmlns:a16="http://schemas.microsoft.com/office/drawing/2014/main" id="{31FDE6A3-A7C7-3FDE-D075-C97B365DA8F0}"/>
              </a:ext>
            </a:extLst>
          </p:cNvPr>
          <p:cNvSpPr>
            <a:spLocks noGrp="1"/>
          </p:cNvSpPr>
          <p:nvPr>
            <p:ph sz="quarter" idx="11"/>
          </p:nvPr>
        </p:nvSpPr>
        <p:spPr>
          <a:xfrm>
            <a:off x="2167376" y="3714223"/>
            <a:ext cx="20052543" cy="9183629"/>
          </a:xfrm>
        </p:spPr>
        <p:txBody>
          <a:bodyPr>
            <a:normAutofit/>
          </a:bodyPr>
          <a:lstStyle/>
          <a:p>
            <a:r>
              <a:t>Video is a time-ordered sequence of frames presented at a frame rate (FPS). Audio may accompany the video, but it is not required.</a:t>
            </a:r>
          </a:p>
          <a:p>
            <a:endParaRPr lang="en-US" dirty="0"/>
          </a:p>
          <a:p>
            <a:endParaRPr lang="en-US" dirty="0"/>
          </a:p>
          <a:p>
            <a:endParaRPr lang="en-US" dirty="0"/>
          </a:p>
          <a:p>
            <a:endParaRPr lang="en-US" dirty="0"/>
          </a:p>
          <a:p>
            <a:endParaRPr lang="en-US" dirty="0"/>
          </a:p>
          <a:p>
            <a:endParaRPr lang="en-US" dirty="0"/>
          </a:p>
        </p:txBody>
      </p:sp>
      <p:pic>
        <p:nvPicPr>
          <p:cNvPr id="1026" name="Picture 2" descr="What is FPS (Frames Per Seconds)? What is Frame Rate for video? What Is  Frame Rate? Definition">
            <a:extLst>
              <a:ext uri="{FF2B5EF4-FFF2-40B4-BE49-F238E27FC236}">
                <a16:creationId xmlns:a16="http://schemas.microsoft.com/office/drawing/2014/main" id="{555B3C4F-7B5A-1E80-9285-42C1034E294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9146"/>
          <a:stretch/>
        </p:blipFill>
        <p:spPr bwMode="auto">
          <a:xfrm>
            <a:off x="2877999" y="5317510"/>
            <a:ext cx="18628002" cy="7424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3138501"/>
      </p:ext>
    </p:extLst>
  </p:cSld>
  <p:clrMapOvr>
    <a:masterClrMapping/>
  </p:clrMapOvr>
  <p:transition spd="med"/>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82C"/>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Rounded Rectangle 2"/>
          <p:cNvSpPr/>
          <p:nvPr/>
        </p:nvSpPr>
        <p:spPr>
          <a:xfrm>
            <a:off x="393192" y="411480"/>
            <a:ext cx="109728" cy="640080"/>
          </a:xfrm>
          <a:prstGeom prst="roundRect">
            <a:avLst/>
          </a:prstGeom>
          <a:solidFill>
            <a:srgbClr val="33D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93192"/>
            <a:ext cx="23195280" cy="411480"/>
          </a:xfrm>
          <a:prstGeom prst="rect">
            <a:avLst/>
          </a:prstGeom>
          <a:noFill/>
        </p:spPr>
        <p:txBody>
          <a:bodyPr wrap="square">
            <a:spAutoFit/>
          </a:bodyPr>
          <a:lstStyle/>
          <a:p>
            <a:pPr>
              <a:spcAft>
                <a:spcPts val="1200"/>
              </a:spcAft>
            </a:pPr>
            <a:r>
              <a:rPr sz="3100" b="1">
                <a:solidFill>
                  <a:srgbClr val="F4F9FD"/>
                </a:solidFill>
                <a:latin typeface="Aptos"/>
              </a:rPr>
              <a:t>LAB 1 | Frames and FPS</a:t>
            </a:r>
          </a:p>
        </p:txBody>
      </p:sp>
      <p:sp>
        <p:nvSpPr>
          <p:cNvPr id="5" name="TextBox 4"/>
          <p:cNvSpPr txBox="1"/>
          <p:nvPr/>
        </p:nvSpPr>
        <p:spPr>
          <a:xfrm>
            <a:off x="713232" y="914400"/>
            <a:ext cx="23103840" cy="274320"/>
          </a:xfrm>
          <a:prstGeom prst="rect">
            <a:avLst/>
          </a:prstGeom>
          <a:noFill/>
        </p:spPr>
        <p:txBody>
          <a:bodyPr wrap="square">
            <a:spAutoFit/>
          </a:bodyPr>
          <a:lstStyle/>
          <a:p>
            <a:pPr>
              <a:spcAft>
                <a:spcPts val="1200"/>
              </a:spcAft>
            </a:pPr>
            <a:r>
              <a:rPr sz="1200" b="1">
                <a:solidFill>
                  <a:srgbClr val="33D6D2"/>
                </a:solidFill>
                <a:latin typeface="Aptos"/>
              </a:rPr>
              <a:t>GOOGLE COLAB · INTRODUCTION</a:t>
            </a:r>
          </a:p>
        </p:txBody>
      </p:sp>
      <p:sp>
        <p:nvSpPr>
          <p:cNvPr id="6" name="Rounded Rectangle 5"/>
          <p:cNvSpPr/>
          <p:nvPr/>
        </p:nvSpPr>
        <p:spPr>
          <a:xfrm>
            <a:off x="640080" y="1481328"/>
            <a:ext cx="23103840" cy="3745992"/>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72768"/>
            <a:ext cx="22555200" cy="320040"/>
          </a:xfrm>
          <a:prstGeom prst="rect">
            <a:avLst/>
          </a:prstGeom>
          <a:noFill/>
        </p:spPr>
        <p:txBody>
          <a:bodyPr wrap="square">
            <a:spAutoFit/>
          </a:bodyPr>
          <a:lstStyle/>
          <a:p>
            <a:pPr>
              <a:spcAft>
                <a:spcPts val="1200"/>
              </a:spcAft>
            </a:pPr>
            <a:r>
              <a:rPr sz="1900" b="1">
                <a:solidFill>
                  <a:srgbClr val="FFBE53"/>
                </a:solidFill>
                <a:latin typeface="Aptos"/>
              </a:rPr>
              <a:t>Observe</a:t>
            </a:r>
          </a:p>
        </p:txBody>
      </p:sp>
      <p:sp>
        <p:nvSpPr>
          <p:cNvPr id="8" name="TextBox 7"/>
          <p:cNvSpPr txBox="1"/>
          <p:nvPr/>
        </p:nvSpPr>
        <p:spPr>
          <a:xfrm>
            <a:off x="868680" y="1965960"/>
            <a:ext cx="22555200" cy="3215640"/>
          </a:xfrm>
          <a:prstGeom prst="rect">
            <a:avLst/>
          </a:prstGeom>
          <a:noFill/>
        </p:spPr>
        <p:txBody>
          <a:bodyPr wrap="square">
            <a:spAutoFit/>
          </a:bodyPr>
          <a:lstStyle/>
          <a:p>
            <a:pPr>
              <a:spcAft>
                <a:spcPts val="1200"/>
              </a:spcAft>
            </a:pPr>
            <a:r>
              <a:rPr sz="1600" b="0">
                <a:solidFill>
                  <a:srgbClr val="F4F9FD"/>
                </a:solidFill>
                <a:latin typeface="Aptos"/>
              </a:rPr>
              <a:t>Compare 12 FPS, 24 FPS and 48 FPS using one animated scene.</a:t>
            </a:r>
          </a:p>
        </p:txBody>
      </p:sp>
      <p:sp>
        <p:nvSpPr>
          <p:cNvPr id="9" name="Rounded Rectangle 8"/>
          <p:cNvSpPr/>
          <p:nvPr/>
        </p:nvSpPr>
        <p:spPr>
          <a:xfrm>
            <a:off x="640080" y="5391912"/>
            <a:ext cx="23103840" cy="3745992"/>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5483351"/>
            <a:ext cx="22555200" cy="320040"/>
          </a:xfrm>
          <a:prstGeom prst="rect">
            <a:avLst/>
          </a:prstGeom>
          <a:noFill/>
        </p:spPr>
        <p:txBody>
          <a:bodyPr wrap="square">
            <a:spAutoFit/>
          </a:bodyPr>
          <a:lstStyle/>
          <a:p>
            <a:pPr>
              <a:spcAft>
                <a:spcPts val="1200"/>
              </a:spcAft>
            </a:pPr>
            <a:r>
              <a:rPr sz="1900" b="1">
                <a:solidFill>
                  <a:srgbClr val="FFBE53"/>
                </a:solidFill>
                <a:latin typeface="Aptos"/>
              </a:rPr>
              <a:t>Experiment</a:t>
            </a:r>
          </a:p>
        </p:txBody>
      </p:sp>
      <p:sp>
        <p:nvSpPr>
          <p:cNvPr id="11" name="TextBox 10"/>
          <p:cNvSpPr txBox="1"/>
          <p:nvPr/>
        </p:nvSpPr>
        <p:spPr>
          <a:xfrm>
            <a:off x="868680" y="5876544"/>
            <a:ext cx="22555200" cy="3215640"/>
          </a:xfrm>
          <a:prstGeom prst="rect">
            <a:avLst/>
          </a:prstGeom>
          <a:noFill/>
        </p:spPr>
        <p:txBody>
          <a:bodyPr wrap="square">
            <a:spAutoFit/>
          </a:bodyPr>
          <a:lstStyle/>
          <a:p>
            <a:pPr>
              <a:spcAft>
                <a:spcPts val="1200"/>
              </a:spcAft>
            </a:pPr>
            <a:r>
              <a:rPr sz="1600" b="0">
                <a:solidFill>
                  <a:srgbClr val="F4F9FD"/>
                </a:solidFill>
                <a:latin typeface="Aptos"/>
              </a:rPr>
              <a:t>Change the frame rate. Keep the motion duration fixed. What changes visually?</a:t>
            </a:r>
          </a:p>
        </p:txBody>
      </p:sp>
      <p:sp>
        <p:nvSpPr>
          <p:cNvPr id="12" name="Rounded Rectangle 11"/>
          <p:cNvSpPr/>
          <p:nvPr/>
        </p:nvSpPr>
        <p:spPr>
          <a:xfrm>
            <a:off x="640080" y="9302495"/>
            <a:ext cx="23103840" cy="3745992"/>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9393935"/>
            <a:ext cx="22555200" cy="320040"/>
          </a:xfrm>
          <a:prstGeom prst="rect">
            <a:avLst/>
          </a:prstGeom>
          <a:noFill/>
        </p:spPr>
        <p:txBody>
          <a:bodyPr wrap="square">
            <a:spAutoFit/>
          </a:bodyPr>
          <a:lstStyle/>
          <a:p>
            <a:pPr>
              <a:spcAft>
                <a:spcPts val="1200"/>
              </a:spcAft>
            </a:pPr>
            <a:r>
              <a:rPr sz="1900" b="1">
                <a:solidFill>
                  <a:srgbClr val="FFBE53"/>
                </a:solidFill>
                <a:latin typeface="Aptos"/>
              </a:rPr>
              <a:t>Discuss</a:t>
            </a:r>
          </a:p>
        </p:txBody>
      </p:sp>
      <p:sp>
        <p:nvSpPr>
          <p:cNvPr id="14" name="TextBox 13"/>
          <p:cNvSpPr txBox="1"/>
          <p:nvPr/>
        </p:nvSpPr>
        <p:spPr>
          <a:xfrm>
            <a:off x="868680" y="9787127"/>
            <a:ext cx="22555200" cy="3215640"/>
          </a:xfrm>
          <a:prstGeom prst="rect">
            <a:avLst/>
          </a:prstGeom>
          <a:noFill/>
        </p:spPr>
        <p:txBody>
          <a:bodyPr wrap="square">
            <a:spAutoFit/>
          </a:bodyPr>
          <a:lstStyle/>
          <a:p>
            <a:pPr>
              <a:spcAft>
                <a:spcPts val="1200"/>
              </a:spcAft>
            </a:pPr>
            <a:r>
              <a:rPr sz="1600" b="0">
                <a:solidFill>
                  <a:srgbClr val="F4F9FD"/>
                </a:solidFill>
                <a:latin typeface="Aptos"/>
              </a:rPr>
              <a:t>Does a higher FPS always mean better information or more accurate AI?</a:t>
            </a:r>
          </a:p>
        </p:txBody>
      </p:sp>
      <p:sp>
        <p:nvSpPr>
          <p:cNvPr id="15" name="TextBox 14"/>
          <p:cNvSpPr txBox="1"/>
          <p:nvPr/>
        </p:nvSpPr>
        <p:spPr>
          <a:xfrm>
            <a:off x="713232" y="13277088"/>
            <a:ext cx="23103840" cy="292608"/>
          </a:xfrm>
          <a:prstGeom prst="rect">
            <a:avLst/>
          </a:prstGeom>
          <a:noFill/>
        </p:spPr>
        <p:txBody>
          <a:bodyPr wrap="square">
            <a:spAutoFit/>
          </a:bodyPr>
          <a:lstStyle/>
          <a:p>
            <a:pPr>
              <a:spcAft>
                <a:spcPts val="1200"/>
              </a:spcAft>
            </a:pPr>
            <a:r>
              <a:rPr sz="1000" b="0">
                <a:solidFill>
                  <a:srgbClr val="B9CEDC"/>
                </a:solidFill>
                <a:latin typeface="Aptos"/>
              </a:rPr>
              <a:t>Notebook: Session_07_Video_Processing_Lab_2026.ipynb · Experiment 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6E60B-7DE7-9308-412B-246D8E00A70F}"/>
              </a:ext>
            </a:extLst>
          </p:cNvPr>
          <p:cNvSpPr>
            <a:spLocks noGrp="1"/>
          </p:cNvSpPr>
          <p:nvPr>
            <p:ph type="title"/>
          </p:nvPr>
        </p:nvSpPr>
        <p:spPr/>
        <p:txBody>
          <a:bodyPr>
            <a:normAutofit fontScale="90000"/>
          </a:bodyPr>
          <a:lstStyle/>
          <a:p>
            <a:r>
              <a:rPr lang="en-US" dirty="0"/>
              <a:t>Introduction to video processing</a:t>
            </a:r>
          </a:p>
        </p:txBody>
      </p:sp>
      <p:sp>
        <p:nvSpPr>
          <p:cNvPr id="3" name="Text Placeholder 2">
            <a:extLst>
              <a:ext uri="{FF2B5EF4-FFF2-40B4-BE49-F238E27FC236}">
                <a16:creationId xmlns:a16="http://schemas.microsoft.com/office/drawing/2014/main" id="{FD73B2DE-9721-70D0-2D26-5D72EF6C30E7}"/>
              </a:ext>
            </a:extLst>
          </p:cNvPr>
          <p:cNvSpPr>
            <a:spLocks noGrp="1"/>
          </p:cNvSpPr>
          <p:nvPr>
            <p:ph type="body" sz="quarter" idx="10"/>
          </p:nvPr>
        </p:nvSpPr>
        <p:spPr/>
        <p:txBody>
          <a:bodyPr/>
          <a:lstStyle/>
          <a:p>
            <a:r>
              <a:rPr lang="en-US" dirty="0"/>
              <a:t>definition</a:t>
            </a:r>
          </a:p>
        </p:txBody>
      </p:sp>
      <p:sp>
        <p:nvSpPr>
          <p:cNvPr id="4" name="Content Placeholder 3">
            <a:extLst>
              <a:ext uri="{FF2B5EF4-FFF2-40B4-BE49-F238E27FC236}">
                <a16:creationId xmlns:a16="http://schemas.microsoft.com/office/drawing/2014/main" id="{31FDE6A3-A7C7-3FDE-D075-C97B365DA8F0}"/>
              </a:ext>
            </a:extLst>
          </p:cNvPr>
          <p:cNvSpPr>
            <a:spLocks noGrp="1"/>
          </p:cNvSpPr>
          <p:nvPr>
            <p:ph sz="quarter" idx="11"/>
          </p:nvPr>
        </p:nvSpPr>
        <p:spPr>
          <a:xfrm>
            <a:off x="2167377" y="3714223"/>
            <a:ext cx="9095356" cy="9183629"/>
          </a:xfrm>
        </p:spPr>
        <p:txBody>
          <a:bodyPr>
            <a:normAutofit/>
          </a:bodyPr>
          <a:lstStyle/>
          <a:p>
            <a:r>
              <a:rPr lang="en-US" dirty="0"/>
              <a:t>Video processing refers to the manipulation and analysis of video data to extract useful information, enhance quality, or generate new content.</a:t>
            </a:r>
          </a:p>
          <a:p>
            <a:r>
              <a:t>Processing can operate on individual frames and across time. Tracking, optical flow, and video AI analyze motion or relationships between multiple frames.</a:t>
            </a:r>
          </a:p>
          <a:p>
            <a:endParaRPr lang="en-US" dirty="0"/>
          </a:p>
        </p:txBody>
      </p:sp>
      <p:pic>
        <p:nvPicPr>
          <p:cNvPr id="2050" name="Picture 2" descr="Deep Learning-based Real-time Video Processing - KDnuggets">
            <a:extLst>
              <a:ext uri="{FF2B5EF4-FFF2-40B4-BE49-F238E27FC236}">
                <a16:creationId xmlns:a16="http://schemas.microsoft.com/office/drawing/2014/main" id="{62847975-C791-A79E-A46B-EB1FAAAED45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8354"/>
          <a:stretch/>
        </p:blipFill>
        <p:spPr bwMode="auto">
          <a:xfrm>
            <a:off x="11756780" y="3223274"/>
            <a:ext cx="10459843" cy="95442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7592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6E60B-7DE7-9308-412B-246D8E00A70F}"/>
              </a:ext>
            </a:extLst>
          </p:cNvPr>
          <p:cNvSpPr>
            <a:spLocks noGrp="1"/>
          </p:cNvSpPr>
          <p:nvPr>
            <p:ph type="title"/>
          </p:nvPr>
        </p:nvSpPr>
        <p:spPr/>
        <p:txBody>
          <a:bodyPr>
            <a:normAutofit fontScale="90000"/>
          </a:bodyPr>
          <a:lstStyle/>
          <a:p>
            <a:r>
              <a:rPr lang="en-US" dirty="0"/>
              <a:t>Object tracking</a:t>
            </a:r>
          </a:p>
        </p:txBody>
      </p:sp>
      <p:sp>
        <p:nvSpPr>
          <p:cNvPr id="3" name="Text Placeholder 2">
            <a:extLst>
              <a:ext uri="{FF2B5EF4-FFF2-40B4-BE49-F238E27FC236}">
                <a16:creationId xmlns:a16="http://schemas.microsoft.com/office/drawing/2014/main" id="{FD73B2DE-9721-70D0-2D26-5D72EF6C30E7}"/>
              </a:ext>
            </a:extLst>
          </p:cNvPr>
          <p:cNvSpPr>
            <a:spLocks noGrp="1"/>
          </p:cNvSpPr>
          <p:nvPr>
            <p:ph type="body" sz="quarter" idx="10"/>
          </p:nvPr>
        </p:nvSpPr>
        <p:spPr/>
        <p:txBody>
          <a:bodyPr/>
          <a:lstStyle/>
          <a:p>
            <a:r>
              <a:rPr lang="en-US" dirty="0"/>
              <a:t>definition</a:t>
            </a:r>
          </a:p>
        </p:txBody>
      </p:sp>
      <p:sp>
        <p:nvSpPr>
          <p:cNvPr id="4" name="Content Placeholder 3">
            <a:extLst>
              <a:ext uri="{FF2B5EF4-FFF2-40B4-BE49-F238E27FC236}">
                <a16:creationId xmlns:a16="http://schemas.microsoft.com/office/drawing/2014/main" id="{31FDE6A3-A7C7-3FDE-D075-C97B365DA8F0}"/>
              </a:ext>
            </a:extLst>
          </p:cNvPr>
          <p:cNvSpPr>
            <a:spLocks noGrp="1"/>
          </p:cNvSpPr>
          <p:nvPr>
            <p:ph sz="quarter" idx="11"/>
          </p:nvPr>
        </p:nvSpPr>
        <p:spPr>
          <a:xfrm>
            <a:off x="2167376" y="3714223"/>
            <a:ext cx="8687439" cy="9183629"/>
          </a:xfrm>
        </p:spPr>
        <p:txBody>
          <a:bodyPr>
            <a:normAutofit/>
          </a:bodyPr>
          <a:lstStyle/>
          <a:p>
            <a:r>
              <a:rPr lang="en-US" dirty="0"/>
              <a:t>Object tracking is a program that tracks </a:t>
            </a:r>
            <a:r>
              <a:rPr lang="en-US" b="1" dirty="0"/>
              <a:t>detected</a:t>
            </a:r>
            <a:r>
              <a:rPr lang="en-US" dirty="0"/>
              <a:t> objects as they move around frames in a video.</a:t>
            </a:r>
          </a:p>
          <a:p>
            <a:r>
              <a:rPr lang="en-US" dirty="0"/>
              <a:t>Object tracking also involves Object detection, however it also tracks the object instead of just detecting it.</a:t>
            </a:r>
          </a:p>
        </p:txBody>
      </p:sp>
      <p:pic>
        <p:nvPicPr>
          <p:cNvPr id="3074" name="Picture 2" descr="Object tracking with OpenCV">
            <a:extLst>
              <a:ext uri="{FF2B5EF4-FFF2-40B4-BE49-F238E27FC236}">
                <a16:creationId xmlns:a16="http://schemas.microsoft.com/office/drawing/2014/main" id="{256D98C0-177C-86DA-EFCD-FB8FA294F1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54815" y="3714223"/>
            <a:ext cx="12056262" cy="758204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E223A91-AA49-8A4E-E71C-4EBB54E0EF4B}"/>
              </a:ext>
            </a:extLst>
          </p:cNvPr>
          <p:cNvSpPr txBox="1"/>
          <p:nvPr/>
        </p:nvSpPr>
        <p:spPr>
          <a:xfrm>
            <a:off x="13010091" y="11389176"/>
            <a:ext cx="7745710"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5E5E5E"/>
                </a:solidFill>
                <a:effectLst/>
                <a:uFillTx/>
                <a:latin typeface="+mn-lt"/>
                <a:ea typeface="+mn-ea"/>
                <a:cs typeface="+mn-cs"/>
                <a:sym typeface="Helvetica Neue"/>
              </a:rPr>
              <a:t>Source: </a:t>
            </a:r>
            <a:r>
              <a:rPr kumimoji="0" lang="en-US" sz="2400" b="0" i="0" u="none" strike="noStrike" cap="none" spc="0" normalizeH="0" baseline="0" dirty="0">
                <a:ln>
                  <a:noFill/>
                </a:ln>
                <a:solidFill>
                  <a:srgbClr val="5E5E5E"/>
                </a:solidFill>
                <a:effectLst/>
                <a:uFillTx/>
                <a:latin typeface="+mn-lt"/>
                <a:ea typeface="+mn-ea"/>
                <a:cs typeface="+mn-cs"/>
                <a:sym typeface="Helvetica Neue"/>
                <a:hlinkClick r:id="rId3"/>
              </a:rPr>
              <a:t>https://viso.ai/deep-learning/object-tracking/</a:t>
            </a:r>
            <a:r>
              <a:rPr kumimoji="0" lang="en-US" sz="2400" b="0" i="0" u="none" strike="noStrike" cap="none" spc="0" normalizeH="0" baseline="0" dirty="0">
                <a:ln>
                  <a:noFill/>
                </a:ln>
                <a:solidFill>
                  <a:srgbClr val="5E5E5E"/>
                </a:solidFill>
                <a:effectLst/>
                <a:uFillTx/>
                <a:latin typeface="+mn-lt"/>
                <a:ea typeface="+mn-ea"/>
                <a:cs typeface="+mn-cs"/>
                <a:sym typeface="Helvetica Neue"/>
              </a:rPr>
              <a:t> </a:t>
            </a:r>
          </a:p>
        </p:txBody>
      </p:sp>
    </p:spTree>
    <p:extLst>
      <p:ext uri="{BB962C8B-B14F-4D97-AF65-F5344CB8AC3E}">
        <p14:creationId xmlns:p14="http://schemas.microsoft.com/office/powerpoint/2010/main" val="3503183556"/>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6E60B-7DE7-9308-412B-246D8E00A70F}"/>
              </a:ext>
            </a:extLst>
          </p:cNvPr>
          <p:cNvSpPr>
            <a:spLocks noGrp="1"/>
          </p:cNvSpPr>
          <p:nvPr>
            <p:ph type="title"/>
          </p:nvPr>
        </p:nvSpPr>
        <p:spPr/>
        <p:txBody>
          <a:bodyPr>
            <a:normAutofit fontScale="90000"/>
          </a:bodyPr>
          <a:lstStyle/>
          <a:p>
            <a:r>
              <a:rPr lang="en-US" dirty="0"/>
              <a:t>Object tracking</a:t>
            </a:r>
          </a:p>
        </p:txBody>
      </p:sp>
      <p:sp>
        <p:nvSpPr>
          <p:cNvPr id="3" name="Text Placeholder 2">
            <a:extLst>
              <a:ext uri="{FF2B5EF4-FFF2-40B4-BE49-F238E27FC236}">
                <a16:creationId xmlns:a16="http://schemas.microsoft.com/office/drawing/2014/main" id="{FD73B2DE-9721-70D0-2D26-5D72EF6C30E7}"/>
              </a:ext>
            </a:extLst>
          </p:cNvPr>
          <p:cNvSpPr>
            <a:spLocks noGrp="1"/>
          </p:cNvSpPr>
          <p:nvPr>
            <p:ph type="body" sz="quarter" idx="10"/>
          </p:nvPr>
        </p:nvSpPr>
        <p:spPr/>
        <p:txBody>
          <a:bodyPr/>
          <a:lstStyle/>
          <a:p>
            <a:r>
              <a:t>Historical example: YOLOv8 + SORT (still useful). Modern practice: YOLO + ByteTrack / BoT-SORT.</a:t>
            </a:r>
          </a:p>
        </p:txBody>
      </p:sp>
      <p:pic>
        <p:nvPicPr>
          <p:cNvPr id="6" name="Online Media 5" descr="Real-time Object Tracking with YOLOv8 and SORT Algorithm 🚀">
            <a:hlinkClick r:id="" action="ppaction://media"/>
            <a:extLst>
              <a:ext uri="{FF2B5EF4-FFF2-40B4-BE49-F238E27FC236}">
                <a16:creationId xmlns:a16="http://schemas.microsoft.com/office/drawing/2014/main" id="{E991090A-7481-4AB0-7A94-0329D8FB6744}"/>
              </a:ext>
            </a:extLst>
          </p:cNvPr>
          <p:cNvPicPr>
            <a:picLocks noGrp="1" noRot="1" noChangeAspect="1"/>
          </p:cNvPicPr>
          <p:nvPr>
            <p:ph sz="quarter" idx="11"/>
            <a:videoFile r:link="rId1"/>
          </p:nvPr>
        </p:nvPicPr>
        <p:blipFill>
          <a:blip r:embed="rId3"/>
          <a:stretch>
            <a:fillRect/>
          </a:stretch>
        </p:blipFill>
        <p:spPr>
          <a:xfrm>
            <a:off x="2183413" y="3260663"/>
            <a:ext cx="19806792" cy="9476368"/>
          </a:xfrm>
          <a:prstGeom prst="rect">
            <a:avLst/>
          </a:prstGeom>
        </p:spPr>
      </p:pic>
    </p:spTree>
    <p:extLst>
      <p:ext uri="{BB962C8B-B14F-4D97-AF65-F5344CB8AC3E}">
        <p14:creationId xmlns:p14="http://schemas.microsoft.com/office/powerpoint/2010/main" val="415970330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82C"/>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Rounded Rectangle 2"/>
          <p:cNvSpPr/>
          <p:nvPr/>
        </p:nvSpPr>
        <p:spPr>
          <a:xfrm>
            <a:off x="393192" y="411480"/>
            <a:ext cx="109728" cy="640080"/>
          </a:xfrm>
          <a:prstGeom prst="roundRect">
            <a:avLst/>
          </a:prstGeom>
          <a:solidFill>
            <a:srgbClr val="33D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93192"/>
            <a:ext cx="23195280" cy="411480"/>
          </a:xfrm>
          <a:prstGeom prst="rect">
            <a:avLst/>
          </a:prstGeom>
          <a:noFill/>
        </p:spPr>
        <p:txBody>
          <a:bodyPr wrap="square">
            <a:spAutoFit/>
          </a:bodyPr>
          <a:lstStyle/>
          <a:p>
            <a:pPr>
              <a:spcAft>
                <a:spcPts val="1200"/>
              </a:spcAft>
            </a:pPr>
            <a:r>
              <a:rPr sz="3100" b="1">
                <a:solidFill>
                  <a:srgbClr val="F4F9FD"/>
                </a:solidFill>
                <a:latin typeface="Aptos"/>
              </a:rPr>
              <a:t>LAB 2 | Object Detection vs Tracking</a:t>
            </a:r>
          </a:p>
        </p:txBody>
      </p:sp>
      <p:sp>
        <p:nvSpPr>
          <p:cNvPr id="5" name="TextBox 4"/>
          <p:cNvSpPr txBox="1"/>
          <p:nvPr/>
        </p:nvSpPr>
        <p:spPr>
          <a:xfrm>
            <a:off x="713232" y="914400"/>
            <a:ext cx="23103840" cy="274320"/>
          </a:xfrm>
          <a:prstGeom prst="rect">
            <a:avLst/>
          </a:prstGeom>
          <a:noFill/>
        </p:spPr>
        <p:txBody>
          <a:bodyPr wrap="square">
            <a:spAutoFit/>
          </a:bodyPr>
          <a:lstStyle/>
          <a:p>
            <a:pPr>
              <a:spcAft>
                <a:spcPts val="1200"/>
              </a:spcAft>
            </a:pPr>
            <a:r>
              <a:rPr sz="1200" b="1">
                <a:solidFill>
                  <a:srgbClr val="33D6D2"/>
                </a:solidFill>
                <a:latin typeface="Aptos"/>
              </a:rPr>
              <a:t>GOOGLE COLAB · MULTI-OBJECT ANALYSIS</a:t>
            </a:r>
          </a:p>
        </p:txBody>
      </p:sp>
      <p:sp>
        <p:nvSpPr>
          <p:cNvPr id="6" name="Rounded Rectangle 5"/>
          <p:cNvSpPr/>
          <p:nvPr/>
        </p:nvSpPr>
        <p:spPr>
          <a:xfrm>
            <a:off x="640080" y="1481328"/>
            <a:ext cx="23103840" cy="3745992"/>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72768"/>
            <a:ext cx="22555200" cy="320040"/>
          </a:xfrm>
          <a:prstGeom prst="rect">
            <a:avLst/>
          </a:prstGeom>
          <a:noFill/>
        </p:spPr>
        <p:txBody>
          <a:bodyPr wrap="square">
            <a:spAutoFit/>
          </a:bodyPr>
          <a:lstStyle/>
          <a:p>
            <a:pPr>
              <a:spcAft>
                <a:spcPts val="1200"/>
              </a:spcAft>
            </a:pPr>
            <a:r>
              <a:rPr sz="1900" b="1">
                <a:solidFill>
                  <a:srgbClr val="FFBE53"/>
                </a:solidFill>
                <a:latin typeface="Aptos"/>
              </a:rPr>
              <a:t>Detect</a:t>
            </a:r>
          </a:p>
        </p:txBody>
      </p:sp>
      <p:sp>
        <p:nvSpPr>
          <p:cNvPr id="8" name="TextBox 7"/>
          <p:cNvSpPr txBox="1"/>
          <p:nvPr/>
        </p:nvSpPr>
        <p:spPr>
          <a:xfrm>
            <a:off x="868680" y="1965960"/>
            <a:ext cx="22555200" cy="3215640"/>
          </a:xfrm>
          <a:prstGeom prst="rect">
            <a:avLst/>
          </a:prstGeom>
          <a:noFill/>
        </p:spPr>
        <p:txBody>
          <a:bodyPr wrap="square">
            <a:spAutoFit/>
          </a:bodyPr>
          <a:lstStyle/>
          <a:p>
            <a:pPr>
              <a:spcAft>
                <a:spcPts val="1200"/>
              </a:spcAft>
            </a:pPr>
            <a:r>
              <a:rPr sz="1600" b="0">
                <a:solidFill>
                  <a:srgbClr val="F4F9FD"/>
                </a:solidFill>
                <a:latin typeface="Aptos"/>
              </a:rPr>
              <a:t>Bounding boxes identify objects in an individual frame.</a:t>
            </a:r>
          </a:p>
        </p:txBody>
      </p:sp>
      <p:sp>
        <p:nvSpPr>
          <p:cNvPr id="9" name="Rounded Rectangle 8"/>
          <p:cNvSpPr/>
          <p:nvPr/>
        </p:nvSpPr>
        <p:spPr>
          <a:xfrm>
            <a:off x="640080" y="5391912"/>
            <a:ext cx="23103840" cy="3745992"/>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5483351"/>
            <a:ext cx="22555200" cy="320040"/>
          </a:xfrm>
          <a:prstGeom prst="rect">
            <a:avLst/>
          </a:prstGeom>
          <a:noFill/>
        </p:spPr>
        <p:txBody>
          <a:bodyPr wrap="square">
            <a:spAutoFit/>
          </a:bodyPr>
          <a:lstStyle/>
          <a:p>
            <a:pPr>
              <a:spcAft>
                <a:spcPts val="1200"/>
              </a:spcAft>
            </a:pPr>
            <a:r>
              <a:rPr sz="1900" b="1">
                <a:solidFill>
                  <a:srgbClr val="FFBE53"/>
                </a:solidFill>
                <a:latin typeface="Aptos"/>
              </a:rPr>
              <a:t>Track</a:t>
            </a:r>
          </a:p>
        </p:txBody>
      </p:sp>
      <p:sp>
        <p:nvSpPr>
          <p:cNvPr id="11" name="TextBox 10"/>
          <p:cNvSpPr txBox="1"/>
          <p:nvPr/>
        </p:nvSpPr>
        <p:spPr>
          <a:xfrm>
            <a:off x="868680" y="5876544"/>
            <a:ext cx="22555200" cy="3215640"/>
          </a:xfrm>
          <a:prstGeom prst="rect">
            <a:avLst/>
          </a:prstGeom>
          <a:noFill/>
        </p:spPr>
        <p:txBody>
          <a:bodyPr wrap="square">
            <a:spAutoFit/>
          </a:bodyPr>
          <a:lstStyle/>
          <a:p>
            <a:pPr>
              <a:spcAft>
                <a:spcPts val="1200"/>
              </a:spcAft>
            </a:pPr>
            <a:r>
              <a:rPr sz="1600" b="0">
                <a:solidFill>
                  <a:srgbClr val="F4F9FD"/>
                </a:solidFill>
                <a:latin typeface="Aptos"/>
              </a:rPr>
              <a:t>Persistent IDs link each object between frames. Test occlusions and crossings.</a:t>
            </a:r>
          </a:p>
        </p:txBody>
      </p:sp>
      <p:sp>
        <p:nvSpPr>
          <p:cNvPr id="12" name="Rounded Rectangle 11"/>
          <p:cNvSpPr/>
          <p:nvPr/>
        </p:nvSpPr>
        <p:spPr>
          <a:xfrm>
            <a:off x="640080" y="9302495"/>
            <a:ext cx="23103840" cy="3745992"/>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9393935"/>
            <a:ext cx="22555200" cy="320040"/>
          </a:xfrm>
          <a:prstGeom prst="rect">
            <a:avLst/>
          </a:prstGeom>
          <a:noFill/>
        </p:spPr>
        <p:txBody>
          <a:bodyPr wrap="square">
            <a:spAutoFit/>
          </a:bodyPr>
          <a:lstStyle/>
          <a:p>
            <a:r>
              <a:t>2026 stack</a:t>
            </a:r>
          </a:p>
        </p:txBody>
      </p:sp>
      <p:sp>
        <p:nvSpPr>
          <p:cNvPr id="14" name="TextBox 13"/>
          <p:cNvSpPr txBox="1"/>
          <p:nvPr/>
        </p:nvSpPr>
        <p:spPr>
          <a:xfrm>
            <a:off x="868680" y="9787127"/>
            <a:ext cx="22555200" cy="3215640"/>
          </a:xfrm>
          <a:prstGeom prst="rect">
            <a:avLst/>
          </a:prstGeom>
          <a:noFill/>
        </p:spPr>
        <p:txBody>
          <a:bodyPr wrap="square">
            <a:spAutoFit/>
          </a:bodyPr>
          <a:lstStyle/>
          <a:p>
            <a:r>
              <a:t>Three real demos in one notebook: Smart Traffic Monitoring, Drone Human Detection, and Smart CCTV. Optional upgrade: YOLO + ByteTrack / BoT-SORT.</a:t>
            </a:r>
          </a:p>
        </p:txBody>
      </p:sp>
      <p:sp>
        <p:nvSpPr>
          <p:cNvPr id="15" name="TextBox 14"/>
          <p:cNvSpPr txBox="1"/>
          <p:nvPr/>
        </p:nvSpPr>
        <p:spPr>
          <a:xfrm>
            <a:off x="713232" y="13277088"/>
            <a:ext cx="23103840" cy="292608"/>
          </a:xfrm>
          <a:prstGeom prst="rect">
            <a:avLst/>
          </a:prstGeom>
          <a:noFill/>
        </p:spPr>
        <p:txBody>
          <a:bodyPr wrap="square">
            <a:spAutoFit/>
          </a:bodyPr>
          <a:lstStyle/>
          <a:p>
            <a:pPr>
              <a:spcAft>
                <a:spcPts val="1200"/>
              </a:spcAft>
            </a:pPr>
            <a:r>
              <a:rPr sz="1000" b="0">
                <a:solidFill>
                  <a:srgbClr val="B9CEDC"/>
                </a:solidFill>
                <a:latin typeface="Aptos"/>
              </a:rPr>
              <a:t>Discussion: Why can an object ID change when two people cross?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82C"/>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Rounded Rectangle 2"/>
          <p:cNvSpPr/>
          <p:nvPr/>
        </p:nvSpPr>
        <p:spPr>
          <a:xfrm>
            <a:off x="393192" y="411480"/>
            <a:ext cx="109728" cy="640080"/>
          </a:xfrm>
          <a:prstGeom prst="roundRect">
            <a:avLst/>
          </a:prstGeom>
          <a:solidFill>
            <a:srgbClr val="33D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93192"/>
            <a:ext cx="23195280" cy="411480"/>
          </a:xfrm>
          <a:prstGeom prst="rect">
            <a:avLst/>
          </a:prstGeom>
          <a:noFill/>
        </p:spPr>
        <p:txBody>
          <a:bodyPr wrap="square">
            <a:spAutoFit/>
          </a:bodyPr>
          <a:lstStyle/>
          <a:p>
            <a:pPr algn="l">
              <a:spcAft>
                <a:spcPts val="800"/>
              </a:spcAft>
            </a:pPr>
            <a:r>
              <a:rPr sz="3100" b="1">
                <a:solidFill>
                  <a:srgbClr val="F4F9FD"/>
                </a:solidFill>
                <a:latin typeface="Aptos"/>
              </a:rPr>
              <a:t>GOOGLE COLAB DEMOS | THREE REAL-WORLD SCENARIOS</a:t>
            </a:r>
          </a:p>
        </p:txBody>
      </p:sp>
      <p:sp>
        <p:nvSpPr>
          <p:cNvPr id="5" name="TextBox 4"/>
          <p:cNvSpPr txBox="1"/>
          <p:nvPr/>
        </p:nvSpPr>
        <p:spPr>
          <a:xfrm>
            <a:off x="713232" y="914400"/>
            <a:ext cx="23103840" cy="274320"/>
          </a:xfrm>
          <a:prstGeom prst="rect">
            <a:avLst/>
          </a:prstGeom>
          <a:noFill/>
        </p:spPr>
        <p:txBody>
          <a:bodyPr wrap="square">
            <a:spAutoFit/>
          </a:bodyPr>
          <a:lstStyle/>
          <a:p>
            <a:pPr algn="l">
              <a:spcAft>
                <a:spcPts val="800"/>
              </a:spcAft>
            </a:pPr>
            <a:r>
              <a:rPr sz="1200" b="1">
                <a:solidFill>
                  <a:srgbClr val="33D6D2"/>
                </a:solidFill>
                <a:latin typeface="Aptos"/>
              </a:rPr>
              <a:t>2026 CLASSROOM PACKAGE</a:t>
            </a:r>
          </a:p>
        </p:txBody>
      </p:sp>
      <p:sp>
        <p:nvSpPr>
          <p:cNvPr id="6" name="Rounded Rectangle 5"/>
          <p:cNvSpPr/>
          <p:nvPr/>
        </p:nvSpPr>
        <p:spPr>
          <a:xfrm>
            <a:off x="640080" y="1554480"/>
            <a:ext cx="7487919" cy="4480560"/>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554480"/>
            <a:ext cx="7487919" cy="502920"/>
          </a:xfrm>
          <a:prstGeom prst="roundRect">
            <a:avLst/>
          </a:prstGeom>
          <a:solidFill>
            <a:srgbClr val="E25A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627632"/>
            <a:ext cx="7268463" cy="320040"/>
          </a:xfrm>
          <a:prstGeom prst="rect">
            <a:avLst/>
          </a:prstGeom>
          <a:noFill/>
        </p:spPr>
        <p:txBody>
          <a:bodyPr wrap="square">
            <a:spAutoFit/>
          </a:bodyPr>
          <a:lstStyle/>
          <a:p>
            <a:pPr algn="l">
              <a:spcAft>
                <a:spcPts val="800"/>
              </a:spcAft>
            </a:pPr>
            <a:r>
              <a:rPr sz="1700" b="1">
                <a:solidFill>
                  <a:srgbClr val="F4F9FD"/>
                </a:solidFill>
                <a:latin typeface="Aptos"/>
              </a:rPr>
              <a:t>A. Smart Traffic Monitoring</a:t>
            </a:r>
          </a:p>
        </p:txBody>
      </p:sp>
      <p:sp>
        <p:nvSpPr>
          <p:cNvPr id="9" name="TextBox 8"/>
          <p:cNvSpPr txBox="1"/>
          <p:nvPr/>
        </p:nvSpPr>
        <p:spPr>
          <a:xfrm>
            <a:off x="777240" y="2176272"/>
            <a:ext cx="7213600" cy="502920"/>
          </a:xfrm>
          <a:prstGeom prst="rect">
            <a:avLst/>
          </a:prstGeom>
          <a:noFill/>
        </p:spPr>
        <p:txBody>
          <a:bodyPr wrap="square">
            <a:spAutoFit/>
          </a:bodyPr>
          <a:lstStyle/>
          <a:p>
            <a:pPr algn="l">
              <a:spcAft>
                <a:spcPts val="800"/>
              </a:spcAft>
            </a:pPr>
            <a:r>
              <a:rPr sz="1400" b="0">
                <a:solidFill>
                  <a:srgbClr val="F4F9FD"/>
                </a:solidFill>
                <a:latin typeface="Aptos"/>
              </a:rPr>
              <a:t>Roadside or highway video with cars and motorcycles.</a:t>
            </a:r>
          </a:p>
        </p:txBody>
      </p:sp>
      <p:sp>
        <p:nvSpPr>
          <p:cNvPr id="10" name="Rectangle 9"/>
          <p:cNvSpPr/>
          <p:nvPr/>
        </p:nvSpPr>
        <p:spPr>
          <a:xfrm>
            <a:off x="777240" y="2834640"/>
            <a:ext cx="201168" cy="201168"/>
          </a:xfrm>
          <a:prstGeom prst="rect">
            <a:avLst/>
          </a:prstGeom>
          <a:solidFill>
            <a:srgbClr val="E25A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816352"/>
            <a:ext cx="6939280" cy="256032"/>
          </a:xfrm>
          <a:prstGeom prst="rect">
            <a:avLst/>
          </a:prstGeom>
          <a:noFill/>
        </p:spPr>
        <p:txBody>
          <a:bodyPr wrap="square">
            <a:spAutoFit/>
          </a:bodyPr>
          <a:lstStyle/>
          <a:p>
            <a:pPr algn="l">
              <a:spcAft>
                <a:spcPts val="800"/>
              </a:spcAft>
            </a:pPr>
            <a:r>
              <a:rPr sz="1300" b="0">
                <a:solidFill>
                  <a:srgbClr val="F4F9FD"/>
                </a:solidFill>
                <a:latin typeface="Aptos"/>
              </a:rPr>
              <a:t>Detect vehicles</a:t>
            </a:r>
          </a:p>
        </p:txBody>
      </p:sp>
      <p:sp>
        <p:nvSpPr>
          <p:cNvPr id="12" name="Rectangle 11"/>
          <p:cNvSpPr/>
          <p:nvPr/>
        </p:nvSpPr>
        <p:spPr>
          <a:xfrm>
            <a:off x="777240" y="3364992"/>
            <a:ext cx="201168" cy="201168"/>
          </a:xfrm>
          <a:prstGeom prst="rect">
            <a:avLst/>
          </a:prstGeom>
          <a:solidFill>
            <a:srgbClr val="E25A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346704"/>
            <a:ext cx="6939280" cy="256032"/>
          </a:xfrm>
          <a:prstGeom prst="rect">
            <a:avLst/>
          </a:prstGeom>
          <a:noFill/>
        </p:spPr>
        <p:txBody>
          <a:bodyPr wrap="square">
            <a:spAutoFit/>
          </a:bodyPr>
          <a:lstStyle/>
          <a:p>
            <a:pPr algn="l">
              <a:spcAft>
                <a:spcPts val="800"/>
              </a:spcAft>
            </a:pPr>
            <a:r>
              <a:rPr sz="1300" b="0">
                <a:solidFill>
                  <a:srgbClr val="F4F9FD"/>
                </a:solidFill>
                <a:latin typeface="Aptos"/>
              </a:rPr>
              <a:t>Track IDs across frames</a:t>
            </a:r>
          </a:p>
        </p:txBody>
      </p:sp>
      <p:sp>
        <p:nvSpPr>
          <p:cNvPr id="14" name="Rectangle 13"/>
          <p:cNvSpPr/>
          <p:nvPr/>
        </p:nvSpPr>
        <p:spPr>
          <a:xfrm>
            <a:off x="777240" y="3895344"/>
            <a:ext cx="201168" cy="201168"/>
          </a:xfrm>
          <a:prstGeom prst="rect">
            <a:avLst/>
          </a:prstGeom>
          <a:solidFill>
            <a:srgbClr val="E25A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3877056"/>
            <a:ext cx="6939280" cy="256032"/>
          </a:xfrm>
          <a:prstGeom prst="rect">
            <a:avLst/>
          </a:prstGeom>
          <a:noFill/>
        </p:spPr>
        <p:txBody>
          <a:bodyPr wrap="square">
            <a:spAutoFit/>
          </a:bodyPr>
          <a:lstStyle/>
          <a:p>
            <a:pPr algn="l">
              <a:spcAft>
                <a:spcPts val="800"/>
              </a:spcAft>
            </a:pPr>
            <a:r>
              <a:rPr sz="1300" b="0">
                <a:solidFill>
                  <a:srgbClr val="F4F9FD"/>
                </a:solidFill>
                <a:latin typeface="Aptos"/>
              </a:rPr>
              <a:t>Count line crossing</a:t>
            </a:r>
          </a:p>
        </p:txBody>
      </p:sp>
      <p:sp>
        <p:nvSpPr>
          <p:cNvPr id="16" name="Rectangle 15"/>
          <p:cNvSpPr/>
          <p:nvPr/>
        </p:nvSpPr>
        <p:spPr>
          <a:xfrm>
            <a:off x="777240" y="4425696"/>
            <a:ext cx="201168" cy="201168"/>
          </a:xfrm>
          <a:prstGeom prst="rect">
            <a:avLst/>
          </a:prstGeom>
          <a:solidFill>
            <a:srgbClr val="E25A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407408"/>
            <a:ext cx="6939280" cy="256032"/>
          </a:xfrm>
          <a:prstGeom prst="rect">
            <a:avLst/>
          </a:prstGeom>
          <a:noFill/>
        </p:spPr>
        <p:txBody>
          <a:bodyPr wrap="square">
            <a:spAutoFit/>
          </a:bodyPr>
          <a:lstStyle/>
          <a:p>
            <a:pPr algn="l">
              <a:spcAft>
                <a:spcPts val="800"/>
              </a:spcAft>
            </a:pPr>
            <a:r>
              <a:rPr sz="1300" b="0">
                <a:solidFill>
                  <a:srgbClr val="F4F9FD"/>
                </a:solidFill>
                <a:latin typeface="Aptos"/>
              </a:rPr>
              <a:t>Discuss accuracy in congestion</a:t>
            </a:r>
          </a:p>
        </p:txBody>
      </p:sp>
      <p:sp>
        <p:nvSpPr>
          <p:cNvPr id="18" name="Rounded Rectangle 17"/>
          <p:cNvSpPr/>
          <p:nvPr/>
        </p:nvSpPr>
        <p:spPr>
          <a:xfrm>
            <a:off x="8356599" y="1554480"/>
            <a:ext cx="7487919" cy="4480560"/>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56599" y="1554480"/>
            <a:ext cx="7487919" cy="502920"/>
          </a:xfrm>
          <a:prstGeom prst="roundRect">
            <a:avLst/>
          </a:prstGeom>
          <a:solidFill>
            <a:srgbClr val="65CC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66327" y="1627632"/>
            <a:ext cx="7268463" cy="320040"/>
          </a:xfrm>
          <a:prstGeom prst="rect">
            <a:avLst/>
          </a:prstGeom>
          <a:noFill/>
        </p:spPr>
        <p:txBody>
          <a:bodyPr wrap="square">
            <a:spAutoFit/>
          </a:bodyPr>
          <a:lstStyle/>
          <a:p>
            <a:pPr algn="l">
              <a:spcAft>
                <a:spcPts val="800"/>
              </a:spcAft>
            </a:pPr>
            <a:r>
              <a:rPr sz="1700" b="1">
                <a:solidFill>
                  <a:srgbClr val="F4F9FD"/>
                </a:solidFill>
                <a:latin typeface="Aptos"/>
              </a:rPr>
              <a:t>B. Drone Human Detection</a:t>
            </a:r>
          </a:p>
        </p:txBody>
      </p:sp>
      <p:sp>
        <p:nvSpPr>
          <p:cNvPr id="21" name="TextBox 20"/>
          <p:cNvSpPr txBox="1"/>
          <p:nvPr/>
        </p:nvSpPr>
        <p:spPr>
          <a:xfrm>
            <a:off x="8493759" y="2176272"/>
            <a:ext cx="7213600" cy="502920"/>
          </a:xfrm>
          <a:prstGeom prst="rect">
            <a:avLst/>
          </a:prstGeom>
          <a:noFill/>
        </p:spPr>
        <p:txBody>
          <a:bodyPr wrap="square">
            <a:spAutoFit/>
          </a:bodyPr>
          <a:lstStyle/>
          <a:p>
            <a:pPr algn="l">
              <a:spcAft>
                <a:spcPts val="800"/>
              </a:spcAft>
            </a:pPr>
            <a:r>
              <a:rPr sz="1400" b="0">
                <a:solidFill>
                  <a:srgbClr val="F4F9FD"/>
                </a:solidFill>
                <a:latin typeface="Aptos"/>
              </a:rPr>
              <a:t>Aerial video to monitor hikers or people in open areas.</a:t>
            </a:r>
          </a:p>
        </p:txBody>
      </p:sp>
      <p:sp>
        <p:nvSpPr>
          <p:cNvPr id="22" name="Rectangle 21"/>
          <p:cNvSpPr/>
          <p:nvPr/>
        </p:nvSpPr>
        <p:spPr>
          <a:xfrm>
            <a:off x="8493759" y="2834640"/>
            <a:ext cx="201168" cy="201168"/>
          </a:xfrm>
          <a:prstGeom prst="rect">
            <a:avLst/>
          </a:prstGeom>
          <a:solidFill>
            <a:srgbClr val="65CC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68079" y="2816352"/>
            <a:ext cx="6939280" cy="256032"/>
          </a:xfrm>
          <a:prstGeom prst="rect">
            <a:avLst/>
          </a:prstGeom>
          <a:noFill/>
        </p:spPr>
        <p:txBody>
          <a:bodyPr wrap="square">
            <a:spAutoFit/>
          </a:bodyPr>
          <a:lstStyle/>
          <a:p>
            <a:pPr algn="l">
              <a:spcAft>
                <a:spcPts val="800"/>
              </a:spcAft>
            </a:pPr>
            <a:r>
              <a:rPr sz="1300" b="0">
                <a:solidFill>
                  <a:srgbClr val="F4F9FD"/>
                </a:solidFill>
                <a:latin typeface="Aptos"/>
              </a:rPr>
              <a:t>Detect people from above</a:t>
            </a:r>
          </a:p>
        </p:txBody>
      </p:sp>
      <p:sp>
        <p:nvSpPr>
          <p:cNvPr id="24" name="Rectangle 23"/>
          <p:cNvSpPr/>
          <p:nvPr/>
        </p:nvSpPr>
        <p:spPr>
          <a:xfrm>
            <a:off x="8493759" y="3364992"/>
            <a:ext cx="201168" cy="201168"/>
          </a:xfrm>
          <a:prstGeom prst="rect">
            <a:avLst/>
          </a:prstGeom>
          <a:solidFill>
            <a:srgbClr val="65CC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68079" y="3346704"/>
            <a:ext cx="6939280" cy="256032"/>
          </a:xfrm>
          <a:prstGeom prst="rect">
            <a:avLst/>
          </a:prstGeom>
          <a:noFill/>
        </p:spPr>
        <p:txBody>
          <a:bodyPr wrap="square">
            <a:spAutoFit/>
          </a:bodyPr>
          <a:lstStyle/>
          <a:p>
            <a:pPr algn="l">
              <a:spcAft>
                <a:spcPts val="800"/>
              </a:spcAft>
            </a:pPr>
            <a:r>
              <a:rPr sz="1300" b="0">
                <a:solidFill>
                  <a:srgbClr val="F4F9FD"/>
                </a:solidFill>
                <a:latin typeface="Aptos"/>
              </a:rPr>
              <a:t>Estimate crowd size</a:t>
            </a:r>
          </a:p>
        </p:txBody>
      </p:sp>
      <p:sp>
        <p:nvSpPr>
          <p:cNvPr id="26" name="Rectangle 25"/>
          <p:cNvSpPr/>
          <p:nvPr/>
        </p:nvSpPr>
        <p:spPr>
          <a:xfrm>
            <a:off x="8493759" y="3895344"/>
            <a:ext cx="201168" cy="201168"/>
          </a:xfrm>
          <a:prstGeom prst="rect">
            <a:avLst/>
          </a:prstGeom>
          <a:solidFill>
            <a:srgbClr val="65CC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68079" y="3877056"/>
            <a:ext cx="6939280" cy="256032"/>
          </a:xfrm>
          <a:prstGeom prst="rect">
            <a:avLst/>
          </a:prstGeom>
          <a:noFill/>
        </p:spPr>
        <p:txBody>
          <a:bodyPr wrap="square">
            <a:spAutoFit/>
          </a:bodyPr>
          <a:lstStyle/>
          <a:p>
            <a:pPr algn="l">
              <a:spcAft>
                <a:spcPts val="800"/>
              </a:spcAft>
            </a:pPr>
            <a:r>
              <a:rPr sz="1300" b="0">
                <a:solidFill>
                  <a:srgbClr val="F4F9FD"/>
                </a:solidFill>
                <a:latin typeface="Aptos"/>
              </a:rPr>
              <a:t>Track movement paths</a:t>
            </a:r>
          </a:p>
        </p:txBody>
      </p:sp>
      <p:sp>
        <p:nvSpPr>
          <p:cNvPr id="28" name="Rectangle 27"/>
          <p:cNvSpPr/>
          <p:nvPr/>
        </p:nvSpPr>
        <p:spPr>
          <a:xfrm>
            <a:off x="8493759" y="4425696"/>
            <a:ext cx="201168" cy="201168"/>
          </a:xfrm>
          <a:prstGeom prst="rect">
            <a:avLst/>
          </a:prstGeom>
          <a:solidFill>
            <a:srgbClr val="65CC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8079" y="4407408"/>
            <a:ext cx="6939280" cy="256032"/>
          </a:xfrm>
          <a:prstGeom prst="rect">
            <a:avLst/>
          </a:prstGeom>
          <a:noFill/>
        </p:spPr>
        <p:txBody>
          <a:bodyPr wrap="square">
            <a:spAutoFit/>
          </a:bodyPr>
          <a:lstStyle/>
          <a:p>
            <a:pPr algn="l">
              <a:spcAft>
                <a:spcPts val="800"/>
              </a:spcAft>
            </a:pPr>
            <a:r>
              <a:rPr sz="1300" b="0">
                <a:solidFill>
                  <a:srgbClr val="F4F9FD"/>
                </a:solidFill>
                <a:latin typeface="Aptos"/>
              </a:rPr>
              <a:t>Discuss tiny-object challenges</a:t>
            </a:r>
          </a:p>
        </p:txBody>
      </p:sp>
      <p:sp>
        <p:nvSpPr>
          <p:cNvPr id="30" name="Rounded Rectangle 29"/>
          <p:cNvSpPr/>
          <p:nvPr/>
        </p:nvSpPr>
        <p:spPr>
          <a:xfrm>
            <a:off x="16073119" y="1554480"/>
            <a:ext cx="7487919" cy="4480560"/>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6073119" y="1554480"/>
            <a:ext cx="7487919" cy="502920"/>
          </a:xfrm>
          <a:prstGeom prst="roundRect">
            <a:avLst/>
          </a:prstGeom>
          <a:solidFill>
            <a:srgbClr val="947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6182847" y="1627632"/>
            <a:ext cx="7268463" cy="320040"/>
          </a:xfrm>
          <a:prstGeom prst="rect">
            <a:avLst/>
          </a:prstGeom>
          <a:noFill/>
        </p:spPr>
        <p:txBody>
          <a:bodyPr wrap="square">
            <a:spAutoFit/>
          </a:bodyPr>
          <a:lstStyle/>
          <a:p>
            <a:pPr algn="l">
              <a:spcAft>
                <a:spcPts val="800"/>
              </a:spcAft>
            </a:pPr>
            <a:r>
              <a:rPr sz="1700" b="1">
                <a:solidFill>
                  <a:srgbClr val="F4F9FD"/>
                </a:solidFill>
                <a:latin typeface="Aptos"/>
              </a:rPr>
              <a:t>C. Smart CCTV Analytics</a:t>
            </a:r>
          </a:p>
        </p:txBody>
      </p:sp>
      <p:sp>
        <p:nvSpPr>
          <p:cNvPr id="33" name="TextBox 32"/>
          <p:cNvSpPr txBox="1"/>
          <p:nvPr/>
        </p:nvSpPr>
        <p:spPr>
          <a:xfrm>
            <a:off x="16210279" y="2176272"/>
            <a:ext cx="7213600" cy="502920"/>
          </a:xfrm>
          <a:prstGeom prst="rect">
            <a:avLst/>
          </a:prstGeom>
          <a:noFill/>
        </p:spPr>
        <p:txBody>
          <a:bodyPr wrap="square">
            <a:spAutoFit/>
          </a:bodyPr>
          <a:lstStyle/>
          <a:p>
            <a:pPr algn="l">
              <a:spcAft>
                <a:spcPts val="800"/>
              </a:spcAft>
            </a:pPr>
            <a:r>
              <a:rPr sz="1400" b="0">
                <a:solidFill>
                  <a:srgbClr val="F4F9FD"/>
                </a:solidFill>
                <a:latin typeface="Aptos"/>
              </a:rPr>
              <a:t>Static surveillance video for people counting and flow analysis.</a:t>
            </a:r>
          </a:p>
        </p:txBody>
      </p:sp>
      <p:sp>
        <p:nvSpPr>
          <p:cNvPr id="34" name="Rectangle 33"/>
          <p:cNvSpPr/>
          <p:nvPr/>
        </p:nvSpPr>
        <p:spPr>
          <a:xfrm>
            <a:off x="16210279" y="2834640"/>
            <a:ext cx="201168" cy="201168"/>
          </a:xfrm>
          <a:prstGeom prst="rect">
            <a:avLst/>
          </a:prstGeom>
          <a:solidFill>
            <a:srgbClr val="947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6484599" y="2816352"/>
            <a:ext cx="6939280" cy="256032"/>
          </a:xfrm>
          <a:prstGeom prst="rect">
            <a:avLst/>
          </a:prstGeom>
          <a:noFill/>
        </p:spPr>
        <p:txBody>
          <a:bodyPr wrap="square">
            <a:spAutoFit/>
          </a:bodyPr>
          <a:lstStyle/>
          <a:p>
            <a:pPr algn="l">
              <a:spcAft>
                <a:spcPts val="800"/>
              </a:spcAft>
            </a:pPr>
            <a:r>
              <a:rPr sz="1300" b="0">
                <a:solidFill>
                  <a:srgbClr val="F4F9FD"/>
                </a:solidFill>
                <a:latin typeface="Aptos"/>
              </a:rPr>
              <a:t>Detect moving pedestrians</a:t>
            </a:r>
          </a:p>
        </p:txBody>
      </p:sp>
      <p:sp>
        <p:nvSpPr>
          <p:cNvPr id="36" name="Rectangle 35"/>
          <p:cNvSpPr/>
          <p:nvPr/>
        </p:nvSpPr>
        <p:spPr>
          <a:xfrm>
            <a:off x="16210279" y="3364992"/>
            <a:ext cx="201168" cy="201168"/>
          </a:xfrm>
          <a:prstGeom prst="rect">
            <a:avLst/>
          </a:prstGeom>
          <a:solidFill>
            <a:srgbClr val="947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6484599" y="3346704"/>
            <a:ext cx="6939280" cy="256032"/>
          </a:xfrm>
          <a:prstGeom prst="rect">
            <a:avLst/>
          </a:prstGeom>
          <a:noFill/>
        </p:spPr>
        <p:txBody>
          <a:bodyPr wrap="square">
            <a:spAutoFit/>
          </a:bodyPr>
          <a:lstStyle/>
          <a:p>
            <a:pPr algn="l">
              <a:spcAft>
                <a:spcPts val="800"/>
              </a:spcAft>
            </a:pPr>
            <a:r>
              <a:rPr sz="1300" b="0">
                <a:solidFill>
                  <a:srgbClr val="F4F9FD"/>
                </a:solidFill>
                <a:latin typeface="Aptos"/>
              </a:rPr>
              <a:t>Count entry/exit</a:t>
            </a:r>
          </a:p>
        </p:txBody>
      </p:sp>
      <p:sp>
        <p:nvSpPr>
          <p:cNvPr id="38" name="Rectangle 37"/>
          <p:cNvSpPr/>
          <p:nvPr/>
        </p:nvSpPr>
        <p:spPr>
          <a:xfrm>
            <a:off x="16210279" y="3895344"/>
            <a:ext cx="201168" cy="201168"/>
          </a:xfrm>
          <a:prstGeom prst="rect">
            <a:avLst/>
          </a:prstGeom>
          <a:solidFill>
            <a:srgbClr val="947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6484599" y="3877056"/>
            <a:ext cx="6939280" cy="256032"/>
          </a:xfrm>
          <a:prstGeom prst="rect">
            <a:avLst/>
          </a:prstGeom>
          <a:noFill/>
        </p:spPr>
        <p:txBody>
          <a:bodyPr wrap="square">
            <a:spAutoFit/>
          </a:bodyPr>
          <a:lstStyle/>
          <a:p>
            <a:pPr algn="l">
              <a:spcAft>
                <a:spcPts val="800"/>
              </a:spcAft>
            </a:pPr>
            <a:r>
              <a:rPr sz="1300" b="0">
                <a:solidFill>
                  <a:srgbClr val="F4F9FD"/>
                </a:solidFill>
                <a:latin typeface="Aptos"/>
              </a:rPr>
              <a:t>Estimate occupancy</a:t>
            </a:r>
          </a:p>
        </p:txBody>
      </p:sp>
      <p:sp>
        <p:nvSpPr>
          <p:cNvPr id="40" name="Rectangle 39"/>
          <p:cNvSpPr/>
          <p:nvPr/>
        </p:nvSpPr>
        <p:spPr>
          <a:xfrm>
            <a:off x="16210279" y="4425696"/>
            <a:ext cx="201168" cy="201168"/>
          </a:xfrm>
          <a:prstGeom prst="rect">
            <a:avLst/>
          </a:prstGeom>
          <a:solidFill>
            <a:srgbClr val="947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6484599" y="4407408"/>
            <a:ext cx="6939280" cy="256032"/>
          </a:xfrm>
          <a:prstGeom prst="rect">
            <a:avLst/>
          </a:prstGeom>
          <a:noFill/>
        </p:spPr>
        <p:txBody>
          <a:bodyPr wrap="square">
            <a:spAutoFit/>
          </a:bodyPr>
          <a:lstStyle/>
          <a:p>
            <a:pPr algn="l">
              <a:spcAft>
                <a:spcPts val="800"/>
              </a:spcAft>
            </a:pPr>
            <a:r>
              <a:rPr sz="1300" b="0">
                <a:solidFill>
                  <a:srgbClr val="F4F9FD"/>
                </a:solidFill>
                <a:latin typeface="Aptos"/>
              </a:rPr>
              <a:t>Discuss privacy and consent</a:t>
            </a:r>
          </a:p>
        </p:txBody>
      </p:sp>
      <p:sp>
        <p:nvSpPr>
          <p:cNvPr id="42" name="TextBox 41"/>
          <p:cNvSpPr txBox="1"/>
          <p:nvPr/>
        </p:nvSpPr>
        <p:spPr>
          <a:xfrm>
            <a:off x="713232" y="13240512"/>
            <a:ext cx="23103840" cy="292608"/>
          </a:xfrm>
          <a:prstGeom prst="rect">
            <a:avLst/>
          </a:prstGeom>
          <a:noFill/>
        </p:spPr>
        <p:txBody>
          <a:bodyPr wrap="square">
            <a:spAutoFit/>
          </a:bodyPr>
          <a:lstStyle/>
          <a:p>
            <a:pPr algn="l">
              <a:spcAft>
                <a:spcPts val="800"/>
              </a:spcAft>
            </a:pPr>
            <a:r>
              <a:rPr sz="1000" b="0">
                <a:solidFill>
                  <a:srgbClr val="B9CEDC"/>
                </a:solidFill>
                <a:latin typeface="Aptos"/>
              </a:rPr>
              <a:t>Teaching strategy: use Traffic as the easiest demo, Drone as the most challenging, and CCTV as the most relatable to daily life.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82C"/>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Rounded Rectangle 2"/>
          <p:cNvSpPr/>
          <p:nvPr/>
        </p:nvSpPr>
        <p:spPr>
          <a:xfrm>
            <a:off x="393192" y="411480"/>
            <a:ext cx="109728" cy="640080"/>
          </a:xfrm>
          <a:prstGeom prst="roundRect">
            <a:avLst/>
          </a:prstGeom>
          <a:solidFill>
            <a:srgbClr val="33D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93192"/>
            <a:ext cx="23195280" cy="411480"/>
          </a:xfrm>
          <a:prstGeom prst="rect">
            <a:avLst/>
          </a:prstGeom>
          <a:noFill/>
        </p:spPr>
        <p:txBody>
          <a:bodyPr wrap="square">
            <a:spAutoFit/>
          </a:bodyPr>
          <a:lstStyle/>
          <a:p>
            <a:pPr algn="l">
              <a:spcAft>
                <a:spcPts val="800"/>
              </a:spcAft>
            </a:pPr>
            <a:r>
              <a:rPr sz="3100" b="1">
                <a:solidFill>
                  <a:srgbClr val="F4F9FD"/>
                </a:solidFill>
                <a:latin typeface="Aptos"/>
              </a:rPr>
              <a:t>DEMO A | SMART TRAFFIC MONITORING</a:t>
            </a:r>
          </a:p>
        </p:txBody>
      </p:sp>
      <p:sp>
        <p:nvSpPr>
          <p:cNvPr id="5" name="TextBox 4"/>
          <p:cNvSpPr txBox="1"/>
          <p:nvPr/>
        </p:nvSpPr>
        <p:spPr>
          <a:xfrm>
            <a:off x="713232" y="914400"/>
            <a:ext cx="23103840" cy="274320"/>
          </a:xfrm>
          <a:prstGeom prst="rect">
            <a:avLst/>
          </a:prstGeom>
          <a:noFill/>
        </p:spPr>
        <p:txBody>
          <a:bodyPr wrap="square">
            <a:spAutoFit/>
          </a:bodyPr>
          <a:lstStyle/>
          <a:p>
            <a:pPr algn="l">
              <a:spcAft>
                <a:spcPts val="800"/>
              </a:spcAft>
            </a:pPr>
            <a:r>
              <a:rPr sz="1200" b="1">
                <a:solidFill>
                  <a:srgbClr val="33D6D2"/>
                </a:solidFill>
                <a:latin typeface="Aptos"/>
              </a:rPr>
              <a:t>OBJECT DETECTION + TRACKING + COUNTING</a:t>
            </a:r>
          </a:p>
        </p:txBody>
      </p:sp>
      <p:sp>
        <p:nvSpPr>
          <p:cNvPr id="6" name="Rounded Rectangle 5"/>
          <p:cNvSpPr/>
          <p:nvPr/>
        </p:nvSpPr>
        <p:spPr>
          <a:xfrm>
            <a:off x="640080" y="1508760"/>
            <a:ext cx="5486400" cy="4572000"/>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508760"/>
            <a:ext cx="5486400" cy="502920"/>
          </a:xfrm>
          <a:prstGeom prst="roundRect">
            <a:avLst/>
          </a:prstGeom>
          <a:solidFill>
            <a:srgbClr val="E25A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00200"/>
            <a:ext cx="5120640" cy="256032"/>
          </a:xfrm>
          <a:prstGeom prst="rect">
            <a:avLst/>
          </a:prstGeom>
          <a:noFill/>
        </p:spPr>
        <p:txBody>
          <a:bodyPr wrap="square">
            <a:spAutoFit/>
          </a:bodyPr>
          <a:lstStyle/>
          <a:p>
            <a:pPr algn="l">
              <a:spcAft>
                <a:spcPts val="800"/>
              </a:spcAft>
            </a:pPr>
            <a:r>
              <a:rPr sz="1800" b="1">
                <a:solidFill>
                  <a:srgbClr val="F4F9FD"/>
                </a:solidFill>
                <a:latin typeface="Aptos"/>
              </a:rPr>
              <a:t>How the demo works</a:t>
            </a:r>
          </a:p>
        </p:txBody>
      </p:sp>
      <p:sp>
        <p:nvSpPr>
          <p:cNvPr id="9" name="TextBox 8"/>
          <p:cNvSpPr txBox="1"/>
          <p:nvPr/>
        </p:nvSpPr>
        <p:spPr>
          <a:xfrm>
            <a:off x="868680" y="2148840"/>
            <a:ext cx="1463040" cy="256032"/>
          </a:xfrm>
          <a:prstGeom prst="rect">
            <a:avLst/>
          </a:prstGeom>
          <a:noFill/>
        </p:spPr>
        <p:txBody>
          <a:bodyPr wrap="square">
            <a:spAutoFit/>
          </a:bodyPr>
          <a:lstStyle/>
          <a:p>
            <a:pPr algn="l">
              <a:spcAft>
                <a:spcPts val="800"/>
              </a:spcAft>
            </a:pPr>
            <a:r>
              <a:rPr sz="1500" b="1">
                <a:solidFill>
                  <a:srgbClr val="FFBE53"/>
                </a:solidFill>
                <a:latin typeface="Aptos"/>
              </a:rPr>
              <a:t>Input video</a:t>
            </a:r>
          </a:p>
        </p:txBody>
      </p:sp>
      <p:sp>
        <p:nvSpPr>
          <p:cNvPr id="10" name="TextBox 9"/>
          <p:cNvSpPr txBox="1"/>
          <p:nvPr/>
        </p:nvSpPr>
        <p:spPr>
          <a:xfrm>
            <a:off x="2240280" y="2130552"/>
            <a:ext cx="3657600" cy="594360"/>
          </a:xfrm>
          <a:prstGeom prst="rect">
            <a:avLst/>
          </a:prstGeom>
          <a:noFill/>
        </p:spPr>
        <p:txBody>
          <a:bodyPr wrap="square">
            <a:spAutoFit/>
          </a:bodyPr>
          <a:lstStyle/>
          <a:p>
            <a:pPr algn="l">
              <a:spcAft>
                <a:spcPts val="800"/>
              </a:spcAft>
            </a:pPr>
            <a:r>
              <a:rPr sz="1400" b="0">
                <a:solidFill>
                  <a:srgbClr val="F4F9FD"/>
                </a:solidFill>
                <a:latin typeface="Aptos"/>
              </a:rPr>
              <a:t>A fixed roadside video with cars and motorcycles.</a:t>
            </a:r>
          </a:p>
        </p:txBody>
      </p:sp>
      <p:sp>
        <p:nvSpPr>
          <p:cNvPr id="11" name="TextBox 10"/>
          <p:cNvSpPr txBox="1"/>
          <p:nvPr/>
        </p:nvSpPr>
        <p:spPr>
          <a:xfrm>
            <a:off x="868680" y="3017520"/>
            <a:ext cx="1463040" cy="256032"/>
          </a:xfrm>
          <a:prstGeom prst="rect">
            <a:avLst/>
          </a:prstGeom>
          <a:noFill/>
        </p:spPr>
        <p:txBody>
          <a:bodyPr wrap="square">
            <a:spAutoFit/>
          </a:bodyPr>
          <a:lstStyle/>
          <a:p>
            <a:pPr algn="l">
              <a:spcAft>
                <a:spcPts val="800"/>
              </a:spcAft>
            </a:pPr>
            <a:r>
              <a:rPr sz="1500" b="1">
                <a:solidFill>
                  <a:srgbClr val="FFBE53"/>
                </a:solidFill>
                <a:latin typeface="Aptos"/>
              </a:rPr>
              <a:t>What students observe</a:t>
            </a:r>
          </a:p>
        </p:txBody>
      </p:sp>
      <p:sp>
        <p:nvSpPr>
          <p:cNvPr id="12" name="TextBox 11"/>
          <p:cNvSpPr txBox="1"/>
          <p:nvPr/>
        </p:nvSpPr>
        <p:spPr>
          <a:xfrm>
            <a:off x="2240280" y="2999232"/>
            <a:ext cx="3657600" cy="594360"/>
          </a:xfrm>
          <a:prstGeom prst="rect">
            <a:avLst/>
          </a:prstGeom>
          <a:noFill/>
        </p:spPr>
        <p:txBody>
          <a:bodyPr wrap="square">
            <a:spAutoFit/>
          </a:bodyPr>
          <a:lstStyle/>
          <a:p>
            <a:pPr algn="l">
              <a:spcAft>
                <a:spcPts val="800"/>
              </a:spcAft>
            </a:pPr>
            <a:r>
              <a:rPr sz="1400" b="0">
                <a:solidFill>
                  <a:srgbClr val="F4F9FD"/>
                </a:solidFill>
                <a:latin typeface="Aptos"/>
              </a:rPr>
              <a:t>Bounding boxes, object IDs, and vehicle counting when objects cross a virtual line.</a:t>
            </a:r>
          </a:p>
        </p:txBody>
      </p:sp>
      <p:sp>
        <p:nvSpPr>
          <p:cNvPr id="13" name="TextBox 12"/>
          <p:cNvSpPr txBox="1"/>
          <p:nvPr/>
        </p:nvSpPr>
        <p:spPr>
          <a:xfrm>
            <a:off x="868680" y="3886200"/>
            <a:ext cx="1463040" cy="256032"/>
          </a:xfrm>
          <a:prstGeom prst="rect">
            <a:avLst/>
          </a:prstGeom>
          <a:noFill/>
        </p:spPr>
        <p:txBody>
          <a:bodyPr wrap="square">
            <a:spAutoFit/>
          </a:bodyPr>
          <a:lstStyle/>
          <a:p>
            <a:pPr algn="l">
              <a:spcAft>
                <a:spcPts val="800"/>
              </a:spcAft>
            </a:pPr>
            <a:r>
              <a:rPr sz="1500" b="1">
                <a:solidFill>
                  <a:srgbClr val="FFBE53"/>
                </a:solidFill>
                <a:latin typeface="Aptos"/>
              </a:rPr>
              <a:t>Minimum open-source stack</a:t>
            </a:r>
          </a:p>
        </p:txBody>
      </p:sp>
      <p:sp>
        <p:nvSpPr>
          <p:cNvPr id="14" name="TextBox 13"/>
          <p:cNvSpPr txBox="1"/>
          <p:nvPr/>
        </p:nvSpPr>
        <p:spPr>
          <a:xfrm>
            <a:off x="2240280" y="3867912"/>
            <a:ext cx="3657600" cy="594360"/>
          </a:xfrm>
          <a:prstGeom prst="rect">
            <a:avLst/>
          </a:prstGeom>
          <a:noFill/>
        </p:spPr>
        <p:txBody>
          <a:bodyPr wrap="square">
            <a:spAutoFit/>
          </a:bodyPr>
          <a:lstStyle/>
          <a:p>
            <a:pPr algn="l">
              <a:spcAft>
                <a:spcPts val="800"/>
              </a:spcAft>
            </a:pPr>
            <a:r>
              <a:rPr sz="1400" b="0">
                <a:solidFill>
                  <a:srgbClr val="F4F9FD"/>
                </a:solidFill>
                <a:latin typeface="Aptos"/>
              </a:rPr>
              <a:t>OpenCV baseline for motion + optional YOLO and ByteTrack for stronger results.</a:t>
            </a:r>
          </a:p>
        </p:txBody>
      </p:sp>
      <p:sp>
        <p:nvSpPr>
          <p:cNvPr id="15" name="TextBox 14"/>
          <p:cNvSpPr txBox="1"/>
          <p:nvPr/>
        </p:nvSpPr>
        <p:spPr>
          <a:xfrm>
            <a:off x="868680" y="4754880"/>
            <a:ext cx="1463040" cy="256032"/>
          </a:xfrm>
          <a:prstGeom prst="rect">
            <a:avLst/>
          </a:prstGeom>
          <a:noFill/>
        </p:spPr>
        <p:txBody>
          <a:bodyPr wrap="square">
            <a:spAutoFit/>
          </a:bodyPr>
          <a:lstStyle/>
          <a:p>
            <a:pPr algn="l">
              <a:spcAft>
                <a:spcPts val="800"/>
              </a:spcAft>
            </a:pPr>
            <a:r>
              <a:rPr sz="1500" b="1">
                <a:solidFill>
                  <a:srgbClr val="FFBE53"/>
                </a:solidFill>
                <a:latin typeface="Aptos"/>
              </a:rPr>
              <a:t>Discussion prompt</a:t>
            </a:r>
          </a:p>
        </p:txBody>
      </p:sp>
      <p:sp>
        <p:nvSpPr>
          <p:cNvPr id="16" name="TextBox 15"/>
          <p:cNvSpPr txBox="1"/>
          <p:nvPr/>
        </p:nvSpPr>
        <p:spPr>
          <a:xfrm>
            <a:off x="2240280" y="4736592"/>
            <a:ext cx="3657600" cy="594360"/>
          </a:xfrm>
          <a:prstGeom prst="rect">
            <a:avLst/>
          </a:prstGeom>
          <a:noFill/>
        </p:spPr>
        <p:txBody>
          <a:bodyPr wrap="square">
            <a:spAutoFit/>
          </a:bodyPr>
          <a:lstStyle/>
          <a:p>
            <a:pPr algn="l">
              <a:spcAft>
                <a:spcPts val="800"/>
              </a:spcAft>
            </a:pPr>
            <a:r>
              <a:rPr sz="1400" b="0">
                <a:solidFill>
                  <a:srgbClr val="F4F9FD"/>
                </a:solidFill>
                <a:latin typeface="Aptos"/>
              </a:rPr>
              <a:t>How do rain, shadows, traffic jams, and overlapping vehicles affect detection and counting?</a:t>
            </a:r>
          </a:p>
        </p:txBody>
      </p:sp>
      <p:sp>
        <p:nvSpPr>
          <p:cNvPr id="17" name="Rounded Rectangle 16"/>
          <p:cNvSpPr/>
          <p:nvPr/>
        </p:nvSpPr>
        <p:spPr>
          <a:xfrm>
            <a:off x="6355080" y="1508760"/>
            <a:ext cx="2148840" cy="4572000"/>
          </a:xfrm>
          <a:prstGeom prst="roundRect">
            <a:avLst/>
          </a:prstGeom>
          <a:solidFill>
            <a:srgbClr val="1C3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60" y="1691640"/>
            <a:ext cx="1828800" cy="228600"/>
          </a:xfrm>
          <a:prstGeom prst="rect">
            <a:avLst/>
          </a:prstGeom>
          <a:noFill/>
        </p:spPr>
        <p:txBody>
          <a:bodyPr wrap="square">
            <a:spAutoFit/>
          </a:bodyPr>
          <a:lstStyle/>
          <a:p>
            <a:pPr algn="l">
              <a:spcAft>
                <a:spcPts val="800"/>
              </a:spcAft>
            </a:pPr>
            <a:r>
              <a:rPr sz="1700" b="1">
                <a:solidFill>
                  <a:srgbClr val="F4F9FD"/>
                </a:solidFill>
                <a:latin typeface="Aptos"/>
              </a:rPr>
              <a:t>Student deliverables</a:t>
            </a:r>
          </a:p>
        </p:txBody>
      </p:sp>
      <p:sp>
        <p:nvSpPr>
          <p:cNvPr id="19" name="Rectangle 18"/>
          <p:cNvSpPr/>
          <p:nvPr/>
        </p:nvSpPr>
        <p:spPr>
          <a:xfrm>
            <a:off x="6537960" y="2240280"/>
            <a:ext cx="201168" cy="201168"/>
          </a:xfrm>
          <a:prstGeom prst="rect">
            <a:avLst/>
          </a:prstGeom>
          <a:solidFill>
            <a:srgbClr val="E25A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0" y="2212848"/>
            <a:ext cx="1325880" cy="256032"/>
          </a:xfrm>
          <a:prstGeom prst="rect">
            <a:avLst/>
          </a:prstGeom>
          <a:noFill/>
        </p:spPr>
        <p:txBody>
          <a:bodyPr wrap="square">
            <a:spAutoFit/>
          </a:bodyPr>
          <a:lstStyle/>
          <a:p>
            <a:pPr algn="l">
              <a:spcAft>
                <a:spcPts val="800"/>
              </a:spcAft>
            </a:pPr>
            <a:r>
              <a:rPr sz="1200" b="0">
                <a:solidFill>
                  <a:srgbClr val="F4F9FD"/>
                </a:solidFill>
                <a:latin typeface="Aptos"/>
              </a:rPr>
              <a:t>1 annotated output video</a:t>
            </a:r>
          </a:p>
        </p:txBody>
      </p:sp>
      <p:sp>
        <p:nvSpPr>
          <p:cNvPr id="21" name="Rectangle 20"/>
          <p:cNvSpPr/>
          <p:nvPr/>
        </p:nvSpPr>
        <p:spPr>
          <a:xfrm>
            <a:off x="6537960" y="2788920"/>
            <a:ext cx="201168" cy="201168"/>
          </a:xfrm>
          <a:prstGeom prst="rect">
            <a:avLst/>
          </a:prstGeom>
          <a:solidFill>
            <a:srgbClr val="E25A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0" y="2761488"/>
            <a:ext cx="1325880" cy="256032"/>
          </a:xfrm>
          <a:prstGeom prst="rect">
            <a:avLst/>
          </a:prstGeom>
          <a:noFill/>
        </p:spPr>
        <p:txBody>
          <a:bodyPr wrap="square">
            <a:spAutoFit/>
          </a:bodyPr>
          <a:lstStyle/>
          <a:p>
            <a:pPr algn="l">
              <a:spcAft>
                <a:spcPts val="800"/>
              </a:spcAft>
            </a:pPr>
            <a:r>
              <a:rPr sz="1200" b="0">
                <a:solidFill>
                  <a:srgbClr val="F4F9FD"/>
                </a:solidFill>
                <a:latin typeface="Aptos"/>
              </a:rPr>
              <a:t>1 screenshot of results</a:t>
            </a:r>
          </a:p>
        </p:txBody>
      </p:sp>
      <p:sp>
        <p:nvSpPr>
          <p:cNvPr id="23" name="Rectangle 22"/>
          <p:cNvSpPr/>
          <p:nvPr/>
        </p:nvSpPr>
        <p:spPr>
          <a:xfrm>
            <a:off x="6537960" y="3337560"/>
            <a:ext cx="201168" cy="201168"/>
          </a:xfrm>
          <a:prstGeom prst="rect">
            <a:avLst/>
          </a:prstGeom>
          <a:solidFill>
            <a:srgbClr val="E25A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0" y="3310128"/>
            <a:ext cx="1325880" cy="256032"/>
          </a:xfrm>
          <a:prstGeom prst="rect">
            <a:avLst/>
          </a:prstGeom>
          <a:noFill/>
        </p:spPr>
        <p:txBody>
          <a:bodyPr wrap="square">
            <a:spAutoFit/>
          </a:bodyPr>
          <a:lstStyle/>
          <a:p>
            <a:pPr algn="l">
              <a:spcAft>
                <a:spcPts val="800"/>
              </a:spcAft>
            </a:pPr>
            <a:r>
              <a:rPr sz="1200" b="0">
                <a:solidFill>
                  <a:srgbClr val="F4F9FD"/>
                </a:solidFill>
                <a:latin typeface="Aptos"/>
              </a:rPr>
              <a:t>1 short explanation of errors</a:t>
            </a:r>
          </a:p>
        </p:txBody>
      </p:sp>
      <p:sp>
        <p:nvSpPr>
          <p:cNvPr id="25" name="Rectangle 24"/>
          <p:cNvSpPr/>
          <p:nvPr/>
        </p:nvSpPr>
        <p:spPr>
          <a:xfrm>
            <a:off x="6537960" y="3886200"/>
            <a:ext cx="201168" cy="201168"/>
          </a:xfrm>
          <a:prstGeom prst="rect">
            <a:avLst/>
          </a:prstGeom>
          <a:solidFill>
            <a:srgbClr val="E25A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0" y="3858768"/>
            <a:ext cx="1325880" cy="256032"/>
          </a:xfrm>
          <a:prstGeom prst="rect">
            <a:avLst/>
          </a:prstGeom>
          <a:noFill/>
        </p:spPr>
        <p:txBody>
          <a:bodyPr wrap="square">
            <a:spAutoFit/>
          </a:bodyPr>
          <a:lstStyle/>
          <a:p>
            <a:pPr algn="l">
              <a:spcAft>
                <a:spcPts val="800"/>
              </a:spcAft>
            </a:pPr>
            <a:r>
              <a:rPr sz="1200" b="0">
                <a:solidFill>
                  <a:srgbClr val="F4F9FD"/>
                </a:solidFill>
                <a:latin typeface="Aptos"/>
              </a:rPr>
              <a:t>1 idea for improvement</a:t>
            </a:r>
          </a:p>
        </p:txBody>
      </p:sp>
      <p:sp>
        <p:nvSpPr>
          <p:cNvPr id="27" name="Rectangle 26"/>
          <p:cNvSpPr/>
          <p:nvPr/>
        </p:nvSpPr>
        <p:spPr>
          <a:xfrm>
            <a:off x="6537960" y="4434840"/>
            <a:ext cx="201168" cy="201168"/>
          </a:xfrm>
          <a:prstGeom prst="rect">
            <a:avLst/>
          </a:prstGeom>
          <a:solidFill>
            <a:srgbClr val="E25A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0" y="4407407"/>
            <a:ext cx="1325880" cy="256032"/>
          </a:xfrm>
          <a:prstGeom prst="rect">
            <a:avLst/>
          </a:prstGeom>
          <a:noFill/>
        </p:spPr>
        <p:txBody>
          <a:bodyPr wrap="square">
            <a:spAutoFit/>
          </a:bodyPr>
          <a:lstStyle/>
          <a:p>
            <a:pPr algn="l">
              <a:spcAft>
                <a:spcPts val="800"/>
              </a:spcAft>
            </a:pPr>
            <a:r>
              <a:rPr sz="1200" b="0">
                <a:solidFill>
                  <a:srgbClr val="F4F9FD"/>
                </a:solidFill>
                <a:latin typeface="Aptos"/>
              </a:rPr>
              <a:t>1 ethics note</a:t>
            </a:r>
          </a:p>
        </p:txBody>
      </p:sp>
      <p:sp>
        <p:nvSpPr>
          <p:cNvPr id="29" name="TextBox 28"/>
          <p:cNvSpPr txBox="1"/>
          <p:nvPr/>
        </p:nvSpPr>
        <p:spPr>
          <a:xfrm>
            <a:off x="6537960" y="5257800"/>
            <a:ext cx="1783080" cy="502920"/>
          </a:xfrm>
          <a:prstGeom prst="rect">
            <a:avLst/>
          </a:prstGeom>
          <a:noFill/>
        </p:spPr>
        <p:txBody>
          <a:bodyPr wrap="square">
            <a:spAutoFit/>
          </a:bodyPr>
          <a:lstStyle/>
          <a:p>
            <a:pPr algn="l">
              <a:spcAft>
                <a:spcPts val="800"/>
              </a:spcAft>
            </a:pPr>
            <a:r>
              <a:rPr sz="1200" b="0">
                <a:solidFill>
                  <a:srgbClr val="B9CEDC"/>
                </a:solidFill>
                <a:latin typeface="Aptos"/>
              </a:rPr>
              <a:t>Suggested class flow:</a:t>
            </a:r>
          </a:p>
          <a:p>
            <a:pPr algn="l">
              <a:spcAft>
                <a:spcPts val="800"/>
              </a:spcAft>
            </a:pPr>
            <a:r>
              <a:rPr sz="1200" b="0">
                <a:solidFill>
                  <a:srgbClr val="B9CEDC"/>
                </a:solidFill>
                <a:latin typeface="Aptos"/>
              </a:rPr>
              <a:t>run demo → inspect errors → discuss improvements</a:t>
            </a:r>
          </a:p>
        </p:txBody>
      </p:sp>
      <p:sp>
        <p:nvSpPr>
          <p:cNvPr id="30" name="TextBox 29"/>
          <p:cNvSpPr txBox="1"/>
          <p:nvPr/>
        </p:nvSpPr>
        <p:spPr>
          <a:xfrm>
            <a:off x="713232" y="13240512"/>
            <a:ext cx="23103840" cy="292608"/>
          </a:xfrm>
          <a:prstGeom prst="rect">
            <a:avLst/>
          </a:prstGeom>
          <a:noFill/>
        </p:spPr>
        <p:txBody>
          <a:bodyPr wrap="square">
            <a:spAutoFit/>
          </a:bodyPr>
          <a:lstStyle/>
          <a:p>
            <a:pPr algn="l">
              <a:spcAft>
                <a:spcPts val="800"/>
              </a:spcAft>
            </a:pPr>
            <a:r>
              <a:rPr sz="1000" b="0">
                <a:solidFill>
                  <a:srgbClr val="B9CEDC"/>
                </a:solidFill>
                <a:latin typeface="Aptos"/>
              </a:rPr>
              <a:t>Best first demo because the targets are large and visually easy to follow.</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82C"/>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Rounded Rectangle 2"/>
          <p:cNvSpPr/>
          <p:nvPr/>
        </p:nvSpPr>
        <p:spPr>
          <a:xfrm>
            <a:off x="393192" y="411480"/>
            <a:ext cx="109728" cy="640080"/>
          </a:xfrm>
          <a:prstGeom prst="roundRect">
            <a:avLst/>
          </a:prstGeom>
          <a:solidFill>
            <a:srgbClr val="33D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93192"/>
            <a:ext cx="23195280" cy="411480"/>
          </a:xfrm>
          <a:prstGeom prst="rect">
            <a:avLst/>
          </a:prstGeom>
          <a:noFill/>
        </p:spPr>
        <p:txBody>
          <a:bodyPr wrap="square">
            <a:spAutoFit/>
          </a:bodyPr>
          <a:lstStyle/>
          <a:p>
            <a:pPr algn="l">
              <a:spcAft>
                <a:spcPts val="800"/>
              </a:spcAft>
            </a:pPr>
            <a:r>
              <a:rPr sz="3100" b="1">
                <a:solidFill>
                  <a:srgbClr val="F4F9FD"/>
                </a:solidFill>
                <a:latin typeface="Aptos"/>
              </a:rPr>
              <a:t>DEMO B | DRONE HUMAN DETECTION</a:t>
            </a:r>
          </a:p>
        </p:txBody>
      </p:sp>
      <p:sp>
        <p:nvSpPr>
          <p:cNvPr id="5" name="TextBox 4"/>
          <p:cNvSpPr txBox="1"/>
          <p:nvPr/>
        </p:nvSpPr>
        <p:spPr>
          <a:xfrm>
            <a:off x="713232" y="914400"/>
            <a:ext cx="23103840" cy="274320"/>
          </a:xfrm>
          <a:prstGeom prst="rect">
            <a:avLst/>
          </a:prstGeom>
          <a:noFill/>
        </p:spPr>
        <p:txBody>
          <a:bodyPr wrap="square">
            <a:spAutoFit/>
          </a:bodyPr>
          <a:lstStyle/>
          <a:p>
            <a:pPr algn="l">
              <a:spcAft>
                <a:spcPts val="800"/>
              </a:spcAft>
            </a:pPr>
            <a:r>
              <a:rPr sz="1200" b="1">
                <a:solidFill>
                  <a:srgbClr val="33D6D2"/>
                </a:solidFill>
                <a:latin typeface="Aptos"/>
              </a:rPr>
              <a:t>AERIAL VISION FOR SAFETY MONITORING</a:t>
            </a:r>
          </a:p>
        </p:txBody>
      </p:sp>
      <p:sp>
        <p:nvSpPr>
          <p:cNvPr id="6" name="Rounded Rectangle 5"/>
          <p:cNvSpPr/>
          <p:nvPr/>
        </p:nvSpPr>
        <p:spPr>
          <a:xfrm>
            <a:off x="640080" y="1508760"/>
            <a:ext cx="5486400" cy="4572000"/>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508760"/>
            <a:ext cx="5486400" cy="502920"/>
          </a:xfrm>
          <a:prstGeom prst="roundRect">
            <a:avLst/>
          </a:prstGeom>
          <a:solidFill>
            <a:srgbClr val="65CC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00200"/>
            <a:ext cx="5120640" cy="256032"/>
          </a:xfrm>
          <a:prstGeom prst="rect">
            <a:avLst/>
          </a:prstGeom>
          <a:noFill/>
        </p:spPr>
        <p:txBody>
          <a:bodyPr wrap="square">
            <a:spAutoFit/>
          </a:bodyPr>
          <a:lstStyle/>
          <a:p>
            <a:pPr algn="l">
              <a:spcAft>
                <a:spcPts val="800"/>
              </a:spcAft>
            </a:pPr>
            <a:r>
              <a:rPr sz="1800" b="1">
                <a:solidFill>
                  <a:srgbClr val="F4F9FD"/>
                </a:solidFill>
                <a:latin typeface="Aptos"/>
              </a:rPr>
              <a:t>How the demo works</a:t>
            </a:r>
          </a:p>
        </p:txBody>
      </p:sp>
      <p:sp>
        <p:nvSpPr>
          <p:cNvPr id="9" name="TextBox 8"/>
          <p:cNvSpPr txBox="1"/>
          <p:nvPr/>
        </p:nvSpPr>
        <p:spPr>
          <a:xfrm>
            <a:off x="868680" y="2148840"/>
            <a:ext cx="1463040" cy="256032"/>
          </a:xfrm>
          <a:prstGeom prst="rect">
            <a:avLst/>
          </a:prstGeom>
          <a:noFill/>
        </p:spPr>
        <p:txBody>
          <a:bodyPr wrap="square">
            <a:spAutoFit/>
          </a:bodyPr>
          <a:lstStyle/>
          <a:p>
            <a:pPr algn="l">
              <a:spcAft>
                <a:spcPts val="800"/>
              </a:spcAft>
            </a:pPr>
            <a:r>
              <a:rPr sz="1500" b="1">
                <a:solidFill>
                  <a:srgbClr val="FFBE53"/>
                </a:solidFill>
                <a:latin typeface="Aptos"/>
              </a:rPr>
              <a:t>Input video</a:t>
            </a:r>
          </a:p>
        </p:txBody>
      </p:sp>
      <p:sp>
        <p:nvSpPr>
          <p:cNvPr id="10" name="TextBox 9"/>
          <p:cNvSpPr txBox="1"/>
          <p:nvPr/>
        </p:nvSpPr>
        <p:spPr>
          <a:xfrm>
            <a:off x="2240280" y="2130552"/>
            <a:ext cx="3657600" cy="594360"/>
          </a:xfrm>
          <a:prstGeom prst="rect">
            <a:avLst/>
          </a:prstGeom>
          <a:noFill/>
        </p:spPr>
        <p:txBody>
          <a:bodyPr wrap="square">
            <a:spAutoFit/>
          </a:bodyPr>
          <a:lstStyle/>
          <a:p>
            <a:pPr algn="l">
              <a:spcAft>
                <a:spcPts val="800"/>
              </a:spcAft>
            </a:pPr>
            <a:r>
              <a:rPr sz="1400" b="0">
                <a:solidFill>
                  <a:srgbClr val="F4F9FD"/>
                </a:solidFill>
                <a:latin typeface="Aptos"/>
              </a:rPr>
              <a:t>A drone video over a hiking path, open field, or disaster area.</a:t>
            </a:r>
          </a:p>
        </p:txBody>
      </p:sp>
      <p:sp>
        <p:nvSpPr>
          <p:cNvPr id="11" name="TextBox 10"/>
          <p:cNvSpPr txBox="1"/>
          <p:nvPr/>
        </p:nvSpPr>
        <p:spPr>
          <a:xfrm>
            <a:off x="868680" y="3017520"/>
            <a:ext cx="1463040" cy="256032"/>
          </a:xfrm>
          <a:prstGeom prst="rect">
            <a:avLst/>
          </a:prstGeom>
          <a:noFill/>
        </p:spPr>
        <p:txBody>
          <a:bodyPr wrap="square">
            <a:spAutoFit/>
          </a:bodyPr>
          <a:lstStyle/>
          <a:p>
            <a:pPr algn="l">
              <a:spcAft>
                <a:spcPts val="800"/>
              </a:spcAft>
            </a:pPr>
            <a:r>
              <a:rPr sz="1500" b="1">
                <a:solidFill>
                  <a:srgbClr val="FFBE53"/>
                </a:solidFill>
                <a:latin typeface="Aptos"/>
              </a:rPr>
              <a:t>What students observe</a:t>
            </a:r>
          </a:p>
        </p:txBody>
      </p:sp>
      <p:sp>
        <p:nvSpPr>
          <p:cNvPr id="12" name="TextBox 11"/>
          <p:cNvSpPr txBox="1"/>
          <p:nvPr/>
        </p:nvSpPr>
        <p:spPr>
          <a:xfrm>
            <a:off x="2240280" y="2999232"/>
            <a:ext cx="3657600" cy="594360"/>
          </a:xfrm>
          <a:prstGeom prst="rect">
            <a:avLst/>
          </a:prstGeom>
          <a:noFill/>
        </p:spPr>
        <p:txBody>
          <a:bodyPr wrap="square">
            <a:spAutoFit/>
          </a:bodyPr>
          <a:lstStyle/>
          <a:p>
            <a:pPr algn="l">
              <a:spcAft>
                <a:spcPts val="800"/>
              </a:spcAft>
            </a:pPr>
            <a:r>
              <a:rPr sz="1400" b="0">
                <a:solidFill>
                  <a:srgbClr val="F4F9FD"/>
                </a:solidFill>
                <a:latin typeface="Aptos"/>
              </a:rPr>
              <a:t>People often appear small, move irregularly, and may be partially occluded by vegetation.</a:t>
            </a:r>
          </a:p>
        </p:txBody>
      </p:sp>
      <p:sp>
        <p:nvSpPr>
          <p:cNvPr id="13" name="TextBox 12"/>
          <p:cNvSpPr txBox="1"/>
          <p:nvPr/>
        </p:nvSpPr>
        <p:spPr>
          <a:xfrm>
            <a:off x="868680" y="3886200"/>
            <a:ext cx="1463040" cy="256032"/>
          </a:xfrm>
          <a:prstGeom prst="rect">
            <a:avLst/>
          </a:prstGeom>
          <a:noFill/>
        </p:spPr>
        <p:txBody>
          <a:bodyPr wrap="square">
            <a:spAutoFit/>
          </a:bodyPr>
          <a:lstStyle/>
          <a:p>
            <a:pPr algn="l">
              <a:spcAft>
                <a:spcPts val="800"/>
              </a:spcAft>
            </a:pPr>
            <a:r>
              <a:rPr sz="1500" b="1">
                <a:solidFill>
                  <a:srgbClr val="FFBE53"/>
                </a:solidFill>
                <a:latin typeface="Aptos"/>
              </a:rPr>
              <a:t>Minimum open-source stack</a:t>
            </a:r>
          </a:p>
        </p:txBody>
      </p:sp>
      <p:sp>
        <p:nvSpPr>
          <p:cNvPr id="14" name="TextBox 13"/>
          <p:cNvSpPr txBox="1"/>
          <p:nvPr/>
        </p:nvSpPr>
        <p:spPr>
          <a:xfrm>
            <a:off x="2240280" y="3867912"/>
            <a:ext cx="3657600" cy="594360"/>
          </a:xfrm>
          <a:prstGeom prst="rect">
            <a:avLst/>
          </a:prstGeom>
          <a:noFill/>
        </p:spPr>
        <p:txBody>
          <a:bodyPr wrap="square">
            <a:spAutoFit/>
          </a:bodyPr>
          <a:lstStyle/>
          <a:p>
            <a:pPr algn="l">
              <a:spcAft>
                <a:spcPts val="800"/>
              </a:spcAft>
            </a:pPr>
            <a:r>
              <a:t>Classroom-tested: YOLOv8s (person class) + ByteTrack; HOG failed on aerial people.</a:t>
            </a:r>
          </a:p>
        </p:txBody>
      </p:sp>
      <p:sp>
        <p:nvSpPr>
          <p:cNvPr id="15" name="TextBox 14"/>
          <p:cNvSpPr txBox="1"/>
          <p:nvPr/>
        </p:nvSpPr>
        <p:spPr>
          <a:xfrm>
            <a:off x="868680" y="4754880"/>
            <a:ext cx="1463040" cy="256032"/>
          </a:xfrm>
          <a:prstGeom prst="rect">
            <a:avLst/>
          </a:prstGeom>
          <a:noFill/>
        </p:spPr>
        <p:txBody>
          <a:bodyPr wrap="square">
            <a:spAutoFit/>
          </a:bodyPr>
          <a:lstStyle/>
          <a:p>
            <a:pPr algn="l">
              <a:spcAft>
                <a:spcPts val="800"/>
              </a:spcAft>
            </a:pPr>
            <a:r>
              <a:rPr sz="1500" b="1">
                <a:solidFill>
                  <a:srgbClr val="FFBE53"/>
                </a:solidFill>
                <a:latin typeface="Aptos"/>
              </a:rPr>
              <a:t>Discussion prompt</a:t>
            </a:r>
          </a:p>
        </p:txBody>
      </p:sp>
      <p:sp>
        <p:nvSpPr>
          <p:cNvPr id="16" name="TextBox 15"/>
          <p:cNvSpPr txBox="1"/>
          <p:nvPr/>
        </p:nvSpPr>
        <p:spPr>
          <a:xfrm>
            <a:off x="2240280" y="4736592"/>
            <a:ext cx="3657600" cy="594360"/>
          </a:xfrm>
          <a:prstGeom prst="rect">
            <a:avLst/>
          </a:prstGeom>
          <a:noFill/>
        </p:spPr>
        <p:txBody>
          <a:bodyPr wrap="square">
            <a:spAutoFit/>
          </a:bodyPr>
          <a:lstStyle/>
          <a:p>
            <a:pPr algn="l">
              <a:spcAft>
                <a:spcPts val="800"/>
              </a:spcAft>
            </a:pPr>
            <a:r>
              <a:rPr sz="1400" b="0">
                <a:solidFill>
                  <a:srgbClr val="F4F9FD"/>
                </a:solidFill>
                <a:latin typeface="Aptos"/>
              </a:rPr>
              <a:t>Why is drone human detection harder than traffic monitoring even when the code looks similar?</a:t>
            </a:r>
          </a:p>
        </p:txBody>
      </p:sp>
      <p:sp>
        <p:nvSpPr>
          <p:cNvPr id="17" name="Rounded Rectangle 16"/>
          <p:cNvSpPr/>
          <p:nvPr/>
        </p:nvSpPr>
        <p:spPr>
          <a:xfrm>
            <a:off x="6355080" y="1508760"/>
            <a:ext cx="2148840" cy="4572000"/>
          </a:xfrm>
          <a:prstGeom prst="roundRect">
            <a:avLst/>
          </a:prstGeom>
          <a:solidFill>
            <a:srgbClr val="1C3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60" y="1691640"/>
            <a:ext cx="1828800" cy="228600"/>
          </a:xfrm>
          <a:prstGeom prst="rect">
            <a:avLst/>
          </a:prstGeom>
          <a:noFill/>
        </p:spPr>
        <p:txBody>
          <a:bodyPr wrap="square">
            <a:spAutoFit/>
          </a:bodyPr>
          <a:lstStyle/>
          <a:p>
            <a:pPr algn="l">
              <a:spcAft>
                <a:spcPts val="800"/>
              </a:spcAft>
            </a:pPr>
            <a:r>
              <a:rPr sz="1700" b="1">
                <a:solidFill>
                  <a:srgbClr val="F4F9FD"/>
                </a:solidFill>
                <a:latin typeface="Aptos"/>
              </a:rPr>
              <a:t>Student deliverables</a:t>
            </a:r>
          </a:p>
        </p:txBody>
      </p:sp>
      <p:sp>
        <p:nvSpPr>
          <p:cNvPr id="19" name="Rectangle 18"/>
          <p:cNvSpPr/>
          <p:nvPr/>
        </p:nvSpPr>
        <p:spPr>
          <a:xfrm>
            <a:off x="6537960" y="2240280"/>
            <a:ext cx="201168" cy="201168"/>
          </a:xfrm>
          <a:prstGeom prst="rect">
            <a:avLst/>
          </a:prstGeom>
          <a:solidFill>
            <a:srgbClr val="65CC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0" y="2212848"/>
            <a:ext cx="1325880" cy="256032"/>
          </a:xfrm>
          <a:prstGeom prst="rect">
            <a:avLst/>
          </a:prstGeom>
          <a:noFill/>
        </p:spPr>
        <p:txBody>
          <a:bodyPr wrap="square">
            <a:spAutoFit/>
          </a:bodyPr>
          <a:lstStyle/>
          <a:p>
            <a:pPr algn="l">
              <a:spcAft>
                <a:spcPts val="800"/>
              </a:spcAft>
            </a:pPr>
            <a:r>
              <a:rPr sz="1200" b="0">
                <a:solidFill>
                  <a:srgbClr val="F4F9FD"/>
                </a:solidFill>
                <a:latin typeface="Aptos"/>
              </a:rPr>
              <a:t>1 annotated output video</a:t>
            </a:r>
          </a:p>
        </p:txBody>
      </p:sp>
      <p:sp>
        <p:nvSpPr>
          <p:cNvPr id="21" name="Rectangle 20"/>
          <p:cNvSpPr/>
          <p:nvPr/>
        </p:nvSpPr>
        <p:spPr>
          <a:xfrm>
            <a:off x="6537960" y="2788920"/>
            <a:ext cx="201168" cy="201168"/>
          </a:xfrm>
          <a:prstGeom prst="rect">
            <a:avLst/>
          </a:prstGeom>
          <a:solidFill>
            <a:srgbClr val="65CC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0" y="2761488"/>
            <a:ext cx="1325880" cy="256032"/>
          </a:xfrm>
          <a:prstGeom prst="rect">
            <a:avLst/>
          </a:prstGeom>
          <a:noFill/>
        </p:spPr>
        <p:txBody>
          <a:bodyPr wrap="square">
            <a:spAutoFit/>
          </a:bodyPr>
          <a:lstStyle/>
          <a:p>
            <a:pPr algn="l">
              <a:spcAft>
                <a:spcPts val="800"/>
              </a:spcAft>
            </a:pPr>
            <a:r>
              <a:rPr sz="1200" b="0">
                <a:solidFill>
                  <a:srgbClr val="F4F9FD"/>
                </a:solidFill>
                <a:latin typeface="Aptos"/>
              </a:rPr>
              <a:t>1 screenshot of results</a:t>
            </a:r>
          </a:p>
        </p:txBody>
      </p:sp>
      <p:sp>
        <p:nvSpPr>
          <p:cNvPr id="23" name="Rectangle 22"/>
          <p:cNvSpPr/>
          <p:nvPr/>
        </p:nvSpPr>
        <p:spPr>
          <a:xfrm>
            <a:off x="6537960" y="3337560"/>
            <a:ext cx="201168" cy="201168"/>
          </a:xfrm>
          <a:prstGeom prst="rect">
            <a:avLst/>
          </a:prstGeom>
          <a:solidFill>
            <a:srgbClr val="65CC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0" y="3310128"/>
            <a:ext cx="1325880" cy="256032"/>
          </a:xfrm>
          <a:prstGeom prst="rect">
            <a:avLst/>
          </a:prstGeom>
          <a:noFill/>
        </p:spPr>
        <p:txBody>
          <a:bodyPr wrap="square">
            <a:spAutoFit/>
          </a:bodyPr>
          <a:lstStyle/>
          <a:p>
            <a:pPr algn="l">
              <a:spcAft>
                <a:spcPts val="800"/>
              </a:spcAft>
            </a:pPr>
            <a:r>
              <a:rPr sz="1200" b="0">
                <a:solidFill>
                  <a:srgbClr val="F4F9FD"/>
                </a:solidFill>
                <a:latin typeface="Aptos"/>
              </a:rPr>
              <a:t>1 short explanation of errors</a:t>
            </a:r>
          </a:p>
        </p:txBody>
      </p:sp>
      <p:sp>
        <p:nvSpPr>
          <p:cNvPr id="25" name="Rectangle 24"/>
          <p:cNvSpPr/>
          <p:nvPr/>
        </p:nvSpPr>
        <p:spPr>
          <a:xfrm>
            <a:off x="6537960" y="3886200"/>
            <a:ext cx="201168" cy="201168"/>
          </a:xfrm>
          <a:prstGeom prst="rect">
            <a:avLst/>
          </a:prstGeom>
          <a:solidFill>
            <a:srgbClr val="65CC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0" y="3858768"/>
            <a:ext cx="1325880" cy="256032"/>
          </a:xfrm>
          <a:prstGeom prst="rect">
            <a:avLst/>
          </a:prstGeom>
          <a:noFill/>
        </p:spPr>
        <p:txBody>
          <a:bodyPr wrap="square">
            <a:spAutoFit/>
          </a:bodyPr>
          <a:lstStyle/>
          <a:p>
            <a:pPr algn="l">
              <a:spcAft>
                <a:spcPts val="800"/>
              </a:spcAft>
            </a:pPr>
            <a:r>
              <a:rPr sz="1200" b="0">
                <a:solidFill>
                  <a:srgbClr val="F4F9FD"/>
                </a:solidFill>
                <a:latin typeface="Aptos"/>
              </a:rPr>
              <a:t>1 idea for improvement</a:t>
            </a:r>
          </a:p>
        </p:txBody>
      </p:sp>
      <p:sp>
        <p:nvSpPr>
          <p:cNvPr id="27" name="Rectangle 26"/>
          <p:cNvSpPr/>
          <p:nvPr/>
        </p:nvSpPr>
        <p:spPr>
          <a:xfrm>
            <a:off x="6537960" y="4434840"/>
            <a:ext cx="201168" cy="201168"/>
          </a:xfrm>
          <a:prstGeom prst="rect">
            <a:avLst/>
          </a:prstGeom>
          <a:solidFill>
            <a:srgbClr val="65CC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0" y="4407407"/>
            <a:ext cx="1325880" cy="256032"/>
          </a:xfrm>
          <a:prstGeom prst="rect">
            <a:avLst/>
          </a:prstGeom>
          <a:noFill/>
        </p:spPr>
        <p:txBody>
          <a:bodyPr wrap="square">
            <a:spAutoFit/>
          </a:bodyPr>
          <a:lstStyle/>
          <a:p>
            <a:pPr algn="l">
              <a:spcAft>
                <a:spcPts val="800"/>
              </a:spcAft>
            </a:pPr>
            <a:r>
              <a:rPr sz="1200" b="0">
                <a:solidFill>
                  <a:srgbClr val="F4F9FD"/>
                </a:solidFill>
                <a:latin typeface="Aptos"/>
              </a:rPr>
              <a:t>1 ethics note</a:t>
            </a:r>
          </a:p>
        </p:txBody>
      </p:sp>
      <p:sp>
        <p:nvSpPr>
          <p:cNvPr id="29" name="TextBox 28"/>
          <p:cNvSpPr txBox="1"/>
          <p:nvPr/>
        </p:nvSpPr>
        <p:spPr>
          <a:xfrm>
            <a:off x="6537960" y="5257800"/>
            <a:ext cx="1783080" cy="502920"/>
          </a:xfrm>
          <a:prstGeom prst="rect">
            <a:avLst/>
          </a:prstGeom>
          <a:noFill/>
        </p:spPr>
        <p:txBody>
          <a:bodyPr wrap="square">
            <a:spAutoFit/>
          </a:bodyPr>
          <a:lstStyle/>
          <a:p>
            <a:pPr algn="l">
              <a:spcAft>
                <a:spcPts val="800"/>
              </a:spcAft>
            </a:pPr>
            <a:r>
              <a:rPr sz="1200" b="0">
                <a:solidFill>
                  <a:srgbClr val="B9CEDC"/>
                </a:solidFill>
                <a:latin typeface="Aptos"/>
              </a:rPr>
              <a:t>Suggested class flow:</a:t>
            </a:r>
          </a:p>
          <a:p>
            <a:pPr algn="l">
              <a:spcAft>
                <a:spcPts val="800"/>
              </a:spcAft>
            </a:pPr>
            <a:r>
              <a:rPr sz="1200" b="0">
                <a:solidFill>
                  <a:srgbClr val="B9CEDC"/>
                </a:solidFill>
                <a:latin typeface="Aptos"/>
              </a:rPr>
              <a:t>run demo → inspect errors → discuss improvements</a:t>
            </a:r>
          </a:p>
        </p:txBody>
      </p:sp>
      <p:sp>
        <p:nvSpPr>
          <p:cNvPr id="30" name="TextBox 29"/>
          <p:cNvSpPr txBox="1"/>
          <p:nvPr/>
        </p:nvSpPr>
        <p:spPr>
          <a:xfrm>
            <a:off x="713232" y="13240512"/>
            <a:ext cx="23103840" cy="292608"/>
          </a:xfrm>
          <a:prstGeom prst="rect">
            <a:avLst/>
          </a:prstGeom>
          <a:noFill/>
        </p:spPr>
        <p:txBody>
          <a:bodyPr wrap="square">
            <a:spAutoFit/>
          </a:bodyPr>
          <a:lstStyle/>
          <a:p>
            <a:pPr algn="l">
              <a:spcAft>
                <a:spcPts val="800"/>
              </a:spcAft>
            </a:pPr>
            <a:r>
              <a:rPr sz="1000" b="0">
                <a:solidFill>
                  <a:srgbClr val="B9CEDC"/>
                </a:solidFill>
                <a:latin typeface="Aptos"/>
              </a:rPr>
              <a:t>Connect this slide to mountain safety, SAR, and disaster-response applications.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82C"/>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Rounded Rectangle 2"/>
          <p:cNvSpPr/>
          <p:nvPr/>
        </p:nvSpPr>
        <p:spPr>
          <a:xfrm>
            <a:off x="393192" y="411480"/>
            <a:ext cx="109728" cy="640080"/>
          </a:xfrm>
          <a:prstGeom prst="roundRect">
            <a:avLst/>
          </a:prstGeom>
          <a:solidFill>
            <a:srgbClr val="33D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93192"/>
            <a:ext cx="23195280" cy="411480"/>
          </a:xfrm>
          <a:prstGeom prst="rect">
            <a:avLst/>
          </a:prstGeom>
          <a:noFill/>
        </p:spPr>
        <p:txBody>
          <a:bodyPr wrap="square">
            <a:spAutoFit/>
          </a:bodyPr>
          <a:lstStyle/>
          <a:p>
            <a:pPr algn="l">
              <a:spcAft>
                <a:spcPts val="800"/>
              </a:spcAft>
            </a:pPr>
            <a:r>
              <a:rPr sz="3100" b="1">
                <a:solidFill>
                  <a:srgbClr val="F4F9FD"/>
                </a:solidFill>
                <a:latin typeface="Aptos"/>
              </a:rPr>
              <a:t>DEMO C | SMART CCTV ANALYTICS</a:t>
            </a:r>
          </a:p>
        </p:txBody>
      </p:sp>
      <p:sp>
        <p:nvSpPr>
          <p:cNvPr id="5" name="TextBox 4"/>
          <p:cNvSpPr txBox="1"/>
          <p:nvPr/>
        </p:nvSpPr>
        <p:spPr>
          <a:xfrm>
            <a:off x="713232" y="914400"/>
            <a:ext cx="23103840" cy="274320"/>
          </a:xfrm>
          <a:prstGeom prst="rect">
            <a:avLst/>
          </a:prstGeom>
          <a:noFill/>
        </p:spPr>
        <p:txBody>
          <a:bodyPr wrap="square">
            <a:spAutoFit/>
          </a:bodyPr>
          <a:lstStyle/>
          <a:p>
            <a:pPr algn="l">
              <a:spcAft>
                <a:spcPts val="800"/>
              </a:spcAft>
            </a:pPr>
            <a:r>
              <a:rPr sz="1200" b="1">
                <a:solidFill>
                  <a:srgbClr val="33D6D2"/>
                </a:solidFill>
                <a:latin typeface="Aptos"/>
              </a:rPr>
              <a:t>PEOPLE COUNTING AND OCCUPANCY FLOW</a:t>
            </a:r>
          </a:p>
        </p:txBody>
      </p:sp>
      <p:sp>
        <p:nvSpPr>
          <p:cNvPr id="6" name="Rounded Rectangle 5"/>
          <p:cNvSpPr/>
          <p:nvPr/>
        </p:nvSpPr>
        <p:spPr>
          <a:xfrm>
            <a:off x="640080" y="1508760"/>
            <a:ext cx="5486400" cy="4572000"/>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508760"/>
            <a:ext cx="5486400" cy="502920"/>
          </a:xfrm>
          <a:prstGeom prst="roundRect">
            <a:avLst/>
          </a:prstGeom>
          <a:solidFill>
            <a:srgbClr val="947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00200"/>
            <a:ext cx="5120640" cy="256032"/>
          </a:xfrm>
          <a:prstGeom prst="rect">
            <a:avLst/>
          </a:prstGeom>
          <a:noFill/>
        </p:spPr>
        <p:txBody>
          <a:bodyPr wrap="square">
            <a:spAutoFit/>
          </a:bodyPr>
          <a:lstStyle/>
          <a:p>
            <a:pPr algn="l">
              <a:spcAft>
                <a:spcPts val="800"/>
              </a:spcAft>
            </a:pPr>
            <a:r>
              <a:rPr sz="1800" b="1">
                <a:solidFill>
                  <a:srgbClr val="F4F9FD"/>
                </a:solidFill>
                <a:latin typeface="Aptos"/>
              </a:rPr>
              <a:t>How the demo works</a:t>
            </a:r>
          </a:p>
        </p:txBody>
      </p:sp>
      <p:sp>
        <p:nvSpPr>
          <p:cNvPr id="9" name="TextBox 8"/>
          <p:cNvSpPr txBox="1"/>
          <p:nvPr/>
        </p:nvSpPr>
        <p:spPr>
          <a:xfrm>
            <a:off x="868680" y="2148840"/>
            <a:ext cx="1463040" cy="256032"/>
          </a:xfrm>
          <a:prstGeom prst="rect">
            <a:avLst/>
          </a:prstGeom>
          <a:noFill/>
        </p:spPr>
        <p:txBody>
          <a:bodyPr wrap="square">
            <a:spAutoFit/>
          </a:bodyPr>
          <a:lstStyle/>
          <a:p>
            <a:pPr algn="l">
              <a:spcAft>
                <a:spcPts val="800"/>
              </a:spcAft>
            </a:pPr>
            <a:r>
              <a:rPr sz="1500" b="1">
                <a:solidFill>
                  <a:srgbClr val="FFBE53"/>
                </a:solidFill>
                <a:latin typeface="Aptos"/>
              </a:rPr>
              <a:t>Input video</a:t>
            </a:r>
          </a:p>
        </p:txBody>
      </p:sp>
      <p:sp>
        <p:nvSpPr>
          <p:cNvPr id="10" name="TextBox 9"/>
          <p:cNvSpPr txBox="1"/>
          <p:nvPr/>
        </p:nvSpPr>
        <p:spPr>
          <a:xfrm>
            <a:off x="2240280" y="2130552"/>
            <a:ext cx="3657600" cy="594360"/>
          </a:xfrm>
          <a:prstGeom prst="rect">
            <a:avLst/>
          </a:prstGeom>
          <a:noFill/>
        </p:spPr>
        <p:txBody>
          <a:bodyPr wrap="square">
            <a:spAutoFit/>
          </a:bodyPr>
          <a:lstStyle/>
          <a:p>
            <a:pPr algn="l">
              <a:spcAft>
                <a:spcPts val="800"/>
              </a:spcAft>
            </a:pPr>
            <a:r>
              <a:rPr sz="1400" b="0">
                <a:solidFill>
                  <a:srgbClr val="F4F9FD"/>
                </a:solidFill>
                <a:latin typeface="Aptos"/>
              </a:rPr>
              <a:t>A hallway, gate, lobby, or public-area CCTV clip from a fixed camera.</a:t>
            </a:r>
          </a:p>
        </p:txBody>
      </p:sp>
      <p:sp>
        <p:nvSpPr>
          <p:cNvPr id="11" name="TextBox 10"/>
          <p:cNvSpPr txBox="1"/>
          <p:nvPr/>
        </p:nvSpPr>
        <p:spPr>
          <a:xfrm>
            <a:off x="868680" y="3017520"/>
            <a:ext cx="1463040" cy="256032"/>
          </a:xfrm>
          <a:prstGeom prst="rect">
            <a:avLst/>
          </a:prstGeom>
          <a:noFill/>
        </p:spPr>
        <p:txBody>
          <a:bodyPr wrap="square">
            <a:spAutoFit/>
          </a:bodyPr>
          <a:lstStyle/>
          <a:p>
            <a:pPr algn="l">
              <a:spcAft>
                <a:spcPts val="800"/>
              </a:spcAft>
            </a:pPr>
            <a:r>
              <a:rPr sz="1500" b="1">
                <a:solidFill>
                  <a:srgbClr val="FFBE53"/>
                </a:solidFill>
                <a:latin typeface="Aptos"/>
              </a:rPr>
              <a:t>What students observe</a:t>
            </a:r>
          </a:p>
        </p:txBody>
      </p:sp>
      <p:sp>
        <p:nvSpPr>
          <p:cNvPr id="12" name="TextBox 11"/>
          <p:cNvSpPr txBox="1"/>
          <p:nvPr/>
        </p:nvSpPr>
        <p:spPr>
          <a:xfrm>
            <a:off x="2240280" y="2999232"/>
            <a:ext cx="3657600" cy="594360"/>
          </a:xfrm>
          <a:prstGeom prst="rect">
            <a:avLst/>
          </a:prstGeom>
          <a:noFill/>
        </p:spPr>
        <p:txBody>
          <a:bodyPr wrap="square">
            <a:spAutoFit/>
          </a:bodyPr>
          <a:lstStyle/>
          <a:p>
            <a:pPr algn="l">
              <a:spcAft>
                <a:spcPts val="800"/>
              </a:spcAft>
            </a:pPr>
            <a:r>
              <a:rPr sz="1400" b="0">
                <a:solidFill>
                  <a:srgbClr val="F4F9FD"/>
                </a:solidFill>
                <a:latin typeface="Aptos"/>
              </a:rPr>
              <a:t>Pedestrian detection, ID tracking, entry/exit counting, and simple occupancy estimation.</a:t>
            </a:r>
          </a:p>
        </p:txBody>
      </p:sp>
      <p:sp>
        <p:nvSpPr>
          <p:cNvPr id="13" name="TextBox 12"/>
          <p:cNvSpPr txBox="1"/>
          <p:nvPr/>
        </p:nvSpPr>
        <p:spPr>
          <a:xfrm>
            <a:off x="868680" y="3886200"/>
            <a:ext cx="1463040" cy="256032"/>
          </a:xfrm>
          <a:prstGeom prst="rect">
            <a:avLst/>
          </a:prstGeom>
          <a:noFill/>
        </p:spPr>
        <p:txBody>
          <a:bodyPr wrap="square">
            <a:spAutoFit/>
          </a:bodyPr>
          <a:lstStyle/>
          <a:p>
            <a:pPr algn="l">
              <a:spcAft>
                <a:spcPts val="800"/>
              </a:spcAft>
            </a:pPr>
            <a:r>
              <a:rPr sz="1500" b="1">
                <a:solidFill>
                  <a:srgbClr val="FFBE53"/>
                </a:solidFill>
                <a:latin typeface="Aptos"/>
              </a:rPr>
              <a:t>Minimum open-source stack</a:t>
            </a:r>
          </a:p>
        </p:txBody>
      </p:sp>
      <p:sp>
        <p:nvSpPr>
          <p:cNvPr id="14" name="TextBox 13"/>
          <p:cNvSpPr txBox="1"/>
          <p:nvPr/>
        </p:nvSpPr>
        <p:spPr>
          <a:xfrm>
            <a:off x="2240280" y="3867912"/>
            <a:ext cx="3657600" cy="594360"/>
          </a:xfrm>
          <a:prstGeom prst="rect">
            <a:avLst/>
          </a:prstGeom>
          <a:noFill/>
        </p:spPr>
        <p:txBody>
          <a:bodyPr wrap="square">
            <a:spAutoFit/>
          </a:bodyPr>
          <a:lstStyle/>
          <a:p>
            <a:pPr algn="l">
              <a:spcAft>
                <a:spcPts val="800"/>
              </a:spcAft>
            </a:pPr>
            <a:r>
              <a:t>Classroom-tested: YOLO + ByteTrack with a virtual crossing line and event log.</a:t>
            </a:r>
          </a:p>
        </p:txBody>
      </p:sp>
      <p:sp>
        <p:nvSpPr>
          <p:cNvPr id="15" name="TextBox 14"/>
          <p:cNvSpPr txBox="1"/>
          <p:nvPr/>
        </p:nvSpPr>
        <p:spPr>
          <a:xfrm>
            <a:off x="868680" y="4754880"/>
            <a:ext cx="1463040" cy="256032"/>
          </a:xfrm>
          <a:prstGeom prst="rect">
            <a:avLst/>
          </a:prstGeom>
          <a:noFill/>
        </p:spPr>
        <p:txBody>
          <a:bodyPr wrap="square">
            <a:spAutoFit/>
          </a:bodyPr>
          <a:lstStyle/>
          <a:p>
            <a:pPr algn="l">
              <a:spcAft>
                <a:spcPts val="800"/>
              </a:spcAft>
            </a:pPr>
            <a:r>
              <a:rPr sz="1500" b="1">
                <a:solidFill>
                  <a:srgbClr val="FFBE53"/>
                </a:solidFill>
                <a:latin typeface="Aptos"/>
              </a:rPr>
              <a:t>Discussion prompt</a:t>
            </a:r>
          </a:p>
        </p:txBody>
      </p:sp>
      <p:sp>
        <p:nvSpPr>
          <p:cNvPr id="16" name="TextBox 15"/>
          <p:cNvSpPr txBox="1"/>
          <p:nvPr/>
        </p:nvSpPr>
        <p:spPr>
          <a:xfrm>
            <a:off x="2240280" y="4736592"/>
            <a:ext cx="3657600" cy="594360"/>
          </a:xfrm>
          <a:prstGeom prst="rect">
            <a:avLst/>
          </a:prstGeom>
          <a:noFill/>
        </p:spPr>
        <p:txBody>
          <a:bodyPr wrap="square">
            <a:spAutoFit/>
          </a:bodyPr>
          <a:lstStyle/>
          <a:p>
            <a:pPr algn="l">
              <a:spcAft>
                <a:spcPts val="800"/>
              </a:spcAft>
            </a:pPr>
            <a:r>
              <a:rPr sz="1400" b="0">
                <a:solidFill>
                  <a:srgbClr val="F4F9FD"/>
                </a:solidFill>
                <a:latin typeface="Aptos"/>
              </a:rPr>
              <a:t>How can we balance security benefits with privacy, consent, and responsible data usage?</a:t>
            </a:r>
          </a:p>
        </p:txBody>
      </p:sp>
      <p:sp>
        <p:nvSpPr>
          <p:cNvPr id="17" name="Rounded Rectangle 16"/>
          <p:cNvSpPr/>
          <p:nvPr/>
        </p:nvSpPr>
        <p:spPr>
          <a:xfrm>
            <a:off x="6355080" y="1508760"/>
            <a:ext cx="2148840" cy="4572000"/>
          </a:xfrm>
          <a:prstGeom prst="roundRect">
            <a:avLst/>
          </a:prstGeom>
          <a:solidFill>
            <a:srgbClr val="1C3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60" y="1691640"/>
            <a:ext cx="1828800" cy="228600"/>
          </a:xfrm>
          <a:prstGeom prst="rect">
            <a:avLst/>
          </a:prstGeom>
          <a:noFill/>
        </p:spPr>
        <p:txBody>
          <a:bodyPr wrap="square">
            <a:spAutoFit/>
          </a:bodyPr>
          <a:lstStyle/>
          <a:p>
            <a:pPr algn="l">
              <a:spcAft>
                <a:spcPts val="800"/>
              </a:spcAft>
            </a:pPr>
            <a:r>
              <a:rPr sz="1700" b="1">
                <a:solidFill>
                  <a:srgbClr val="F4F9FD"/>
                </a:solidFill>
                <a:latin typeface="Aptos"/>
              </a:rPr>
              <a:t>Student deliverables</a:t>
            </a:r>
          </a:p>
        </p:txBody>
      </p:sp>
      <p:sp>
        <p:nvSpPr>
          <p:cNvPr id="19" name="Rectangle 18"/>
          <p:cNvSpPr/>
          <p:nvPr/>
        </p:nvSpPr>
        <p:spPr>
          <a:xfrm>
            <a:off x="6537960" y="2240280"/>
            <a:ext cx="201168" cy="201168"/>
          </a:xfrm>
          <a:prstGeom prst="rect">
            <a:avLst/>
          </a:prstGeom>
          <a:solidFill>
            <a:srgbClr val="947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0" y="2212848"/>
            <a:ext cx="1325880" cy="256032"/>
          </a:xfrm>
          <a:prstGeom prst="rect">
            <a:avLst/>
          </a:prstGeom>
          <a:noFill/>
        </p:spPr>
        <p:txBody>
          <a:bodyPr wrap="square">
            <a:spAutoFit/>
          </a:bodyPr>
          <a:lstStyle/>
          <a:p>
            <a:pPr algn="l">
              <a:spcAft>
                <a:spcPts val="800"/>
              </a:spcAft>
            </a:pPr>
            <a:r>
              <a:rPr sz="1200" b="0">
                <a:solidFill>
                  <a:srgbClr val="F4F9FD"/>
                </a:solidFill>
                <a:latin typeface="Aptos"/>
              </a:rPr>
              <a:t>1 annotated output video</a:t>
            </a:r>
          </a:p>
        </p:txBody>
      </p:sp>
      <p:sp>
        <p:nvSpPr>
          <p:cNvPr id="21" name="Rectangle 20"/>
          <p:cNvSpPr/>
          <p:nvPr/>
        </p:nvSpPr>
        <p:spPr>
          <a:xfrm>
            <a:off x="6537960" y="2788920"/>
            <a:ext cx="201168" cy="201168"/>
          </a:xfrm>
          <a:prstGeom prst="rect">
            <a:avLst/>
          </a:prstGeom>
          <a:solidFill>
            <a:srgbClr val="947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0" y="2761488"/>
            <a:ext cx="1325880" cy="256032"/>
          </a:xfrm>
          <a:prstGeom prst="rect">
            <a:avLst/>
          </a:prstGeom>
          <a:noFill/>
        </p:spPr>
        <p:txBody>
          <a:bodyPr wrap="square">
            <a:spAutoFit/>
          </a:bodyPr>
          <a:lstStyle/>
          <a:p>
            <a:pPr algn="l">
              <a:spcAft>
                <a:spcPts val="800"/>
              </a:spcAft>
            </a:pPr>
            <a:r>
              <a:rPr sz="1200" b="0">
                <a:solidFill>
                  <a:srgbClr val="F4F9FD"/>
                </a:solidFill>
                <a:latin typeface="Aptos"/>
              </a:rPr>
              <a:t>1 screenshot of results</a:t>
            </a:r>
          </a:p>
        </p:txBody>
      </p:sp>
      <p:sp>
        <p:nvSpPr>
          <p:cNvPr id="23" name="Rectangle 22"/>
          <p:cNvSpPr/>
          <p:nvPr/>
        </p:nvSpPr>
        <p:spPr>
          <a:xfrm>
            <a:off x="6537960" y="3337560"/>
            <a:ext cx="201168" cy="201168"/>
          </a:xfrm>
          <a:prstGeom prst="rect">
            <a:avLst/>
          </a:prstGeom>
          <a:solidFill>
            <a:srgbClr val="947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0" y="3310128"/>
            <a:ext cx="1325880" cy="256032"/>
          </a:xfrm>
          <a:prstGeom prst="rect">
            <a:avLst/>
          </a:prstGeom>
          <a:noFill/>
        </p:spPr>
        <p:txBody>
          <a:bodyPr wrap="square">
            <a:spAutoFit/>
          </a:bodyPr>
          <a:lstStyle/>
          <a:p>
            <a:pPr algn="l">
              <a:spcAft>
                <a:spcPts val="800"/>
              </a:spcAft>
            </a:pPr>
            <a:r>
              <a:rPr sz="1200" b="0">
                <a:solidFill>
                  <a:srgbClr val="F4F9FD"/>
                </a:solidFill>
                <a:latin typeface="Aptos"/>
              </a:rPr>
              <a:t>1 short explanation of errors</a:t>
            </a:r>
          </a:p>
        </p:txBody>
      </p:sp>
      <p:sp>
        <p:nvSpPr>
          <p:cNvPr id="25" name="Rectangle 24"/>
          <p:cNvSpPr/>
          <p:nvPr/>
        </p:nvSpPr>
        <p:spPr>
          <a:xfrm>
            <a:off x="6537960" y="3886200"/>
            <a:ext cx="201168" cy="201168"/>
          </a:xfrm>
          <a:prstGeom prst="rect">
            <a:avLst/>
          </a:prstGeom>
          <a:solidFill>
            <a:srgbClr val="947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0" y="3858768"/>
            <a:ext cx="1325880" cy="256032"/>
          </a:xfrm>
          <a:prstGeom prst="rect">
            <a:avLst/>
          </a:prstGeom>
          <a:noFill/>
        </p:spPr>
        <p:txBody>
          <a:bodyPr wrap="square">
            <a:spAutoFit/>
          </a:bodyPr>
          <a:lstStyle/>
          <a:p>
            <a:pPr algn="l">
              <a:spcAft>
                <a:spcPts val="800"/>
              </a:spcAft>
            </a:pPr>
            <a:r>
              <a:rPr sz="1200" b="0">
                <a:solidFill>
                  <a:srgbClr val="F4F9FD"/>
                </a:solidFill>
                <a:latin typeface="Aptos"/>
              </a:rPr>
              <a:t>1 idea for improvement</a:t>
            </a:r>
          </a:p>
        </p:txBody>
      </p:sp>
      <p:sp>
        <p:nvSpPr>
          <p:cNvPr id="27" name="Rectangle 26"/>
          <p:cNvSpPr/>
          <p:nvPr/>
        </p:nvSpPr>
        <p:spPr>
          <a:xfrm>
            <a:off x="6537960" y="4434840"/>
            <a:ext cx="201168" cy="201168"/>
          </a:xfrm>
          <a:prstGeom prst="rect">
            <a:avLst/>
          </a:prstGeom>
          <a:solidFill>
            <a:srgbClr val="947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0" y="4407407"/>
            <a:ext cx="1325880" cy="256032"/>
          </a:xfrm>
          <a:prstGeom prst="rect">
            <a:avLst/>
          </a:prstGeom>
          <a:noFill/>
        </p:spPr>
        <p:txBody>
          <a:bodyPr wrap="square">
            <a:spAutoFit/>
          </a:bodyPr>
          <a:lstStyle/>
          <a:p>
            <a:pPr algn="l">
              <a:spcAft>
                <a:spcPts val="800"/>
              </a:spcAft>
            </a:pPr>
            <a:r>
              <a:rPr sz="1200" b="0">
                <a:solidFill>
                  <a:srgbClr val="F4F9FD"/>
                </a:solidFill>
                <a:latin typeface="Aptos"/>
              </a:rPr>
              <a:t>1 ethics note</a:t>
            </a:r>
          </a:p>
        </p:txBody>
      </p:sp>
      <p:sp>
        <p:nvSpPr>
          <p:cNvPr id="29" name="TextBox 28"/>
          <p:cNvSpPr txBox="1"/>
          <p:nvPr/>
        </p:nvSpPr>
        <p:spPr>
          <a:xfrm>
            <a:off x="6537960" y="5257800"/>
            <a:ext cx="1783080" cy="502920"/>
          </a:xfrm>
          <a:prstGeom prst="rect">
            <a:avLst/>
          </a:prstGeom>
          <a:noFill/>
        </p:spPr>
        <p:txBody>
          <a:bodyPr wrap="square">
            <a:spAutoFit/>
          </a:bodyPr>
          <a:lstStyle/>
          <a:p>
            <a:pPr algn="l">
              <a:spcAft>
                <a:spcPts val="800"/>
              </a:spcAft>
            </a:pPr>
            <a:r>
              <a:rPr sz="1200" b="0">
                <a:solidFill>
                  <a:srgbClr val="B9CEDC"/>
                </a:solidFill>
                <a:latin typeface="Aptos"/>
              </a:rPr>
              <a:t>Suggested class flow:</a:t>
            </a:r>
          </a:p>
          <a:p>
            <a:pPr algn="l">
              <a:spcAft>
                <a:spcPts val="800"/>
              </a:spcAft>
            </a:pPr>
            <a:r>
              <a:rPr sz="1200" b="0">
                <a:solidFill>
                  <a:srgbClr val="B9CEDC"/>
                </a:solidFill>
                <a:latin typeface="Aptos"/>
              </a:rPr>
              <a:t>run demo → inspect errors → discuss improvements</a:t>
            </a:r>
          </a:p>
        </p:txBody>
      </p:sp>
      <p:sp>
        <p:nvSpPr>
          <p:cNvPr id="30" name="TextBox 29"/>
          <p:cNvSpPr txBox="1"/>
          <p:nvPr/>
        </p:nvSpPr>
        <p:spPr>
          <a:xfrm>
            <a:off x="713232" y="13240512"/>
            <a:ext cx="23103840" cy="292608"/>
          </a:xfrm>
          <a:prstGeom prst="rect">
            <a:avLst/>
          </a:prstGeom>
          <a:noFill/>
        </p:spPr>
        <p:txBody>
          <a:bodyPr wrap="square">
            <a:spAutoFit/>
          </a:bodyPr>
          <a:lstStyle/>
          <a:p>
            <a:pPr algn="l">
              <a:spcAft>
                <a:spcPts val="800"/>
              </a:spcAft>
            </a:pPr>
            <a:r>
              <a:rPr sz="1000" b="0">
                <a:solidFill>
                  <a:srgbClr val="B9CEDC"/>
                </a:solidFill>
                <a:latin typeface="Aptos"/>
              </a:rPr>
              <a:t>This is the most relatable scenario because students can imagine campus, mall, and office environments.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6E60B-7DE7-9308-412B-246D8E00A70F}"/>
              </a:ext>
            </a:extLst>
          </p:cNvPr>
          <p:cNvSpPr>
            <a:spLocks noGrp="1"/>
          </p:cNvSpPr>
          <p:nvPr>
            <p:ph type="title"/>
          </p:nvPr>
        </p:nvSpPr>
        <p:spPr/>
        <p:txBody>
          <a:bodyPr>
            <a:normAutofit fontScale="90000"/>
          </a:bodyPr>
          <a:lstStyle/>
          <a:p>
            <a:r>
              <a:rPr lang="en-US" dirty="0"/>
              <a:t>Video-based 3d data inference</a:t>
            </a:r>
          </a:p>
        </p:txBody>
      </p:sp>
      <p:sp>
        <p:nvSpPr>
          <p:cNvPr id="3" name="Text Placeholder 2">
            <a:extLst>
              <a:ext uri="{FF2B5EF4-FFF2-40B4-BE49-F238E27FC236}">
                <a16:creationId xmlns:a16="http://schemas.microsoft.com/office/drawing/2014/main" id="{FD73B2DE-9721-70D0-2D26-5D72EF6C30E7}"/>
              </a:ext>
            </a:extLst>
          </p:cNvPr>
          <p:cNvSpPr>
            <a:spLocks noGrp="1"/>
          </p:cNvSpPr>
          <p:nvPr>
            <p:ph type="body" sz="quarter" idx="10"/>
          </p:nvPr>
        </p:nvSpPr>
        <p:spPr/>
        <p:txBody>
          <a:bodyPr/>
          <a:lstStyle/>
          <a:p>
            <a:r>
              <a:rPr lang="en-US" dirty="0"/>
              <a:t>definition</a:t>
            </a:r>
          </a:p>
        </p:txBody>
      </p:sp>
      <p:sp>
        <p:nvSpPr>
          <p:cNvPr id="4" name="Content Placeholder 3">
            <a:extLst>
              <a:ext uri="{FF2B5EF4-FFF2-40B4-BE49-F238E27FC236}">
                <a16:creationId xmlns:a16="http://schemas.microsoft.com/office/drawing/2014/main" id="{31FDE6A3-A7C7-3FDE-D075-C97B365DA8F0}"/>
              </a:ext>
            </a:extLst>
          </p:cNvPr>
          <p:cNvSpPr>
            <a:spLocks noGrp="1"/>
          </p:cNvSpPr>
          <p:nvPr>
            <p:ph sz="quarter" idx="11"/>
          </p:nvPr>
        </p:nvSpPr>
        <p:spPr>
          <a:xfrm>
            <a:off x="2167376" y="3714223"/>
            <a:ext cx="20052543" cy="9183629"/>
          </a:xfrm>
        </p:spPr>
        <p:txBody>
          <a:bodyPr>
            <a:normAutofit/>
          </a:bodyPr>
          <a:lstStyle/>
          <a:p>
            <a:r>
              <a:rPr lang="en-US" dirty="0"/>
              <a:t>Video-based 3D data inference refers to the process of using video footage to derive three-dimensional information about objects, scenes, or environments captured in the video.</a:t>
            </a:r>
          </a:p>
          <a:p>
            <a:r>
              <a:rPr lang="en-US" dirty="0"/>
              <a:t>There are some tasks which are the key aspect of it:</a:t>
            </a:r>
          </a:p>
          <a:p>
            <a:pPr lvl="1">
              <a:buFont typeface="Wingdings" pitchFamily="2" charset="2"/>
              <a:buChar char="Ø"/>
            </a:pPr>
            <a:r>
              <a:rPr lang="en-US" b="1" dirty="0"/>
              <a:t>3D Scene Understanding: </a:t>
            </a:r>
            <a:r>
              <a:rPr lang="en-US" dirty="0"/>
              <a:t>Interpreting the 3D structure of a scene to understand the spatial relationships between objects, the layout of the environment, and the context within which actions occur.</a:t>
            </a:r>
          </a:p>
          <a:p>
            <a:pPr lvl="1">
              <a:buFont typeface="Wingdings" pitchFamily="2" charset="2"/>
              <a:buChar char="Ø"/>
            </a:pPr>
            <a:r>
              <a:rPr lang="en-US" b="1" dirty="0"/>
              <a:t>3D Reconstruction: </a:t>
            </a:r>
            <a:r>
              <a:rPr lang="en-US" dirty="0"/>
              <a:t>Transforming 2D video frames into a 3D model of the environment or objects.</a:t>
            </a:r>
          </a:p>
        </p:txBody>
      </p:sp>
    </p:spTree>
    <p:extLst>
      <p:ext uri="{BB962C8B-B14F-4D97-AF65-F5344CB8AC3E}">
        <p14:creationId xmlns:p14="http://schemas.microsoft.com/office/powerpoint/2010/main" val="754581230"/>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6E60B-7DE7-9308-412B-246D8E00A70F}"/>
              </a:ext>
            </a:extLst>
          </p:cNvPr>
          <p:cNvSpPr>
            <a:spLocks noGrp="1"/>
          </p:cNvSpPr>
          <p:nvPr>
            <p:ph type="title"/>
          </p:nvPr>
        </p:nvSpPr>
        <p:spPr/>
        <p:txBody>
          <a:bodyPr>
            <a:normAutofit fontScale="90000"/>
          </a:bodyPr>
          <a:lstStyle/>
          <a:p>
            <a:r>
              <a:rPr lang="en-US" dirty="0"/>
              <a:t>Video-based 3d data inference</a:t>
            </a:r>
          </a:p>
        </p:txBody>
      </p:sp>
      <p:sp>
        <p:nvSpPr>
          <p:cNvPr id="3" name="Text Placeholder 2">
            <a:extLst>
              <a:ext uri="{FF2B5EF4-FFF2-40B4-BE49-F238E27FC236}">
                <a16:creationId xmlns:a16="http://schemas.microsoft.com/office/drawing/2014/main" id="{FD73B2DE-9721-70D0-2D26-5D72EF6C30E7}"/>
              </a:ext>
            </a:extLst>
          </p:cNvPr>
          <p:cNvSpPr>
            <a:spLocks noGrp="1"/>
          </p:cNvSpPr>
          <p:nvPr>
            <p:ph type="body" sz="quarter" idx="10"/>
          </p:nvPr>
        </p:nvSpPr>
        <p:spPr/>
        <p:txBody>
          <a:bodyPr/>
          <a:lstStyle/>
          <a:p>
            <a:r>
              <a:t>3D Reconstruction from Video: Neuralangelo (2023) as a research milestone</a:t>
            </a:r>
          </a:p>
        </p:txBody>
      </p:sp>
      <p:pic>
        <p:nvPicPr>
          <p:cNvPr id="5" name="Online Media 4" descr="Digital Renaissance: Neuralangelo by NVIDIA Research Reconstructs 3D Scenes from 2D Video Clips">
            <a:hlinkClick r:id="" action="ppaction://media"/>
            <a:extLst>
              <a:ext uri="{FF2B5EF4-FFF2-40B4-BE49-F238E27FC236}">
                <a16:creationId xmlns:a16="http://schemas.microsoft.com/office/drawing/2014/main" id="{B373C388-2049-1A6D-C552-392F312CA78C}"/>
              </a:ext>
            </a:extLst>
          </p:cNvPr>
          <p:cNvPicPr>
            <a:picLocks noGrp="1" noRot="1" noChangeAspect="1"/>
          </p:cNvPicPr>
          <p:nvPr>
            <p:ph sz="quarter" idx="11"/>
            <a:videoFile r:link="rId1"/>
          </p:nvPr>
        </p:nvPicPr>
        <p:blipFill>
          <a:blip r:embed="rId3"/>
          <a:stretch>
            <a:fillRect/>
          </a:stretch>
        </p:blipFill>
        <p:spPr>
          <a:xfrm>
            <a:off x="2167377" y="3271901"/>
            <a:ext cx="19889735" cy="9183688"/>
          </a:xfrm>
          <a:prstGeom prst="rect">
            <a:avLst/>
          </a:prstGeom>
        </p:spPr>
      </p:pic>
      <p:sp>
        <p:nvSpPr>
          <p:cNvPr id="6" name="TextBox 5">
            <a:extLst>
              <a:ext uri="{FF2B5EF4-FFF2-40B4-BE49-F238E27FC236}">
                <a16:creationId xmlns:a16="http://schemas.microsoft.com/office/drawing/2014/main" id="{B35E2FCA-7F87-F4AF-84BC-8E849CEB4857}"/>
              </a:ext>
            </a:extLst>
          </p:cNvPr>
          <p:cNvSpPr txBox="1"/>
          <p:nvPr/>
        </p:nvSpPr>
        <p:spPr>
          <a:xfrm>
            <a:off x="5643732" y="12615726"/>
            <a:ext cx="13096535"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5E5E5E"/>
                </a:solidFill>
                <a:effectLst/>
                <a:uFillTx/>
                <a:latin typeface="+mn-lt"/>
                <a:ea typeface="+mn-ea"/>
                <a:cs typeface="+mn-cs"/>
                <a:sym typeface="Helvetica Neue"/>
              </a:rPr>
              <a:t>More info: Li et al (2023). </a:t>
            </a:r>
            <a:r>
              <a:rPr kumimoji="0" lang="en-US" sz="2400" b="0" i="0" u="none" strike="noStrike" cap="none" spc="0" normalizeH="0" baseline="0" dirty="0" err="1">
                <a:ln>
                  <a:noFill/>
                </a:ln>
                <a:solidFill>
                  <a:srgbClr val="5E5E5E"/>
                </a:solidFill>
                <a:effectLst/>
                <a:uFillTx/>
                <a:latin typeface="+mn-lt"/>
                <a:ea typeface="+mn-ea"/>
                <a:cs typeface="+mn-cs"/>
                <a:sym typeface="Helvetica Neue"/>
              </a:rPr>
              <a:t>Neuralangelo</a:t>
            </a:r>
            <a:r>
              <a:rPr kumimoji="0" lang="en-US" sz="2400" b="0" i="0" u="none" strike="noStrike" cap="none" spc="0" normalizeH="0" baseline="0" dirty="0">
                <a:ln>
                  <a:noFill/>
                </a:ln>
                <a:solidFill>
                  <a:srgbClr val="5E5E5E"/>
                </a:solidFill>
                <a:effectLst/>
                <a:uFillTx/>
                <a:latin typeface="+mn-lt"/>
                <a:ea typeface="+mn-ea"/>
                <a:cs typeface="+mn-cs"/>
                <a:sym typeface="Helvetica Neue"/>
              </a:rPr>
              <a:t>. </a:t>
            </a:r>
            <a:r>
              <a:rPr kumimoji="0" lang="en-US" sz="2400" b="0" i="0" u="none" strike="noStrike" cap="none" spc="0" normalizeH="0" baseline="0" dirty="0">
                <a:ln>
                  <a:noFill/>
                </a:ln>
                <a:solidFill>
                  <a:srgbClr val="5E5E5E"/>
                </a:solidFill>
                <a:effectLst/>
                <a:uFillTx/>
                <a:latin typeface="+mn-lt"/>
                <a:ea typeface="+mn-ea"/>
                <a:cs typeface="+mn-cs"/>
                <a:sym typeface="Helvetica Neue"/>
                <a:hlinkClick r:id="rId4"/>
              </a:rPr>
              <a:t>https://research.nvidia.com/labs/dir/neuralangelo/</a:t>
            </a:r>
            <a:r>
              <a:rPr kumimoji="0" lang="en-US" sz="2400" b="0" i="0" u="none" strike="noStrike" cap="none" spc="0" normalizeH="0" baseline="0" dirty="0">
                <a:ln>
                  <a:noFill/>
                </a:ln>
                <a:solidFill>
                  <a:srgbClr val="5E5E5E"/>
                </a:solidFill>
                <a:effectLst/>
                <a:uFillTx/>
                <a:latin typeface="+mn-lt"/>
                <a:ea typeface="+mn-ea"/>
                <a:cs typeface="+mn-cs"/>
                <a:sym typeface="Helvetica Neue"/>
              </a:rPr>
              <a:t> </a:t>
            </a:r>
          </a:p>
        </p:txBody>
      </p:sp>
    </p:spTree>
    <p:extLst>
      <p:ext uri="{BB962C8B-B14F-4D97-AF65-F5344CB8AC3E}">
        <p14:creationId xmlns:p14="http://schemas.microsoft.com/office/powerpoint/2010/main" val="52836200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82C"/>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Rounded Rectangle 2"/>
          <p:cNvSpPr/>
          <p:nvPr/>
        </p:nvSpPr>
        <p:spPr>
          <a:xfrm>
            <a:off x="393192" y="411480"/>
            <a:ext cx="109728" cy="640080"/>
          </a:xfrm>
          <a:prstGeom prst="roundRect">
            <a:avLst/>
          </a:prstGeom>
          <a:solidFill>
            <a:srgbClr val="33D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93192"/>
            <a:ext cx="23195280" cy="411480"/>
          </a:xfrm>
          <a:prstGeom prst="rect">
            <a:avLst/>
          </a:prstGeom>
          <a:noFill/>
        </p:spPr>
        <p:txBody>
          <a:bodyPr wrap="square">
            <a:spAutoFit/>
          </a:bodyPr>
          <a:lstStyle/>
          <a:p>
            <a:pPr>
              <a:spcAft>
                <a:spcPts val="1200"/>
              </a:spcAft>
            </a:pPr>
            <a:r>
              <a:rPr sz="3100" b="1">
                <a:solidFill>
                  <a:srgbClr val="F4F9FD"/>
                </a:solidFill>
                <a:latin typeface="Aptos"/>
              </a:rPr>
              <a:t>LAB 3 | Motion vs 3D Reconstruction</a:t>
            </a:r>
          </a:p>
        </p:txBody>
      </p:sp>
      <p:sp>
        <p:nvSpPr>
          <p:cNvPr id="5" name="TextBox 4"/>
          <p:cNvSpPr txBox="1"/>
          <p:nvPr/>
        </p:nvSpPr>
        <p:spPr>
          <a:xfrm>
            <a:off x="713232" y="914400"/>
            <a:ext cx="23103840" cy="274320"/>
          </a:xfrm>
          <a:prstGeom prst="rect">
            <a:avLst/>
          </a:prstGeom>
          <a:noFill/>
        </p:spPr>
        <p:txBody>
          <a:bodyPr wrap="square">
            <a:spAutoFit/>
          </a:bodyPr>
          <a:lstStyle/>
          <a:p>
            <a:pPr>
              <a:spcAft>
                <a:spcPts val="1200"/>
              </a:spcAft>
            </a:pPr>
            <a:r>
              <a:rPr sz="1200" b="1">
                <a:solidFill>
                  <a:srgbClr val="33D6D2"/>
                </a:solidFill>
                <a:latin typeface="Aptos"/>
              </a:rPr>
              <a:t>GOOGLE COLAB · 3D REASONING</a:t>
            </a:r>
          </a:p>
        </p:txBody>
      </p:sp>
      <p:sp>
        <p:nvSpPr>
          <p:cNvPr id="6" name="Rounded Rectangle 5"/>
          <p:cNvSpPr/>
          <p:nvPr/>
        </p:nvSpPr>
        <p:spPr>
          <a:xfrm>
            <a:off x="640080" y="1481328"/>
            <a:ext cx="23103840" cy="3745992"/>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72768"/>
            <a:ext cx="22555200" cy="320040"/>
          </a:xfrm>
          <a:prstGeom prst="rect">
            <a:avLst/>
          </a:prstGeom>
          <a:noFill/>
        </p:spPr>
        <p:txBody>
          <a:bodyPr wrap="square">
            <a:spAutoFit/>
          </a:bodyPr>
          <a:lstStyle/>
          <a:p>
            <a:pPr>
              <a:spcAft>
                <a:spcPts val="1200"/>
              </a:spcAft>
            </a:pPr>
            <a:r>
              <a:rPr sz="1900" b="1">
                <a:solidFill>
                  <a:srgbClr val="FFBE53"/>
                </a:solidFill>
                <a:latin typeface="Aptos"/>
              </a:rPr>
              <a:t>Try optical flow</a:t>
            </a:r>
          </a:p>
        </p:txBody>
      </p:sp>
      <p:sp>
        <p:nvSpPr>
          <p:cNvPr id="8" name="TextBox 7"/>
          <p:cNvSpPr txBox="1"/>
          <p:nvPr/>
        </p:nvSpPr>
        <p:spPr>
          <a:xfrm>
            <a:off x="868680" y="1965960"/>
            <a:ext cx="22555200" cy="3215640"/>
          </a:xfrm>
          <a:prstGeom prst="rect">
            <a:avLst/>
          </a:prstGeom>
          <a:noFill/>
        </p:spPr>
        <p:txBody>
          <a:bodyPr wrap="square">
            <a:spAutoFit/>
          </a:bodyPr>
          <a:lstStyle/>
          <a:p>
            <a:pPr>
              <a:spcAft>
                <a:spcPts val="1200"/>
              </a:spcAft>
            </a:pPr>
            <a:r>
              <a:rPr sz="1600" b="0">
                <a:solidFill>
                  <a:srgbClr val="F4F9FD"/>
                </a:solidFill>
                <a:latin typeface="Aptos"/>
              </a:rPr>
              <a:t>Plot apparent motion vectors across consecutive frames.</a:t>
            </a:r>
          </a:p>
        </p:txBody>
      </p:sp>
      <p:sp>
        <p:nvSpPr>
          <p:cNvPr id="9" name="Rounded Rectangle 8"/>
          <p:cNvSpPr/>
          <p:nvPr/>
        </p:nvSpPr>
        <p:spPr>
          <a:xfrm>
            <a:off x="640080" y="5391912"/>
            <a:ext cx="23103840" cy="3745992"/>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5483351"/>
            <a:ext cx="22555200" cy="320040"/>
          </a:xfrm>
          <a:prstGeom prst="rect">
            <a:avLst/>
          </a:prstGeom>
          <a:noFill/>
        </p:spPr>
        <p:txBody>
          <a:bodyPr wrap="square">
            <a:spAutoFit/>
          </a:bodyPr>
          <a:lstStyle/>
          <a:p>
            <a:pPr>
              <a:spcAft>
                <a:spcPts val="1200"/>
              </a:spcAft>
            </a:pPr>
            <a:r>
              <a:rPr sz="1900" b="1">
                <a:solidFill>
                  <a:srgbClr val="FFBE53"/>
                </a:solidFill>
                <a:latin typeface="Aptos"/>
              </a:rPr>
              <a:t>Understand the limitation</a:t>
            </a:r>
          </a:p>
        </p:txBody>
      </p:sp>
      <p:sp>
        <p:nvSpPr>
          <p:cNvPr id="11" name="TextBox 10"/>
          <p:cNvSpPr txBox="1"/>
          <p:nvPr/>
        </p:nvSpPr>
        <p:spPr>
          <a:xfrm>
            <a:off x="868680" y="5876544"/>
            <a:ext cx="22555200" cy="3215640"/>
          </a:xfrm>
          <a:prstGeom prst="rect">
            <a:avLst/>
          </a:prstGeom>
          <a:noFill/>
        </p:spPr>
        <p:txBody>
          <a:bodyPr wrap="square">
            <a:spAutoFit/>
          </a:bodyPr>
          <a:lstStyle/>
          <a:p>
            <a:pPr>
              <a:spcAft>
                <a:spcPts val="1200"/>
              </a:spcAft>
            </a:pPr>
            <a:r>
              <a:rPr sz="1600" b="0">
                <a:solidFill>
                  <a:srgbClr val="F4F9FD"/>
                </a:solidFill>
                <a:latin typeface="Aptos"/>
              </a:rPr>
              <a:t>Optical flow measures image motion; it does not directly provide metric 3D depth.</a:t>
            </a:r>
          </a:p>
        </p:txBody>
      </p:sp>
      <p:sp>
        <p:nvSpPr>
          <p:cNvPr id="12" name="Rounded Rectangle 11"/>
          <p:cNvSpPr/>
          <p:nvPr/>
        </p:nvSpPr>
        <p:spPr>
          <a:xfrm>
            <a:off x="640080" y="9302495"/>
            <a:ext cx="23103840" cy="3745992"/>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9393935"/>
            <a:ext cx="22555200" cy="320040"/>
          </a:xfrm>
          <a:prstGeom prst="rect">
            <a:avLst/>
          </a:prstGeom>
          <a:noFill/>
        </p:spPr>
        <p:txBody>
          <a:bodyPr wrap="square">
            <a:spAutoFit/>
          </a:bodyPr>
          <a:lstStyle/>
          <a:p>
            <a:pPr>
              <a:spcAft>
                <a:spcPts val="1200"/>
              </a:spcAft>
            </a:pPr>
            <a:r>
              <a:rPr sz="1900" b="1">
                <a:solidFill>
                  <a:srgbClr val="FFBE53"/>
                </a:solidFill>
                <a:latin typeface="Aptos"/>
              </a:rPr>
              <a:t>Explore modern approaches</a:t>
            </a:r>
          </a:p>
        </p:txBody>
      </p:sp>
      <p:sp>
        <p:nvSpPr>
          <p:cNvPr id="14" name="TextBox 13"/>
          <p:cNvSpPr txBox="1"/>
          <p:nvPr/>
        </p:nvSpPr>
        <p:spPr>
          <a:xfrm>
            <a:off x="868680" y="9787127"/>
            <a:ext cx="22555200" cy="3215640"/>
          </a:xfrm>
          <a:prstGeom prst="rect">
            <a:avLst/>
          </a:prstGeom>
          <a:noFill/>
        </p:spPr>
        <p:txBody>
          <a:bodyPr wrap="square">
            <a:spAutoFit/>
          </a:bodyPr>
          <a:lstStyle/>
          <a:p>
            <a:pPr>
              <a:spcAft>
                <a:spcPts val="1200"/>
              </a:spcAft>
            </a:pPr>
            <a:r>
              <a:rPr sz="1600" b="0">
                <a:solidFill>
                  <a:srgbClr val="F4F9FD"/>
                </a:solidFill>
                <a:latin typeface="Aptos"/>
              </a:rPr>
              <a:t>Multi-view geometry / SfM, monocular depth, NeRF and 3D Gaussian Splatting.</a:t>
            </a:r>
          </a:p>
        </p:txBody>
      </p:sp>
      <p:sp>
        <p:nvSpPr>
          <p:cNvPr id="15" name="TextBox 14"/>
          <p:cNvSpPr txBox="1"/>
          <p:nvPr/>
        </p:nvSpPr>
        <p:spPr>
          <a:xfrm>
            <a:off x="713232" y="13277088"/>
            <a:ext cx="23103840" cy="292608"/>
          </a:xfrm>
          <a:prstGeom prst="rect">
            <a:avLst/>
          </a:prstGeom>
          <a:noFill/>
        </p:spPr>
        <p:txBody>
          <a:bodyPr wrap="square">
            <a:spAutoFit/>
          </a:bodyPr>
          <a:lstStyle/>
          <a:p>
            <a:pPr>
              <a:spcAft>
                <a:spcPts val="1200"/>
              </a:spcAft>
            </a:pPr>
            <a:r>
              <a:rPr sz="1000" b="0">
                <a:solidFill>
                  <a:srgbClr val="B9CEDC"/>
                </a:solidFill>
                <a:latin typeface="Aptos"/>
              </a:rPr>
              <a:t>Challenge: Which additional observations help recover depth?</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6E60B-7DE7-9308-412B-246D8E00A70F}"/>
              </a:ext>
            </a:extLst>
          </p:cNvPr>
          <p:cNvSpPr>
            <a:spLocks noGrp="1"/>
          </p:cNvSpPr>
          <p:nvPr>
            <p:ph type="title"/>
          </p:nvPr>
        </p:nvSpPr>
        <p:spPr/>
        <p:txBody>
          <a:bodyPr>
            <a:normAutofit fontScale="90000"/>
          </a:bodyPr>
          <a:lstStyle/>
          <a:p>
            <a:r>
              <a:rPr lang="en-US" dirty="0"/>
              <a:t>Video restoration</a:t>
            </a:r>
          </a:p>
        </p:txBody>
      </p:sp>
      <p:sp>
        <p:nvSpPr>
          <p:cNvPr id="3" name="Text Placeholder 2">
            <a:extLst>
              <a:ext uri="{FF2B5EF4-FFF2-40B4-BE49-F238E27FC236}">
                <a16:creationId xmlns:a16="http://schemas.microsoft.com/office/drawing/2014/main" id="{FD73B2DE-9721-70D0-2D26-5D72EF6C30E7}"/>
              </a:ext>
            </a:extLst>
          </p:cNvPr>
          <p:cNvSpPr>
            <a:spLocks noGrp="1"/>
          </p:cNvSpPr>
          <p:nvPr>
            <p:ph type="body" sz="quarter" idx="10"/>
          </p:nvPr>
        </p:nvSpPr>
        <p:spPr/>
        <p:txBody>
          <a:bodyPr/>
          <a:lstStyle/>
          <a:p>
            <a:r>
              <a:rPr lang="en-US" dirty="0"/>
              <a:t>definition</a:t>
            </a:r>
          </a:p>
        </p:txBody>
      </p:sp>
      <p:sp>
        <p:nvSpPr>
          <p:cNvPr id="4" name="Content Placeholder 3">
            <a:extLst>
              <a:ext uri="{FF2B5EF4-FFF2-40B4-BE49-F238E27FC236}">
                <a16:creationId xmlns:a16="http://schemas.microsoft.com/office/drawing/2014/main" id="{31FDE6A3-A7C7-3FDE-D075-C97B365DA8F0}"/>
              </a:ext>
            </a:extLst>
          </p:cNvPr>
          <p:cNvSpPr>
            <a:spLocks noGrp="1"/>
          </p:cNvSpPr>
          <p:nvPr>
            <p:ph sz="quarter" idx="11"/>
          </p:nvPr>
        </p:nvSpPr>
        <p:spPr>
          <a:xfrm>
            <a:off x="2167376" y="3714223"/>
            <a:ext cx="20052543" cy="9183629"/>
          </a:xfrm>
        </p:spPr>
        <p:txBody>
          <a:bodyPr>
            <a:normAutofit/>
          </a:bodyPr>
          <a:lstStyle/>
          <a:p>
            <a:r>
              <a:t>Video restoration involves improving the quality of old, damaged, or degraded video footage. </a:t>
            </a:r>
          </a:p>
          <a:p>
            <a:r>
              <a:t>This process can include removing noise, correcting colors, repairing damaged frames, and enhancing overall clarity and sharpness. </a:t>
            </a:r>
          </a:p>
          <a:p>
            <a:r>
              <a:t>Video restoration can be applied to historical footage, damaged recordings, or any video that requires quality enhancement. </a:t>
            </a:r>
          </a:p>
          <a:p>
            <a:r>
              <a:t>Software examples:</a:t>
            </a:r>
          </a:p>
          <a:p>
            <a:r>
              <a:t>Examples: Adobe Premiere Pro / DaVinci Resolve Studio (commercial features vary). Free lab: Python + OpenCV.</a:t>
            </a:r>
          </a:p>
        </p:txBody>
      </p:sp>
    </p:spTree>
    <p:extLst>
      <p:ext uri="{BB962C8B-B14F-4D97-AF65-F5344CB8AC3E}">
        <p14:creationId xmlns:p14="http://schemas.microsoft.com/office/powerpoint/2010/main" val="3025200268"/>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6E60B-7DE7-9308-412B-246D8E00A70F}"/>
              </a:ext>
            </a:extLst>
          </p:cNvPr>
          <p:cNvSpPr>
            <a:spLocks noGrp="1"/>
          </p:cNvSpPr>
          <p:nvPr>
            <p:ph type="title"/>
          </p:nvPr>
        </p:nvSpPr>
        <p:spPr/>
        <p:txBody>
          <a:bodyPr>
            <a:normAutofit fontScale="90000"/>
          </a:bodyPr>
          <a:lstStyle/>
          <a:p>
            <a:r>
              <a:rPr lang="en-US" dirty="0"/>
              <a:t>Video restoration</a:t>
            </a:r>
          </a:p>
        </p:txBody>
      </p:sp>
      <p:sp>
        <p:nvSpPr>
          <p:cNvPr id="3" name="Text Placeholder 2">
            <a:extLst>
              <a:ext uri="{FF2B5EF4-FFF2-40B4-BE49-F238E27FC236}">
                <a16:creationId xmlns:a16="http://schemas.microsoft.com/office/drawing/2014/main" id="{FD73B2DE-9721-70D0-2D26-5D72EF6C30E7}"/>
              </a:ext>
            </a:extLst>
          </p:cNvPr>
          <p:cNvSpPr>
            <a:spLocks noGrp="1"/>
          </p:cNvSpPr>
          <p:nvPr>
            <p:ph type="body" sz="quarter" idx="10"/>
          </p:nvPr>
        </p:nvSpPr>
        <p:spPr/>
        <p:txBody>
          <a:bodyPr/>
          <a:lstStyle/>
          <a:p>
            <a:r>
              <a:t>Historical commercial example: Topaz Video AI. In Colab: denoising, contrast and sharpening with OpenCV.</a:t>
            </a:r>
          </a:p>
        </p:txBody>
      </p:sp>
      <p:pic>
        <p:nvPicPr>
          <p:cNvPr id="5" name="Online Media 4" descr="AI Video Enhancement is Getting SCARY Good: Topaz Labs Video AI">
            <a:hlinkClick r:id="" action="ppaction://media"/>
            <a:extLst>
              <a:ext uri="{FF2B5EF4-FFF2-40B4-BE49-F238E27FC236}">
                <a16:creationId xmlns:a16="http://schemas.microsoft.com/office/drawing/2014/main" id="{61B755C4-25A5-F62B-5EDF-172CDFCDF194}"/>
              </a:ext>
            </a:extLst>
          </p:cNvPr>
          <p:cNvPicPr>
            <a:picLocks noGrp="1" noRot="1" noChangeAspect="1"/>
          </p:cNvPicPr>
          <p:nvPr>
            <p:ph sz="quarter" idx="11"/>
            <a:videoFile r:link="rId1"/>
          </p:nvPr>
        </p:nvPicPr>
        <p:blipFill>
          <a:blip r:embed="rId3"/>
          <a:stretch>
            <a:fillRect/>
          </a:stretch>
        </p:blipFill>
        <p:spPr>
          <a:xfrm>
            <a:off x="2167377" y="3260663"/>
            <a:ext cx="20045852" cy="9183688"/>
          </a:xfrm>
          <a:prstGeom prst="rect">
            <a:avLst/>
          </a:prstGeom>
        </p:spPr>
      </p:pic>
    </p:spTree>
    <p:extLst>
      <p:ext uri="{BB962C8B-B14F-4D97-AF65-F5344CB8AC3E}">
        <p14:creationId xmlns:p14="http://schemas.microsoft.com/office/powerpoint/2010/main" val="422473535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82C"/>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Rounded Rectangle 2"/>
          <p:cNvSpPr/>
          <p:nvPr/>
        </p:nvSpPr>
        <p:spPr>
          <a:xfrm>
            <a:off x="393192" y="411480"/>
            <a:ext cx="109728" cy="640080"/>
          </a:xfrm>
          <a:prstGeom prst="roundRect">
            <a:avLst/>
          </a:prstGeom>
          <a:solidFill>
            <a:srgbClr val="33D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93192"/>
            <a:ext cx="23195280" cy="411480"/>
          </a:xfrm>
          <a:prstGeom prst="rect">
            <a:avLst/>
          </a:prstGeom>
          <a:noFill/>
        </p:spPr>
        <p:txBody>
          <a:bodyPr wrap="square">
            <a:spAutoFit/>
          </a:bodyPr>
          <a:lstStyle/>
          <a:p>
            <a:pPr>
              <a:spcAft>
                <a:spcPts val="1200"/>
              </a:spcAft>
            </a:pPr>
            <a:r>
              <a:rPr sz="3100" b="1">
                <a:solidFill>
                  <a:srgbClr val="F4F9FD"/>
                </a:solidFill>
                <a:latin typeface="Aptos"/>
              </a:rPr>
              <a:t>LAB 4 | Restore a Degraded Video</a:t>
            </a:r>
          </a:p>
        </p:txBody>
      </p:sp>
      <p:sp>
        <p:nvSpPr>
          <p:cNvPr id="5" name="TextBox 4"/>
          <p:cNvSpPr txBox="1"/>
          <p:nvPr/>
        </p:nvSpPr>
        <p:spPr>
          <a:xfrm>
            <a:off x="713232" y="914400"/>
            <a:ext cx="23103840" cy="274320"/>
          </a:xfrm>
          <a:prstGeom prst="rect">
            <a:avLst/>
          </a:prstGeom>
          <a:noFill/>
        </p:spPr>
        <p:txBody>
          <a:bodyPr wrap="square">
            <a:spAutoFit/>
          </a:bodyPr>
          <a:lstStyle/>
          <a:p>
            <a:pPr>
              <a:spcAft>
                <a:spcPts val="1200"/>
              </a:spcAft>
            </a:pPr>
            <a:r>
              <a:rPr sz="1200" b="1">
                <a:solidFill>
                  <a:srgbClr val="33D6D2"/>
                </a:solidFill>
                <a:latin typeface="Aptos"/>
              </a:rPr>
              <a:t>GOOGLE COLAB · OPENCV</a:t>
            </a:r>
          </a:p>
        </p:txBody>
      </p:sp>
      <p:sp>
        <p:nvSpPr>
          <p:cNvPr id="6" name="Rounded Rectangle 5"/>
          <p:cNvSpPr/>
          <p:nvPr/>
        </p:nvSpPr>
        <p:spPr>
          <a:xfrm>
            <a:off x="640080" y="1481328"/>
            <a:ext cx="23103840" cy="3745992"/>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72768"/>
            <a:ext cx="22555200" cy="320040"/>
          </a:xfrm>
          <a:prstGeom prst="rect">
            <a:avLst/>
          </a:prstGeom>
          <a:noFill/>
        </p:spPr>
        <p:txBody>
          <a:bodyPr wrap="square">
            <a:spAutoFit/>
          </a:bodyPr>
          <a:lstStyle/>
          <a:p>
            <a:pPr>
              <a:spcAft>
                <a:spcPts val="1200"/>
              </a:spcAft>
            </a:pPr>
            <a:r>
              <a:rPr sz="1900" b="1">
                <a:solidFill>
                  <a:srgbClr val="FFBE53"/>
                </a:solidFill>
                <a:latin typeface="Aptos"/>
              </a:rPr>
              <a:t>Create a test</a:t>
            </a:r>
          </a:p>
        </p:txBody>
      </p:sp>
      <p:sp>
        <p:nvSpPr>
          <p:cNvPr id="8" name="TextBox 7"/>
          <p:cNvSpPr txBox="1"/>
          <p:nvPr/>
        </p:nvSpPr>
        <p:spPr>
          <a:xfrm>
            <a:off x="868680" y="1965960"/>
            <a:ext cx="22555200" cy="3215640"/>
          </a:xfrm>
          <a:prstGeom prst="rect">
            <a:avLst/>
          </a:prstGeom>
          <a:noFill/>
        </p:spPr>
        <p:txBody>
          <a:bodyPr wrap="square">
            <a:spAutoFit/>
          </a:bodyPr>
          <a:lstStyle/>
          <a:p>
            <a:pPr>
              <a:spcAft>
                <a:spcPts val="1200"/>
              </a:spcAft>
            </a:pPr>
            <a:r>
              <a:rPr sz="1600" b="0">
                <a:solidFill>
                  <a:srgbClr val="F4F9FD"/>
                </a:solidFill>
                <a:latin typeface="Aptos"/>
              </a:rPr>
              <a:t>Add image noise, reduced brightness and blur to frames.</a:t>
            </a:r>
          </a:p>
        </p:txBody>
      </p:sp>
      <p:sp>
        <p:nvSpPr>
          <p:cNvPr id="9" name="Rounded Rectangle 8"/>
          <p:cNvSpPr/>
          <p:nvPr/>
        </p:nvSpPr>
        <p:spPr>
          <a:xfrm>
            <a:off x="640080" y="5391912"/>
            <a:ext cx="23103840" cy="3745992"/>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5483351"/>
            <a:ext cx="22555200" cy="320040"/>
          </a:xfrm>
          <a:prstGeom prst="rect">
            <a:avLst/>
          </a:prstGeom>
          <a:noFill/>
        </p:spPr>
        <p:txBody>
          <a:bodyPr wrap="square">
            <a:spAutoFit/>
          </a:bodyPr>
          <a:lstStyle/>
          <a:p>
            <a:pPr>
              <a:spcAft>
                <a:spcPts val="1200"/>
              </a:spcAft>
            </a:pPr>
            <a:r>
              <a:rPr sz="1900" b="1">
                <a:solidFill>
                  <a:srgbClr val="FFBE53"/>
                </a:solidFill>
                <a:latin typeface="Aptos"/>
              </a:rPr>
              <a:t>Improve</a:t>
            </a:r>
          </a:p>
        </p:txBody>
      </p:sp>
      <p:sp>
        <p:nvSpPr>
          <p:cNvPr id="11" name="TextBox 10"/>
          <p:cNvSpPr txBox="1"/>
          <p:nvPr/>
        </p:nvSpPr>
        <p:spPr>
          <a:xfrm>
            <a:off x="868680" y="5876544"/>
            <a:ext cx="22555200" cy="3215640"/>
          </a:xfrm>
          <a:prstGeom prst="rect">
            <a:avLst/>
          </a:prstGeom>
          <a:noFill/>
        </p:spPr>
        <p:txBody>
          <a:bodyPr wrap="square">
            <a:spAutoFit/>
          </a:bodyPr>
          <a:lstStyle/>
          <a:p>
            <a:pPr>
              <a:spcAft>
                <a:spcPts val="1200"/>
              </a:spcAft>
            </a:pPr>
            <a:r>
              <a:rPr sz="1600" b="0">
                <a:solidFill>
                  <a:srgbClr val="F4F9FD"/>
                </a:solidFill>
                <a:latin typeface="Aptos"/>
              </a:rPr>
              <a:t>Apply denoising, contrast adjustment and controlled sharpening.</a:t>
            </a:r>
          </a:p>
        </p:txBody>
      </p:sp>
      <p:sp>
        <p:nvSpPr>
          <p:cNvPr id="12" name="Rounded Rectangle 11"/>
          <p:cNvSpPr/>
          <p:nvPr/>
        </p:nvSpPr>
        <p:spPr>
          <a:xfrm>
            <a:off x="640080" y="9302495"/>
            <a:ext cx="23103840" cy="3745992"/>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9393935"/>
            <a:ext cx="22555200" cy="320040"/>
          </a:xfrm>
          <a:prstGeom prst="rect">
            <a:avLst/>
          </a:prstGeom>
          <a:noFill/>
        </p:spPr>
        <p:txBody>
          <a:bodyPr wrap="square">
            <a:spAutoFit/>
          </a:bodyPr>
          <a:lstStyle/>
          <a:p>
            <a:pPr>
              <a:spcAft>
                <a:spcPts val="1200"/>
              </a:spcAft>
            </a:pPr>
            <a:r>
              <a:rPr sz="1900" b="1">
                <a:solidFill>
                  <a:srgbClr val="FFBE53"/>
                </a:solidFill>
                <a:latin typeface="Aptos"/>
              </a:rPr>
              <a:t>Evaluate</a:t>
            </a:r>
          </a:p>
        </p:txBody>
      </p:sp>
      <p:sp>
        <p:nvSpPr>
          <p:cNvPr id="14" name="TextBox 13"/>
          <p:cNvSpPr txBox="1"/>
          <p:nvPr/>
        </p:nvSpPr>
        <p:spPr>
          <a:xfrm>
            <a:off x="868680" y="9787127"/>
            <a:ext cx="22555200" cy="3215640"/>
          </a:xfrm>
          <a:prstGeom prst="rect">
            <a:avLst/>
          </a:prstGeom>
          <a:noFill/>
        </p:spPr>
        <p:txBody>
          <a:bodyPr wrap="square">
            <a:spAutoFit/>
          </a:bodyPr>
          <a:lstStyle/>
          <a:p>
            <a:pPr>
              <a:spcAft>
                <a:spcPts val="1200"/>
              </a:spcAft>
            </a:pPr>
            <a:r>
              <a:rPr sz="1600" b="0">
                <a:solidFill>
                  <a:srgbClr val="F4F9FD"/>
                </a:solidFill>
                <a:latin typeface="Aptos"/>
              </a:rPr>
              <a:t>Compare before/after and identify artifacts. Sharper is not always more accurate.</a:t>
            </a:r>
          </a:p>
        </p:txBody>
      </p:sp>
      <p:sp>
        <p:nvSpPr>
          <p:cNvPr id="15" name="TextBox 14"/>
          <p:cNvSpPr txBox="1"/>
          <p:nvPr/>
        </p:nvSpPr>
        <p:spPr>
          <a:xfrm>
            <a:off x="713232" y="13277088"/>
            <a:ext cx="23103840" cy="292608"/>
          </a:xfrm>
          <a:prstGeom prst="rect">
            <a:avLst/>
          </a:prstGeom>
          <a:noFill/>
        </p:spPr>
        <p:txBody>
          <a:bodyPr wrap="square">
            <a:spAutoFit/>
          </a:bodyPr>
          <a:lstStyle/>
          <a:p>
            <a:pPr>
              <a:spcAft>
                <a:spcPts val="1200"/>
              </a:spcAft>
            </a:pPr>
            <a:r>
              <a:rPr sz="1000" b="0">
                <a:solidFill>
                  <a:srgbClr val="B9CEDC"/>
                </a:solidFill>
                <a:latin typeface="Aptos"/>
              </a:rPr>
              <a:t>No paid video editor required · OpenCV + NumPy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6E60B-7DE7-9308-412B-246D8E00A70F}"/>
              </a:ext>
            </a:extLst>
          </p:cNvPr>
          <p:cNvSpPr>
            <a:spLocks noGrp="1"/>
          </p:cNvSpPr>
          <p:nvPr>
            <p:ph type="title"/>
          </p:nvPr>
        </p:nvSpPr>
        <p:spPr/>
        <p:txBody>
          <a:bodyPr>
            <a:normAutofit fontScale="90000"/>
          </a:bodyPr>
          <a:lstStyle/>
          <a:p>
            <a:r>
              <a:rPr lang="en-US" dirty="0"/>
              <a:t>Video generation</a:t>
            </a:r>
          </a:p>
        </p:txBody>
      </p:sp>
      <p:sp>
        <p:nvSpPr>
          <p:cNvPr id="3" name="Text Placeholder 2">
            <a:extLst>
              <a:ext uri="{FF2B5EF4-FFF2-40B4-BE49-F238E27FC236}">
                <a16:creationId xmlns:a16="http://schemas.microsoft.com/office/drawing/2014/main" id="{FD73B2DE-9721-70D0-2D26-5D72EF6C30E7}"/>
              </a:ext>
            </a:extLst>
          </p:cNvPr>
          <p:cNvSpPr>
            <a:spLocks noGrp="1"/>
          </p:cNvSpPr>
          <p:nvPr>
            <p:ph type="body" sz="quarter" idx="10"/>
          </p:nvPr>
        </p:nvSpPr>
        <p:spPr/>
        <p:txBody>
          <a:bodyPr/>
          <a:lstStyle/>
          <a:p>
            <a:r>
              <a:rPr lang="en-US" dirty="0"/>
              <a:t>Definition &amp; examples</a:t>
            </a:r>
          </a:p>
        </p:txBody>
      </p:sp>
      <p:pic>
        <p:nvPicPr>
          <p:cNvPr id="5" name="m2-res_854p">
            <a:hlinkClick r:id="" action="ppaction://media"/>
            <a:extLst>
              <a:ext uri="{FF2B5EF4-FFF2-40B4-BE49-F238E27FC236}">
                <a16:creationId xmlns:a16="http://schemas.microsoft.com/office/drawing/2014/main" id="{A87DDABB-FAF1-78AF-D431-50FCF4540A51}"/>
              </a:ext>
            </a:extLst>
          </p:cNvPr>
          <p:cNvPicPr>
            <a:picLocks noGrp="1" noChangeAspect="1"/>
          </p:cNvPicPr>
          <p:nvPr>
            <p:ph sz="quarter" idx="11"/>
            <a:videoFile r:link="rId2"/>
            <p:extLst>
              <p:ext uri="{DAA4B4D4-6D71-4841-9C94-3DE7FCFB9230}">
                <p14:media xmlns:p14="http://schemas.microsoft.com/office/powerpoint/2010/main" r:embed="rId1"/>
              </p:ext>
            </p:extLst>
          </p:nvPr>
        </p:nvPicPr>
        <p:blipFill rotWithShape="1">
          <a:blip r:embed="rId5"/>
          <a:srcRect t="20252" b="13494"/>
          <a:stretch/>
        </p:blipFill>
        <p:spPr>
          <a:xfrm>
            <a:off x="13615244" y="2382339"/>
            <a:ext cx="9073327" cy="10692799"/>
          </a:xfrm>
        </p:spPr>
      </p:pic>
      <p:sp>
        <p:nvSpPr>
          <p:cNvPr id="6" name="TextBox 5">
            <a:extLst>
              <a:ext uri="{FF2B5EF4-FFF2-40B4-BE49-F238E27FC236}">
                <a16:creationId xmlns:a16="http://schemas.microsoft.com/office/drawing/2014/main" id="{64268053-5A92-0B67-2887-47CBF0FF31F3}"/>
              </a:ext>
            </a:extLst>
          </p:cNvPr>
          <p:cNvSpPr txBox="1"/>
          <p:nvPr/>
        </p:nvSpPr>
        <p:spPr>
          <a:xfrm>
            <a:off x="2167377" y="3223274"/>
            <a:ext cx="10975919" cy="853567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342900" marR="0" indent="-342900" algn="l" defTabSz="2438338" rtl="0" fontAlgn="auto" latinLnBrk="0" hangingPunct="0">
              <a:spcBef>
                <a:spcPts val="600"/>
              </a:spcBef>
              <a:spcAft>
                <a:spcPts val="0"/>
              </a:spcAft>
              <a:buClrTx/>
              <a:buSzTx/>
              <a:buFont typeface="Arial" panose="020B0604020202020204" pitchFamily="34" charset="0"/>
              <a:buChar char="•"/>
              <a:tabLst/>
            </a:pPr>
            <a:r>
              <a:rPr kumimoji="0" lang="en-US" sz="4400" b="0" i="0" u="none" strike="noStrike" cap="none" spc="0" normalizeH="0" baseline="0" dirty="0">
                <a:ln>
                  <a:noFill/>
                </a:ln>
                <a:solidFill>
                  <a:schemeClr val="bg2">
                    <a:lumMod val="10000"/>
                  </a:schemeClr>
                </a:solidFill>
                <a:effectLst/>
                <a:uFillTx/>
                <a:latin typeface="+mn-lt"/>
                <a:ea typeface="+mn-ea"/>
                <a:cs typeface="+mn-cs"/>
                <a:sym typeface="Helvetica Neue"/>
              </a:rPr>
              <a:t>Video generation is a program to generate video automatically using text or image as input.</a:t>
            </a:r>
          </a:p>
          <a:p>
            <a:pPr marL="342900" marR="0" indent="-342900" algn="l" defTabSz="2438338" rtl="0" fontAlgn="auto" latinLnBrk="0" hangingPunct="0">
              <a:spcBef>
                <a:spcPts val="600"/>
              </a:spcBef>
              <a:spcAft>
                <a:spcPts val="0"/>
              </a:spcAft>
              <a:buClrTx/>
              <a:buSzTx/>
              <a:buFont typeface="Arial" panose="020B0604020202020204" pitchFamily="34" charset="0"/>
              <a:buChar char="•"/>
              <a:tabLst/>
            </a:pPr>
            <a:r>
              <a:rPr lang="en-US" sz="4400" dirty="0">
                <a:solidFill>
                  <a:schemeClr val="bg2">
                    <a:lumMod val="10000"/>
                  </a:schemeClr>
                </a:solidFill>
              </a:rPr>
              <a:t>Here, we have a joke video comparison</a:t>
            </a:r>
            <a:endParaRPr kumimoji="0" lang="en-US" sz="4400" b="0" i="0" u="none" strike="noStrike" cap="none" spc="0" normalizeH="0" baseline="0" dirty="0">
              <a:ln>
                <a:noFill/>
              </a:ln>
              <a:solidFill>
                <a:schemeClr val="bg2">
                  <a:lumMod val="10000"/>
                </a:schemeClr>
              </a:solidFill>
              <a:effectLst/>
              <a:uFillTx/>
              <a:latin typeface="+mn-lt"/>
              <a:ea typeface="+mn-ea"/>
              <a:cs typeface="+mn-cs"/>
              <a:sym typeface="Helvetica Neue"/>
            </a:endParaRPr>
          </a:p>
          <a:p>
            <a:pPr marL="342900" marR="0" indent="-342900" algn="l" defTabSz="2438338" rtl="0" fontAlgn="auto" latinLnBrk="0" hangingPunct="0">
              <a:spcBef>
                <a:spcPts val="600"/>
              </a:spcBef>
              <a:spcAft>
                <a:spcPts val="0"/>
              </a:spcAft>
              <a:buClrTx/>
              <a:buSzTx/>
              <a:buFont typeface="Arial" panose="020B0604020202020204" pitchFamily="34" charset="0"/>
              <a:buChar char="•"/>
              <a:tabLst/>
            </a:pPr>
            <a:r>
              <a:rPr kumimoji="0" lang="en-US" sz="4400" b="0" i="0" u="none" strike="noStrike" cap="none" spc="0" normalizeH="0" baseline="0" dirty="0">
                <a:ln>
                  <a:noFill/>
                </a:ln>
                <a:solidFill>
                  <a:schemeClr val="bg2">
                    <a:lumMod val="10000"/>
                  </a:schemeClr>
                </a:solidFill>
                <a:effectLst/>
                <a:uFillTx/>
                <a:latin typeface="+mn-lt"/>
                <a:ea typeface="+mn-ea"/>
                <a:cs typeface="+mn-cs"/>
                <a:sym typeface="Helvetica Neue"/>
              </a:rPr>
              <a:t>The first video is made using </a:t>
            </a:r>
            <a:r>
              <a:rPr kumimoji="0" lang="en-US" sz="4400" b="1" i="0" u="none" strike="noStrike" cap="none" spc="0" normalizeH="0" baseline="0" dirty="0" err="1">
                <a:ln>
                  <a:noFill/>
                </a:ln>
                <a:solidFill>
                  <a:schemeClr val="bg2">
                    <a:lumMod val="10000"/>
                  </a:schemeClr>
                </a:solidFill>
                <a:effectLst/>
                <a:uFillTx/>
                <a:latin typeface="+mn-lt"/>
                <a:ea typeface="+mn-ea"/>
                <a:cs typeface="+mn-cs"/>
                <a:sym typeface="Helvetica Neue"/>
              </a:rPr>
              <a:t>ModelSpace</a:t>
            </a:r>
            <a:r>
              <a:rPr kumimoji="0" lang="en-US" sz="4400" b="0" i="0" u="none" strike="noStrike" cap="none" spc="0" normalizeH="0" baseline="0" dirty="0">
                <a:ln>
                  <a:noFill/>
                </a:ln>
                <a:solidFill>
                  <a:schemeClr val="bg2">
                    <a:lumMod val="10000"/>
                  </a:schemeClr>
                </a:solidFill>
                <a:effectLst/>
                <a:uFillTx/>
                <a:latin typeface="+mn-lt"/>
                <a:ea typeface="+mn-ea"/>
                <a:cs typeface="+mn-cs"/>
                <a:sym typeface="Helvetica Neue"/>
              </a:rPr>
              <a:t>: </a:t>
            </a:r>
            <a:r>
              <a:rPr kumimoji="0" lang="en-US" sz="4400" b="0" i="0" u="none" strike="noStrike" cap="none" spc="0" normalizeH="0" baseline="0" dirty="0">
                <a:ln>
                  <a:noFill/>
                </a:ln>
                <a:solidFill>
                  <a:schemeClr val="bg2">
                    <a:lumMod val="10000"/>
                  </a:schemeClr>
                </a:solidFill>
                <a:effectLst/>
                <a:uFillTx/>
                <a:latin typeface="+mn-lt"/>
                <a:ea typeface="+mn-ea"/>
                <a:cs typeface="+mn-cs"/>
                <a:sym typeface="Helvetica Neue"/>
                <a:hlinkClick r:id="rId6">
                  <a:extLst>
                    <a:ext uri="{A12FA001-AC4F-418D-AE19-62706E023703}">
                      <ahyp:hlinkClr xmlns:ahyp="http://schemas.microsoft.com/office/drawing/2018/hyperlinkcolor" val="tx"/>
                    </a:ext>
                  </a:extLst>
                </a:hlinkClick>
              </a:rPr>
              <a:t>https://huggingface.co/spaces/ali-vilab/modelscope-text-to-video-synthesis</a:t>
            </a:r>
            <a:r>
              <a:rPr kumimoji="0" lang="en-US" sz="4400" b="0" i="0" u="none" strike="noStrike" cap="none" spc="0" normalizeH="0" baseline="0" dirty="0">
                <a:ln>
                  <a:noFill/>
                </a:ln>
                <a:solidFill>
                  <a:schemeClr val="bg2">
                    <a:lumMod val="10000"/>
                  </a:schemeClr>
                </a:solidFill>
                <a:effectLst/>
                <a:uFillTx/>
                <a:latin typeface="+mn-lt"/>
                <a:ea typeface="+mn-ea"/>
                <a:cs typeface="+mn-cs"/>
                <a:sym typeface="Helvetica Neue"/>
              </a:rPr>
              <a:t> (</a:t>
            </a:r>
            <a:r>
              <a:rPr kumimoji="0" lang="en-US" sz="4400" b="1" i="0" u="none" strike="noStrike" cap="none" spc="0" normalizeH="0" baseline="0" dirty="0">
                <a:ln>
                  <a:noFill/>
                </a:ln>
                <a:solidFill>
                  <a:schemeClr val="bg2">
                    <a:lumMod val="10000"/>
                  </a:schemeClr>
                </a:solidFill>
                <a:effectLst/>
                <a:uFillTx/>
                <a:latin typeface="+mn-lt"/>
                <a:ea typeface="+mn-ea"/>
                <a:cs typeface="+mn-cs"/>
                <a:sym typeface="Helvetica Neue"/>
              </a:rPr>
              <a:t>You can try inputting “Will smith eating spaghetti</a:t>
            </a:r>
            <a:r>
              <a:rPr kumimoji="0" lang="en-US" sz="4400" b="0" i="0" u="none" strike="noStrike" cap="none" spc="0" normalizeH="0" baseline="0" dirty="0">
                <a:ln>
                  <a:noFill/>
                </a:ln>
                <a:solidFill>
                  <a:schemeClr val="bg2">
                    <a:lumMod val="10000"/>
                  </a:schemeClr>
                </a:solidFill>
                <a:effectLst/>
                <a:uFillTx/>
                <a:latin typeface="+mn-lt"/>
                <a:ea typeface="+mn-ea"/>
                <a:cs typeface="+mn-cs"/>
                <a:sym typeface="Helvetica Neue"/>
              </a:rPr>
              <a:t>)</a:t>
            </a:r>
          </a:p>
          <a:p>
            <a:pPr marL="342900" marR="0" indent="-342900" algn="l" defTabSz="2438338" rtl="0" fontAlgn="auto" latinLnBrk="0" hangingPunct="0">
              <a:spcBef>
                <a:spcPts val="600"/>
              </a:spcBef>
              <a:spcAft>
                <a:spcPts val="0"/>
              </a:spcAft>
              <a:buClrTx/>
              <a:buSzTx/>
              <a:buFont typeface="Arial" panose="020B0604020202020204" pitchFamily="34" charset="0"/>
              <a:buChar char="•"/>
              <a:tabLst/>
            </a:pPr>
            <a:r>
              <a:rPr lang="en-US" sz="4400" dirty="0">
                <a:solidFill>
                  <a:schemeClr val="bg2">
                    <a:lumMod val="10000"/>
                  </a:schemeClr>
                </a:solidFill>
              </a:rPr>
              <a:t>Meanwhile the second one is made using </a:t>
            </a:r>
            <a:r>
              <a:rPr lang="en-US" sz="4400" b="1" dirty="0">
                <a:solidFill>
                  <a:schemeClr val="bg2">
                    <a:lumMod val="10000"/>
                  </a:schemeClr>
                </a:solidFill>
              </a:rPr>
              <a:t>Sora</a:t>
            </a:r>
            <a:r>
              <a:rPr lang="en-US" sz="4400" dirty="0">
                <a:solidFill>
                  <a:schemeClr val="bg2">
                    <a:lumMod val="10000"/>
                  </a:schemeClr>
                </a:solidFill>
              </a:rPr>
              <a:t> by </a:t>
            </a:r>
            <a:r>
              <a:rPr lang="en-US" sz="4400" dirty="0" err="1">
                <a:solidFill>
                  <a:schemeClr val="bg2">
                    <a:lumMod val="10000"/>
                  </a:schemeClr>
                </a:solidFill>
              </a:rPr>
              <a:t>OpenAI</a:t>
            </a:r>
            <a:r>
              <a:rPr lang="en-US" sz="4400" dirty="0">
                <a:solidFill>
                  <a:schemeClr val="bg2">
                    <a:lumMod val="10000"/>
                  </a:schemeClr>
                </a:solidFill>
              </a:rPr>
              <a:t>.</a:t>
            </a:r>
          </a:p>
        </p:txBody>
      </p:sp>
    </p:spTree>
    <p:extLst>
      <p:ext uri="{BB962C8B-B14F-4D97-AF65-F5344CB8AC3E}">
        <p14:creationId xmlns:p14="http://schemas.microsoft.com/office/powerpoint/2010/main" val="100928742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563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643C8-9AE8-BE12-98C0-06482C56A175}"/>
              </a:ext>
            </a:extLst>
          </p:cNvPr>
          <p:cNvSpPr>
            <a:spLocks noGrp="1"/>
          </p:cNvSpPr>
          <p:nvPr>
            <p:ph type="title"/>
          </p:nvPr>
        </p:nvSpPr>
        <p:spPr/>
        <p:txBody>
          <a:bodyPr>
            <a:normAutofit fontScale="90000"/>
          </a:bodyPr>
          <a:lstStyle/>
          <a:p>
            <a:r>
              <a:rPr lang="en-US" dirty="0"/>
              <a:t>Video Generation</a:t>
            </a:r>
          </a:p>
        </p:txBody>
      </p:sp>
      <p:sp>
        <p:nvSpPr>
          <p:cNvPr id="3" name="Text Placeholder 2">
            <a:extLst>
              <a:ext uri="{FF2B5EF4-FFF2-40B4-BE49-F238E27FC236}">
                <a16:creationId xmlns:a16="http://schemas.microsoft.com/office/drawing/2014/main" id="{CB3D5A13-3F34-FE58-1B89-05F69B762DCA}"/>
              </a:ext>
            </a:extLst>
          </p:cNvPr>
          <p:cNvSpPr>
            <a:spLocks noGrp="1"/>
          </p:cNvSpPr>
          <p:nvPr>
            <p:ph type="body" sz="quarter" idx="10"/>
          </p:nvPr>
        </p:nvSpPr>
        <p:spPr/>
        <p:txBody>
          <a:bodyPr/>
          <a:lstStyle/>
          <a:p>
            <a:r>
              <a:t>Historical comparison (2023–2024): Runway Gen-2 vs Sora. These are NOT current product benchmarks.</a:t>
            </a:r>
          </a:p>
        </p:txBody>
      </p:sp>
      <p:pic>
        <p:nvPicPr>
          <p:cNvPr id="5" name="Online Media 4" descr="Sora VS Runway Gen-2 | Will Smith Eating Noodles Video - Text to Video 2024">
            <a:hlinkClick r:id="" action="ppaction://media"/>
            <a:extLst>
              <a:ext uri="{FF2B5EF4-FFF2-40B4-BE49-F238E27FC236}">
                <a16:creationId xmlns:a16="http://schemas.microsoft.com/office/drawing/2014/main" id="{CF868755-D49A-0E9F-4E11-A46DA4466367}"/>
              </a:ext>
            </a:extLst>
          </p:cNvPr>
          <p:cNvPicPr>
            <a:picLocks noGrp="1" noRot="1" noChangeAspect="1"/>
          </p:cNvPicPr>
          <p:nvPr>
            <p:ph sz="quarter" idx="11"/>
            <a:videoFile r:link="rId1"/>
          </p:nvPr>
        </p:nvPicPr>
        <p:blipFill>
          <a:blip r:embed="rId3"/>
          <a:stretch>
            <a:fillRect/>
          </a:stretch>
        </p:blipFill>
        <p:spPr>
          <a:xfrm>
            <a:off x="2167377" y="3714750"/>
            <a:ext cx="19879823" cy="8705850"/>
          </a:xfrm>
          <a:prstGeom prst="rect">
            <a:avLst/>
          </a:prstGeom>
        </p:spPr>
      </p:pic>
    </p:spTree>
    <p:extLst>
      <p:ext uri="{BB962C8B-B14F-4D97-AF65-F5344CB8AC3E}">
        <p14:creationId xmlns:p14="http://schemas.microsoft.com/office/powerpoint/2010/main" val="277764685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D06F8-6993-7C2B-12CB-B488B015E4CE}"/>
              </a:ext>
            </a:extLst>
          </p:cNvPr>
          <p:cNvSpPr>
            <a:spLocks noGrp="1"/>
          </p:cNvSpPr>
          <p:nvPr>
            <p:ph type="title"/>
          </p:nvPr>
        </p:nvSpPr>
        <p:spPr/>
        <p:txBody>
          <a:bodyPr>
            <a:normAutofit fontScale="90000"/>
          </a:bodyPr>
          <a:lstStyle/>
          <a:p>
            <a:r>
              <a:rPr lang="en-US" dirty="0"/>
              <a:t>Video generation</a:t>
            </a:r>
          </a:p>
        </p:txBody>
      </p:sp>
      <p:sp>
        <p:nvSpPr>
          <p:cNvPr id="3" name="Text Placeholder 2">
            <a:extLst>
              <a:ext uri="{FF2B5EF4-FFF2-40B4-BE49-F238E27FC236}">
                <a16:creationId xmlns:a16="http://schemas.microsoft.com/office/drawing/2014/main" id="{6E586435-36EE-3143-2275-EEECD00D9495}"/>
              </a:ext>
            </a:extLst>
          </p:cNvPr>
          <p:cNvSpPr>
            <a:spLocks noGrp="1"/>
          </p:cNvSpPr>
          <p:nvPr>
            <p:ph type="body" sz="quarter" idx="10"/>
          </p:nvPr>
        </p:nvSpPr>
        <p:spPr/>
        <p:txBody>
          <a:bodyPr/>
          <a:lstStyle/>
          <a:p>
            <a:r>
              <a:t>Sora video example (historical). Product discontinued April 26, 2026.</a:t>
            </a:r>
          </a:p>
        </p:txBody>
      </p:sp>
      <p:pic>
        <p:nvPicPr>
          <p:cNvPr id="5" name="Online Media 4" descr="Introducing Sora — OpenAI’s text-to-video model">
            <a:hlinkClick r:id="" action="ppaction://media"/>
            <a:extLst>
              <a:ext uri="{FF2B5EF4-FFF2-40B4-BE49-F238E27FC236}">
                <a16:creationId xmlns:a16="http://schemas.microsoft.com/office/drawing/2014/main" id="{0D28C178-22D6-6A23-0FC7-0195416A31D5}"/>
              </a:ext>
            </a:extLst>
          </p:cNvPr>
          <p:cNvPicPr>
            <a:picLocks noGrp="1" noRot="1" noChangeAspect="1"/>
          </p:cNvPicPr>
          <p:nvPr>
            <p:ph sz="quarter" idx="11"/>
            <a:videoFile r:link="rId1"/>
          </p:nvPr>
        </p:nvPicPr>
        <p:blipFill>
          <a:blip r:embed="rId3"/>
          <a:stretch>
            <a:fillRect/>
          </a:stretch>
        </p:blipFill>
        <p:spPr>
          <a:xfrm>
            <a:off x="2167377" y="3714750"/>
            <a:ext cx="19905223" cy="9086850"/>
          </a:xfrm>
          <a:prstGeom prst="rect">
            <a:avLst/>
          </a:prstGeom>
        </p:spPr>
      </p:pic>
    </p:spTree>
    <p:extLst>
      <p:ext uri="{BB962C8B-B14F-4D97-AF65-F5344CB8AC3E}">
        <p14:creationId xmlns:p14="http://schemas.microsoft.com/office/powerpoint/2010/main" val="292087207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82C"/>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Rounded Rectangle 2"/>
          <p:cNvSpPr/>
          <p:nvPr/>
        </p:nvSpPr>
        <p:spPr>
          <a:xfrm>
            <a:off x="393192" y="411480"/>
            <a:ext cx="109728" cy="640080"/>
          </a:xfrm>
          <a:prstGeom prst="roundRect">
            <a:avLst/>
          </a:prstGeom>
          <a:solidFill>
            <a:srgbClr val="33D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93192"/>
            <a:ext cx="23195280" cy="411480"/>
          </a:xfrm>
          <a:prstGeom prst="rect">
            <a:avLst/>
          </a:prstGeom>
          <a:noFill/>
        </p:spPr>
        <p:txBody>
          <a:bodyPr wrap="square">
            <a:spAutoFit/>
          </a:bodyPr>
          <a:lstStyle/>
          <a:p>
            <a:pPr>
              <a:spcAft>
                <a:spcPts val="1200"/>
              </a:spcAft>
            </a:pPr>
            <a:r>
              <a:rPr sz="3100" b="1">
                <a:solidFill>
                  <a:srgbClr val="F4F9FD"/>
                </a:solidFill>
                <a:latin typeface="Aptos"/>
              </a:rPr>
              <a:t>VIDEO GENERATION | 2026 Landscape</a:t>
            </a:r>
          </a:p>
        </p:txBody>
      </p:sp>
      <p:sp>
        <p:nvSpPr>
          <p:cNvPr id="5" name="TextBox 4"/>
          <p:cNvSpPr txBox="1"/>
          <p:nvPr/>
        </p:nvSpPr>
        <p:spPr>
          <a:xfrm>
            <a:off x="713232" y="914400"/>
            <a:ext cx="23103840" cy="274320"/>
          </a:xfrm>
          <a:prstGeom prst="rect">
            <a:avLst/>
          </a:prstGeom>
          <a:noFill/>
        </p:spPr>
        <p:txBody>
          <a:bodyPr wrap="square">
            <a:spAutoFit/>
          </a:bodyPr>
          <a:lstStyle/>
          <a:p>
            <a:pPr>
              <a:spcAft>
                <a:spcPts val="1200"/>
              </a:spcAft>
            </a:pPr>
            <a:r>
              <a:rPr sz="1200" b="1">
                <a:solidFill>
                  <a:srgbClr val="33D6D2"/>
                </a:solidFill>
                <a:latin typeface="Aptos"/>
              </a:rPr>
              <a:t>HISTORICAL MILESTONES → NEWER MODELS</a:t>
            </a:r>
          </a:p>
        </p:txBody>
      </p:sp>
      <p:sp>
        <p:nvSpPr>
          <p:cNvPr id="6" name="Rounded Rectangle 5"/>
          <p:cNvSpPr/>
          <p:nvPr/>
        </p:nvSpPr>
        <p:spPr>
          <a:xfrm>
            <a:off x="640080" y="1481328"/>
            <a:ext cx="23103840" cy="3745992"/>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72768"/>
            <a:ext cx="22555200" cy="320040"/>
          </a:xfrm>
          <a:prstGeom prst="rect">
            <a:avLst/>
          </a:prstGeom>
          <a:noFill/>
        </p:spPr>
        <p:txBody>
          <a:bodyPr wrap="square">
            <a:spAutoFit/>
          </a:bodyPr>
          <a:lstStyle/>
          <a:p>
            <a:pPr>
              <a:spcAft>
                <a:spcPts val="1200"/>
              </a:spcAft>
            </a:pPr>
            <a:r>
              <a:rPr sz="1900" b="1">
                <a:solidFill>
                  <a:srgbClr val="FFBE53"/>
                </a:solidFill>
                <a:latin typeface="Aptos"/>
              </a:rPr>
              <a:t>Historical references</a:t>
            </a:r>
          </a:p>
        </p:txBody>
      </p:sp>
      <p:sp>
        <p:nvSpPr>
          <p:cNvPr id="8" name="TextBox 7"/>
          <p:cNvSpPr txBox="1"/>
          <p:nvPr/>
        </p:nvSpPr>
        <p:spPr>
          <a:xfrm>
            <a:off x="868680" y="1965960"/>
            <a:ext cx="22555200" cy="3215640"/>
          </a:xfrm>
          <a:prstGeom prst="rect">
            <a:avLst/>
          </a:prstGeom>
          <a:noFill/>
        </p:spPr>
        <p:txBody>
          <a:bodyPr wrap="square">
            <a:spAutoFit/>
          </a:bodyPr>
          <a:lstStyle/>
          <a:p>
            <a:pPr>
              <a:spcAft>
                <a:spcPts val="1200"/>
              </a:spcAft>
            </a:pPr>
            <a:r>
              <a:rPr sz="1600" b="0">
                <a:solidFill>
                  <a:srgbClr val="F4F9FD"/>
                </a:solidFill>
                <a:latin typeface="Aptos"/>
              </a:rPr>
              <a:t>ModelScope (2023), Runway Gen-2, early Sora examples, Stable Video Diffusion.</a:t>
            </a:r>
          </a:p>
        </p:txBody>
      </p:sp>
      <p:sp>
        <p:nvSpPr>
          <p:cNvPr id="9" name="Rounded Rectangle 8"/>
          <p:cNvSpPr/>
          <p:nvPr/>
        </p:nvSpPr>
        <p:spPr>
          <a:xfrm>
            <a:off x="640080" y="5391912"/>
            <a:ext cx="23103840" cy="3745992"/>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5483351"/>
            <a:ext cx="22555200" cy="320040"/>
          </a:xfrm>
          <a:prstGeom prst="rect">
            <a:avLst/>
          </a:prstGeom>
          <a:noFill/>
        </p:spPr>
        <p:txBody>
          <a:bodyPr wrap="square">
            <a:spAutoFit/>
          </a:bodyPr>
          <a:lstStyle/>
          <a:p>
            <a:pPr>
              <a:spcAft>
                <a:spcPts val="1200"/>
              </a:spcAft>
            </a:pPr>
            <a:r>
              <a:rPr sz="1900" b="1">
                <a:solidFill>
                  <a:srgbClr val="FFBE53"/>
                </a:solidFill>
                <a:latin typeface="Aptos"/>
              </a:rPr>
              <a:t>2026 examples</a:t>
            </a:r>
          </a:p>
        </p:txBody>
      </p:sp>
      <p:sp>
        <p:nvSpPr>
          <p:cNvPr id="11" name="TextBox 10"/>
          <p:cNvSpPr txBox="1"/>
          <p:nvPr/>
        </p:nvSpPr>
        <p:spPr>
          <a:xfrm>
            <a:off x="868680" y="5876544"/>
            <a:ext cx="22555200" cy="3215640"/>
          </a:xfrm>
          <a:prstGeom prst="rect">
            <a:avLst/>
          </a:prstGeom>
          <a:noFill/>
        </p:spPr>
        <p:txBody>
          <a:bodyPr wrap="square">
            <a:spAutoFit/>
          </a:bodyPr>
          <a:lstStyle/>
          <a:p>
            <a:pPr>
              <a:spcAft>
                <a:spcPts val="1200"/>
              </a:spcAft>
            </a:pPr>
            <a:r>
              <a:rPr sz="1600" b="0">
                <a:solidFill>
                  <a:srgbClr val="F4F9FD"/>
                </a:solidFill>
                <a:latin typeface="Aptos"/>
              </a:rPr>
              <a:t>Google Veo 3.1 and newer Runway models illustrate progress in controllability and realism.</a:t>
            </a:r>
          </a:p>
        </p:txBody>
      </p:sp>
      <p:sp>
        <p:nvSpPr>
          <p:cNvPr id="12" name="Rounded Rectangle 11"/>
          <p:cNvSpPr/>
          <p:nvPr/>
        </p:nvSpPr>
        <p:spPr>
          <a:xfrm>
            <a:off x="640080" y="9302495"/>
            <a:ext cx="23103840" cy="3745992"/>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9393935"/>
            <a:ext cx="22555200" cy="320040"/>
          </a:xfrm>
          <a:prstGeom prst="rect">
            <a:avLst/>
          </a:prstGeom>
          <a:noFill/>
        </p:spPr>
        <p:txBody>
          <a:bodyPr wrap="square">
            <a:spAutoFit/>
          </a:bodyPr>
          <a:lstStyle/>
          <a:p>
            <a:pPr>
              <a:spcAft>
                <a:spcPts val="1200"/>
              </a:spcAft>
            </a:pPr>
            <a:r>
              <a:rPr sz="1900" b="1">
                <a:solidFill>
                  <a:srgbClr val="FFBE53"/>
                </a:solidFill>
                <a:latin typeface="Aptos"/>
              </a:rPr>
              <a:t>Access and provenance</a:t>
            </a:r>
          </a:p>
        </p:txBody>
      </p:sp>
      <p:sp>
        <p:nvSpPr>
          <p:cNvPr id="14" name="TextBox 13"/>
          <p:cNvSpPr txBox="1"/>
          <p:nvPr/>
        </p:nvSpPr>
        <p:spPr>
          <a:xfrm>
            <a:off x="868680" y="9787127"/>
            <a:ext cx="22555200" cy="3215640"/>
          </a:xfrm>
          <a:prstGeom prst="rect">
            <a:avLst/>
          </a:prstGeom>
          <a:noFill/>
        </p:spPr>
        <p:txBody>
          <a:bodyPr wrap="square">
            <a:spAutoFit/>
          </a:bodyPr>
          <a:lstStyle/>
          <a:p>
            <a:pPr>
              <a:spcAft>
                <a:spcPts val="1200"/>
              </a:spcAft>
            </a:pPr>
            <a:r>
              <a:rPr sz="1600" b="0">
                <a:solidFill>
                  <a:srgbClr val="F4F9FD"/>
                </a:solidFill>
                <a:latin typeface="Aptos"/>
              </a:rPr>
              <a:t>Services vary by geography, quota and price. Evaluate audio, temporal consistency, consent and provenance.</a:t>
            </a:r>
          </a:p>
        </p:txBody>
      </p:sp>
      <p:sp>
        <p:nvSpPr>
          <p:cNvPr id="15" name="TextBox 14"/>
          <p:cNvSpPr txBox="1"/>
          <p:nvPr/>
        </p:nvSpPr>
        <p:spPr>
          <a:xfrm>
            <a:off x="713232" y="13277088"/>
            <a:ext cx="23103840" cy="292608"/>
          </a:xfrm>
          <a:prstGeom prst="rect">
            <a:avLst/>
          </a:prstGeom>
          <a:noFill/>
        </p:spPr>
        <p:txBody>
          <a:bodyPr wrap="square">
            <a:spAutoFit/>
          </a:bodyPr>
          <a:lstStyle/>
          <a:p>
            <a:pPr>
              <a:spcAft>
                <a:spcPts val="1200"/>
              </a:spcAft>
            </a:pPr>
            <a:r>
              <a:rPr sz="1000" b="0">
                <a:solidFill>
                  <a:srgbClr val="B9CEDC"/>
                </a:solidFill>
                <a:latin typeface="Aptos"/>
              </a:rPr>
              <a:t>Sora product was discontinued on April 26, 2026 · Historical slides retained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D06F8-6993-7C2B-12CB-B488B015E4CE}"/>
              </a:ext>
            </a:extLst>
          </p:cNvPr>
          <p:cNvSpPr>
            <a:spLocks noGrp="1"/>
          </p:cNvSpPr>
          <p:nvPr>
            <p:ph type="title"/>
          </p:nvPr>
        </p:nvSpPr>
        <p:spPr/>
        <p:txBody>
          <a:bodyPr>
            <a:normAutofit fontScale="90000"/>
          </a:bodyPr>
          <a:lstStyle/>
          <a:p>
            <a:r>
              <a:rPr lang="en-US" dirty="0"/>
              <a:t>Video generation</a:t>
            </a:r>
          </a:p>
        </p:txBody>
      </p:sp>
      <p:sp>
        <p:nvSpPr>
          <p:cNvPr id="3" name="Text Placeholder 2">
            <a:extLst>
              <a:ext uri="{FF2B5EF4-FFF2-40B4-BE49-F238E27FC236}">
                <a16:creationId xmlns:a16="http://schemas.microsoft.com/office/drawing/2014/main" id="{6E586435-36EE-3143-2275-EEECD00D9495}"/>
              </a:ext>
            </a:extLst>
          </p:cNvPr>
          <p:cNvSpPr>
            <a:spLocks noGrp="1"/>
          </p:cNvSpPr>
          <p:nvPr>
            <p:ph type="body" sz="quarter" idx="10"/>
          </p:nvPr>
        </p:nvSpPr>
        <p:spPr/>
        <p:txBody>
          <a:bodyPr/>
          <a:lstStyle/>
          <a:p>
            <a:r>
              <a:rPr lang="en-US" dirty="0"/>
              <a:t>Stability demo</a:t>
            </a:r>
          </a:p>
        </p:txBody>
      </p:sp>
      <p:sp>
        <p:nvSpPr>
          <p:cNvPr id="6" name="Content Placeholder 5">
            <a:extLst>
              <a:ext uri="{FF2B5EF4-FFF2-40B4-BE49-F238E27FC236}">
                <a16:creationId xmlns:a16="http://schemas.microsoft.com/office/drawing/2014/main" id="{FE7EA97A-392D-CBED-B184-B70FC184E81D}"/>
              </a:ext>
            </a:extLst>
          </p:cNvPr>
          <p:cNvSpPr>
            <a:spLocks noGrp="1"/>
          </p:cNvSpPr>
          <p:nvPr>
            <p:ph sz="quarter" idx="11"/>
          </p:nvPr>
        </p:nvSpPr>
        <p:spPr/>
        <p:txBody>
          <a:bodyPr/>
          <a:lstStyle/>
          <a:p>
            <a:r>
              <a:t>Outdated statement removed. By 2026, several advanced video-generation models have been released; access, pricing, and limits vary.</a:t>
            </a:r>
          </a:p>
          <a:p>
            <a:r>
              <a:t>Stable Video Diffusion remains useful as a research example, but may require substantial GPU memory.</a:t>
            </a:r>
          </a:p>
          <a:p>
            <a:r>
              <a:t>Historical demo links (availability may change):</a:t>
            </a:r>
          </a:p>
          <a:p>
            <a:pPr lvl="1">
              <a:buFont typeface="Wingdings" pitchFamily="2" charset="2"/>
              <a:buChar char="Ø"/>
            </a:pPr>
            <a:r>
              <a:rPr lang="en-US" dirty="0">
                <a:hlinkClick r:id="rId3"/>
              </a:rPr>
              <a:t>https://huggingface.co/spaces/Kvikontent/Stable-Video-Diffusion-Img2Vid</a:t>
            </a:r>
          </a:p>
          <a:p>
            <a:pPr lvl="1">
              <a:buFont typeface="Wingdings" pitchFamily="2" charset="2"/>
              <a:buChar char="Ø"/>
            </a:pPr>
            <a:r>
              <a:rPr lang="en-US" dirty="0">
                <a:hlinkClick r:id="rId3"/>
              </a:rPr>
              <a:t>https://huggingface.co/spaces/multimodalart/stable-video-diffusion</a:t>
            </a:r>
            <a:r>
              <a:rPr lang="en-US" dirty="0"/>
              <a:t> </a:t>
            </a:r>
          </a:p>
          <a:p>
            <a:endParaRPr lang="en-US" dirty="0"/>
          </a:p>
        </p:txBody>
      </p:sp>
    </p:spTree>
    <p:extLst>
      <p:ext uri="{BB962C8B-B14F-4D97-AF65-F5344CB8AC3E}">
        <p14:creationId xmlns:p14="http://schemas.microsoft.com/office/powerpoint/2010/main" val="599516737"/>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D06F8-6993-7C2B-12CB-B488B015E4CE}"/>
              </a:ext>
            </a:extLst>
          </p:cNvPr>
          <p:cNvSpPr>
            <a:spLocks noGrp="1"/>
          </p:cNvSpPr>
          <p:nvPr>
            <p:ph type="title"/>
          </p:nvPr>
        </p:nvSpPr>
        <p:spPr/>
        <p:txBody>
          <a:bodyPr>
            <a:normAutofit fontScale="90000"/>
          </a:bodyPr>
          <a:lstStyle/>
          <a:p>
            <a:r>
              <a:rPr lang="en-US" dirty="0"/>
              <a:t>Video generation</a:t>
            </a:r>
          </a:p>
        </p:txBody>
      </p:sp>
      <p:sp>
        <p:nvSpPr>
          <p:cNvPr id="3" name="Text Placeholder 2">
            <a:extLst>
              <a:ext uri="{FF2B5EF4-FFF2-40B4-BE49-F238E27FC236}">
                <a16:creationId xmlns:a16="http://schemas.microsoft.com/office/drawing/2014/main" id="{6E586435-36EE-3143-2275-EEECD00D9495}"/>
              </a:ext>
            </a:extLst>
          </p:cNvPr>
          <p:cNvSpPr>
            <a:spLocks noGrp="1"/>
          </p:cNvSpPr>
          <p:nvPr>
            <p:ph type="body" sz="quarter" idx="10"/>
          </p:nvPr>
        </p:nvSpPr>
        <p:spPr/>
        <p:txBody>
          <a:bodyPr/>
          <a:lstStyle/>
          <a:p>
            <a:r>
              <a:rPr lang="en-US" dirty="0"/>
              <a:t>Stability demo</a:t>
            </a:r>
          </a:p>
        </p:txBody>
      </p:sp>
      <p:pic>
        <p:nvPicPr>
          <p:cNvPr id="4" name="006478">
            <a:hlinkClick r:id="" action="ppaction://media"/>
            <a:extLst>
              <a:ext uri="{FF2B5EF4-FFF2-40B4-BE49-F238E27FC236}">
                <a16:creationId xmlns:a16="http://schemas.microsoft.com/office/drawing/2014/main" id="{90CFEBFD-54F1-D136-9BEE-5DA041D38CBE}"/>
              </a:ext>
            </a:extLst>
          </p:cNvPr>
          <p:cNvPicPr>
            <a:picLocks noGrp="1" noChangeAspect="1"/>
          </p:cNvPicPr>
          <p:nvPr>
            <p:ph sz="quarter" idx="11"/>
            <a:videoFile r:link="rId2"/>
            <p:extLst>
              <p:ext uri="{DAA4B4D4-6D71-4841-9C94-3DE7FCFB9230}">
                <p14:media xmlns:p14="http://schemas.microsoft.com/office/powerpoint/2010/main" r:embed="rId1"/>
              </p:ext>
            </p:extLst>
          </p:nvPr>
        </p:nvPicPr>
        <p:blipFill>
          <a:blip r:embed="rId4"/>
          <a:stretch>
            <a:fillRect/>
          </a:stretch>
        </p:blipFill>
        <p:spPr>
          <a:xfrm>
            <a:off x="2167377" y="3166684"/>
            <a:ext cx="20235423" cy="9330116"/>
          </a:xfrm>
        </p:spPr>
      </p:pic>
      <p:sp>
        <p:nvSpPr>
          <p:cNvPr id="5" name="TextBox 4">
            <a:extLst>
              <a:ext uri="{FF2B5EF4-FFF2-40B4-BE49-F238E27FC236}">
                <a16:creationId xmlns:a16="http://schemas.microsoft.com/office/drawing/2014/main" id="{D2029DD8-79F0-4C59-044C-AB6EF9B9B2BB}"/>
              </a:ext>
            </a:extLst>
          </p:cNvPr>
          <p:cNvSpPr txBox="1"/>
          <p:nvPr/>
        </p:nvSpPr>
        <p:spPr>
          <a:xfrm>
            <a:off x="6061963" y="12692638"/>
            <a:ext cx="10751341"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t>Historical image-to-video example (“Disaster Girl”). Discussion: motion realism, consistency, provenance and consent.</a:t>
            </a:r>
            <a:endParaRPr kumimoji="0" lang="en-US" sz="2400" b="0" i="0" u="none" strike="noStrike" cap="none" spc="0" normalizeH="0" baseline="0" dirty="0">
              <a:ln>
                <a:noFill/>
              </a:ln>
              <a:solidFill>
                <a:srgbClr val="5E5E5E"/>
              </a:solidFill>
              <a:effectLst/>
              <a:uFillTx/>
              <a:latin typeface="+mn-lt"/>
              <a:ea typeface="+mn-ea"/>
              <a:cs typeface="+mn-cs"/>
              <a:sym typeface="Helvetica Neue"/>
            </a:endParaRPr>
          </a:p>
        </p:txBody>
      </p:sp>
    </p:spTree>
    <p:extLst>
      <p:ext uri="{BB962C8B-B14F-4D97-AF65-F5344CB8AC3E}">
        <p14:creationId xmlns:p14="http://schemas.microsoft.com/office/powerpoint/2010/main" val="56559243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167"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82C"/>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Rounded Rectangle 2"/>
          <p:cNvSpPr/>
          <p:nvPr/>
        </p:nvSpPr>
        <p:spPr>
          <a:xfrm>
            <a:off x="393192" y="411480"/>
            <a:ext cx="109728" cy="640080"/>
          </a:xfrm>
          <a:prstGeom prst="roundRect">
            <a:avLst/>
          </a:prstGeom>
          <a:solidFill>
            <a:srgbClr val="33D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93192"/>
            <a:ext cx="23195280" cy="411480"/>
          </a:xfrm>
          <a:prstGeom prst="rect">
            <a:avLst/>
          </a:prstGeom>
          <a:noFill/>
        </p:spPr>
        <p:txBody>
          <a:bodyPr wrap="square">
            <a:spAutoFit/>
          </a:bodyPr>
          <a:lstStyle/>
          <a:p>
            <a:pPr>
              <a:spcAft>
                <a:spcPts val="1200"/>
              </a:spcAft>
            </a:pPr>
            <a:r>
              <a:rPr sz="3100" b="1">
                <a:solidFill>
                  <a:srgbClr val="F4F9FD"/>
                </a:solidFill>
                <a:latin typeface="Aptos"/>
              </a:rPr>
              <a:t>LAB 5 | Generate and Evaluate Video</a:t>
            </a:r>
          </a:p>
        </p:txBody>
      </p:sp>
      <p:sp>
        <p:nvSpPr>
          <p:cNvPr id="5" name="TextBox 4"/>
          <p:cNvSpPr txBox="1"/>
          <p:nvPr/>
        </p:nvSpPr>
        <p:spPr>
          <a:xfrm>
            <a:off x="713232" y="914400"/>
            <a:ext cx="23103840" cy="274320"/>
          </a:xfrm>
          <a:prstGeom prst="rect">
            <a:avLst/>
          </a:prstGeom>
          <a:noFill/>
        </p:spPr>
        <p:txBody>
          <a:bodyPr wrap="square">
            <a:spAutoFit/>
          </a:bodyPr>
          <a:lstStyle/>
          <a:p>
            <a:pPr>
              <a:spcAft>
                <a:spcPts val="1200"/>
              </a:spcAft>
            </a:pPr>
            <a:r>
              <a:rPr sz="1200" b="1">
                <a:solidFill>
                  <a:srgbClr val="33D6D2"/>
                </a:solidFill>
                <a:latin typeface="Aptos"/>
              </a:rPr>
              <a:t>GOOGLE COLAB · ANIMATION VS GENERATIVE AI</a:t>
            </a:r>
          </a:p>
        </p:txBody>
      </p:sp>
      <p:sp>
        <p:nvSpPr>
          <p:cNvPr id="6" name="Rounded Rectangle 5"/>
          <p:cNvSpPr/>
          <p:nvPr/>
        </p:nvSpPr>
        <p:spPr>
          <a:xfrm>
            <a:off x="640080" y="1481328"/>
            <a:ext cx="23103840" cy="3745992"/>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72768"/>
            <a:ext cx="22555200" cy="320040"/>
          </a:xfrm>
          <a:prstGeom prst="rect">
            <a:avLst/>
          </a:prstGeom>
          <a:noFill/>
        </p:spPr>
        <p:txBody>
          <a:bodyPr wrap="square">
            <a:spAutoFit/>
          </a:bodyPr>
          <a:lstStyle/>
          <a:p>
            <a:pPr>
              <a:spcAft>
                <a:spcPts val="1200"/>
              </a:spcAft>
            </a:pPr>
            <a:r>
              <a:rPr sz="1900" b="1">
                <a:solidFill>
                  <a:srgbClr val="FFBE53"/>
                </a:solidFill>
                <a:latin typeface="Aptos"/>
              </a:rPr>
              <a:t>Hands-on (CPU)</a:t>
            </a:r>
          </a:p>
        </p:txBody>
      </p:sp>
      <p:sp>
        <p:nvSpPr>
          <p:cNvPr id="8" name="TextBox 7"/>
          <p:cNvSpPr txBox="1"/>
          <p:nvPr/>
        </p:nvSpPr>
        <p:spPr>
          <a:xfrm>
            <a:off x="868680" y="1965960"/>
            <a:ext cx="22555200" cy="3215640"/>
          </a:xfrm>
          <a:prstGeom prst="rect">
            <a:avLst/>
          </a:prstGeom>
          <a:noFill/>
        </p:spPr>
        <p:txBody>
          <a:bodyPr wrap="square">
            <a:spAutoFit/>
          </a:bodyPr>
          <a:lstStyle/>
          <a:p>
            <a:pPr>
              <a:spcAft>
                <a:spcPts val="1200"/>
              </a:spcAft>
            </a:pPr>
            <a:r>
              <a:rPr sz="1600" b="0">
                <a:solidFill>
                  <a:srgbClr val="F4F9FD"/>
                </a:solidFill>
                <a:latin typeface="Aptos"/>
              </a:rPr>
              <a:t>Generate a short animation with Python; modify movement, color and duration.</a:t>
            </a:r>
          </a:p>
        </p:txBody>
      </p:sp>
      <p:sp>
        <p:nvSpPr>
          <p:cNvPr id="9" name="Rounded Rectangle 8"/>
          <p:cNvSpPr/>
          <p:nvPr/>
        </p:nvSpPr>
        <p:spPr>
          <a:xfrm>
            <a:off x="640080" y="5391912"/>
            <a:ext cx="23103840" cy="3745992"/>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5483351"/>
            <a:ext cx="22555200" cy="320040"/>
          </a:xfrm>
          <a:prstGeom prst="rect">
            <a:avLst/>
          </a:prstGeom>
          <a:noFill/>
        </p:spPr>
        <p:txBody>
          <a:bodyPr wrap="square">
            <a:spAutoFit/>
          </a:bodyPr>
          <a:lstStyle/>
          <a:p>
            <a:pPr>
              <a:spcAft>
                <a:spcPts val="1200"/>
              </a:spcAft>
            </a:pPr>
            <a:r>
              <a:rPr sz="1900" b="1">
                <a:solidFill>
                  <a:srgbClr val="FFBE53"/>
                </a:solidFill>
                <a:latin typeface="Aptos"/>
              </a:rPr>
              <a:t>Conceptual comparison</a:t>
            </a:r>
          </a:p>
        </p:txBody>
      </p:sp>
      <p:sp>
        <p:nvSpPr>
          <p:cNvPr id="11" name="TextBox 10"/>
          <p:cNvSpPr txBox="1"/>
          <p:nvPr/>
        </p:nvSpPr>
        <p:spPr>
          <a:xfrm>
            <a:off x="868680" y="5876544"/>
            <a:ext cx="22555200" cy="3215640"/>
          </a:xfrm>
          <a:prstGeom prst="rect">
            <a:avLst/>
          </a:prstGeom>
          <a:noFill/>
        </p:spPr>
        <p:txBody>
          <a:bodyPr wrap="square">
            <a:spAutoFit/>
          </a:bodyPr>
          <a:lstStyle/>
          <a:p>
            <a:pPr>
              <a:spcAft>
                <a:spcPts val="1200"/>
              </a:spcAft>
            </a:pPr>
            <a:r>
              <a:rPr sz="1600" b="0">
                <a:solidFill>
                  <a:srgbClr val="F4F9FD"/>
                </a:solidFill>
                <a:latin typeface="Aptos"/>
              </a:rPr>
              <a:t>Procedural video synthesis follows code rules; text-to-video models learn complex visual patterns.</a:t>
            </a:r>
          </a:p>
        </p:txBody>
      </p:sp>
      <p:sp>
        <p:nvSpPr>
          <p:cNvPr id="12" name="Rounded Rectangle 11"/>
          <p:cNvSpPr/>
          <p:nvPr/>
        </p:nvSpPr>
        <p:spPr>
          <a:xfrm>
            <a:off x="640080" y="9302495"/>
            <a:ext cx="23103840" cy="3745992"/>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9393935"/>
            <a:ext cx="22555200" cy="320040"/>
          </a:xfrm>
          <a:prstGeom prst="rect">
            <a:avLst/>
          </a:prstGeom>
          <a:noFill/>
        </p:spPr>
        <p:txBody>
          <a:bodyPr wrap="square">
            <a:spAutoFit/>
          </a:bodyPr>
          <a:lstStyle/>
          <a:p>
            <a:pPr>
              <a:spcAft>
                <a:spcPts val="1200"/>
              </a:spcAft>
            </a:pPr>
            <a:r>
              <a:rPr sz="1900" b="1">
                <a:solidFill>
                  <a:srgbClr val="FFBE53"/>
                </a:solidFill>
                <a:latin typeface="Aptos"/>
              </a:rPr>
              <a:t>Critical thinking</a:t>
            </a:r>
          </a:p>
        </p:txBody>
      </p:sp>
      <p:sp>
        <p:nvSpPr>
          <p:cNvPr id="14" name="TextBox 13"/>
          <p:cNvSpPr txBox="1"/>
          <p:nvPr/>
        </p:nvSpPr>
        <p:spPr>
          <a:xfrm>
            <a:off x="868680" y="9787127"/>
            <a:ext cx="22555200" cy="3215640"/>
          </a:xfrm>
          <a:prstGeom prst="rect">
            <a:avLst/>
          </a:prstGeom>
          <a:noFill/>
        </p:spPr>
        <p:txBody>
          <a:bodyPr wrap="square">
            <a:spAutoFit/>
          </a:bodyPr>
          <a:lstStyle/>
          <a:p>
            <a:pPr>
              <a:spcAft>
                <a:spcPts val="1200"/>
              </a:spcAft>
            </a:pPr>
            <a:r>
              <a:rPr sz="1600" b="0">
                <a:solidFill>
                  <a:srgbClr val="F4F9FD"/>
                </a:solidFill>
                <a:latin typeface="Aptos"/>
              </a:rPr>
              <a:t>Evaluate temporal consistency, unrealistic physics, copyright, deepfakes and disclosure.</a:t>
            </a:r>
          </a:p>
        </p:txBody>
      </p:sp>
      <p:sp>
        <p:nvSpPr>
          <p:cNvPr id="15" name="TextBox 14"/>
          <p:cNvSpPr txBox="1"/>
          <p:nvPr/>
        </p:nvSpPr>
        <p:spPr>
          <a:xfrm>
            <a:off x="713232" y="13277088"/>
            <a:ext cx="23103840" cy="292608"/>
          </a:xfrm>
          <a:prstGeom prst="rect">
            <a:avLst/>
          </a:prstGeom>
          <a:noFill/>
        </p:spPr>
        <p:txBody>
          <a:bodyPr wrap="square">
            <a:spAutoFit/>
          </a:bodyPr>
          <a:lstStyle/>
          <a:p>
            <a:pPr>
              <a:spcAft>
                <a:spcPts val="1200"/>
              </a:spcAft>
            </a:pPr>
            <a:r>
              <a:rPr sz="1000" b="0">
                <a:solidFill>
                  <a:srgbClr val="B9CEDC"/>
                </a:solidFill>
                <a:latin typeface="Aptos"/>
              </a:rPr>
              <a:t>The CPU exercise is NOT a text-to-video diffusion model.</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References</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Session 7</a:t>
            </a:r>
          </a:p>
        </p:txBody>
      </p:sp>
      <p:sp>
        <p:nvSpPr>
          <p:cNvPr id="6" name="Content Placeholder 5">
            <a:extLst>
              <a:ext uri="{FF2B5EF4-FFF2-40B4-BE49-F238E27FC236}">
                <a16:creationId xmlns:a16="http://schemas.microsoft.com/office/drawing/2014/main" id="{CFC03F54-B3BC-80AB-98AC-C3ABDC8D86EE}"/>
              </a:ext>
            </a:extLst>
          </p:cNvPr>
          <p:cNvSpPr>
            <a:spLocks noGrp="1"/>
          </p:cNvSpPr>
          <p:nvPr>
            <p:ph sz="quarter" idx="11"/>
          </p:nvPr>
        </p:nvSpPr>
        <p:spPr/>
        <p:txBody>
          <a:bodyPr/>
          <a:lstStyle/>
          <a:p>
            <a:r>
              <a:rPr lang="en-US" dirty="0"/>
              <a:t>Raymond S. T. Lee. 2020. Artificial Intelligence in Daily Life. Springer. China. ISBN 9789811576959</a:t>
            </a:r>
          </a:p>
          <a:p>
            <a:r>
              <a:rPr lang="en-US" dirty="0"/>
              <a:t>Richard </a:t>
            </a:r>
            <a:r>
              <a:rPr lang="en-US" dirty="0" err="1"/>
              <a:t>Szeliski</a:t>
            </a:r>
            <a:r>
              <a:rPr lang="en-US" dirty="0"/>
              <a:t>. Computer Vision: Algorithms and Applications, 2nd ed. </a:t>
            </a:r>
          </a:p>
        </p:txBody>
      </p:sp>
    </p:spTree>
    <p:extLst>
      <p:ext uri="{BB962C8B-B14F-4D97-AF65-F5344CB8AC3E}">
        <p14:creationId xmlns:p14="http://schemas.microsoft.com/office/powerpoint/2010/main" val="3774771954"/>
      </p:ext>
    </p:extLst>
  </p:cSld>
  <p:clrMapOvr>
    <a:masterClrMapping/>
  </p:clrMapOvr>
  <p:transition spd="med"/>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82C"/>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Rounded Rectangle 2"/>
          <p:cNvSpPr/>
          <p:nvPr/>
        </p:nvSpPr>
        <p:spPr>
          <a:xfrm>
            <a:off x="393192" y="411480"/>
            <a:ext cx="109728" cy="640080"/>
          </a:xfrm>
          <a:prstGeom prst="roundRect">
            <a:avLst/>
          </a:prstGeom>
          <a:solidFill>
            <a:srgbClr val="33D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93192"/>
            <a:ext cx="23195280" cy="411480"/>
          </a:xfrm>
          <a:prstGeom prst="rect">
            <a:avLst/>
          </a:prstGeom>
          <a:noFill/>
        </p:spPr>
        <p:txBody>
          <a:bodyPr wrap="square">
            <a:spAutoFit/>
          </a:bodyPr>
          <a:lstStyle/>
          <a:p>
            <a:pPr>
              <a:spcAft>
                <a:spcPts val="1200"/>
              </a:spcAft>
            </a:pPr>
            <a:r>
              <a:rPr sz="3100" b="1">
                <a:solidFill>
                  <a:srgbClr val="F4F9FD"/>
                </a:solidFill>
                <a:latin typeface="Aptos"/>
              </a:rPr>
              <a:t>2026 Sources and Student Challenge</a:t>
            </a:r>
          </a:p>
        </p:txBody>
      </p:sp>
      <p:sp>
        <p:nvSpPr>
          <p:cNvPr id="5" name="TextBox 4"/>
          <p:cNvSpPr txBox="1"/>
          <p:nvPr/>
        </p:nvSpPr>
        <p:spPr>
          <a:xfrm>
            <a:off x="713232" y="914400"/>
            <a:ext cx="23103840" cy="274320"/>
          </a:xfrm>
          <a:prstGeom prst="rect">
            <a:avLst/>
          </a:prstGeom>
          <a:noFill/>
        </p:spPr>
        <p:txBody>
          <a:bodyPr wrap="square">
            <a:spAutoFit/>
          </a:bodyPr>
          <a:lstStyle/>
          <a:p>
            <a:pPr>
              <a:spcAft>
                <a:spcPts val="1200"/>
              </a:spcAft>
            </a:pPr>
            <a:r>
              <a:rPr sz="1200" b="1">
                <a:solidFill>
                  <a:srgbClr val="33D6D2"/>
                </a:solidFill>
                <a:latin typeface="Aptos"/>
              </a:rPr>
              <a:t>REFERENCE LINKS · CLOSING DISCUSSION</a:t>
            </a:r>
          </a:p>
        </p:txBody>
      </p:sp>
      <p:sp>
        <p:nvSpPr>
          <p:cNvPr id="6" name="Rounded Rectangle 5"/>
          <p:cNvSpPr/>
          <p:nvPr/>
        </p:nvSpPr>
        <p:spPr>
          <a:xfrm>
            <a:off x="640080" y="1481328"/>
            <a:ext cx="23103840" cy="3745992"/>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72768"/>
            <a:ext cx="22555200" cy="320040"/>
          </a:xfrm>
          <a:prstGeom prst="rect">
            <a:avLst/>
          </a:prstGeom>
          <a:noFill/>
        </p:spPr>
        <p:txBody>
          <a:bodyPr wrap="square">
            <a:spAutoFit/>
          </a:bodyPr>
          <a:lstStyle/>
          <a:p>
            <a:pPr>
              <a:spcAft>
                <a:spcPts val="1200"/>
              </a:spcAft>
            </a:pPr>
            <a:r>
              <a:rPr sz="1900" b="1">
                <a:solidFill>
                  <a:srgbClr val="FFBE53"/>
                </a:solidFill>
                <a:latin typeface="Aptos"/>
              </a:rPr>
              <a:t>Documentation</a:t>
            </a:r>
          </a:p>
        </p:txBody>
      </p:sp>
      <p:sp>
        <p:nvSpPr>
          <p:cNvPr id="8" name="TextBox 7"/>
          <p:cNvSpPr txBox="1"/>
          <p:nvPr/>
        </p:nvSpPr>
        <p:spPr>
          <a:xfrm>
            <a:off x="868680" y="1965960"/>
            <a:ext cx="22555200" cy="3215640"/>
          </a:xfrm>
          <a:prstGeom prst="rect">
            <a:avLst/>
          </a:prstGeom>
          <a:noFill/>
        </p:spPr>
        <p:txBody>
          <a:bodyPr wrap="square">
            <a:spAutoFit/>
          </a:bodyPr>
          <a:lstStyle/>
          <a:p>
            <a:pPr>
              <a:spcAft>
                <a:spcPts val="1200"/>
              </a:spcAft>
            </a:pPr>
            <a:r>
              <a:rPr sz="1600" b="0">
                <a:solidFill>
                  <a:srgbClr val="F4F9FD"/>
                </a:solidFill>
                <a:latin typeface="Aptos"/>
              </a:rPr>
              <a:t>Ultralytics tracking: docs.ultralytics.com/modes/track  |  OpenCV: docs.opencv.org</a:t>
            </a:r>
          </a:p>
        </p:txBody>
      </p:sp>
      <p:sp>
        <p:nvSpPr>
          <p:cNvPr id="9" name="Rounded Rectangle 8"/>
          <p:cNvSpPr/>
          <p:nvPr/>
        </p:nvSpPr>
        <p:spPr>
          <a:xfrm>
            <a:off x="640080" y="5391912"/>
            <a:ext cx="23103840" cy="3745992"/>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5483351"/>
            <a:ext cx="22555200" cy="320040"/>
          </a:xfrm>
          <a:prstGeom prst="rect">
            <a:avLst/>
          </a:prstGeom>
          <a:noFill/>
        </p:spPr>
        <p:txBody>
          <a:bodyPr wrap="square">
            <a:spAutoFit/>
          </a:bodyPr>
          <a:lstStyle/>
          <a:p>
            <a:pPr>
              <a:spcAft>
                <a:spcPts val="1200"/>
              </a:spcAft>
            </a:pPr>
            <a:r>
              <a:rPr sz="1900" b="1">
                <a:solidFill>
                  <a:srgbClr val="FFBE53"/>
                </a:solidFill>
                <a:latin typeface="Aptos"/>
              </a:rPr>
              <a:t>Modern video AI</a:t>
            </a:r>
          </a:p>
        </p:txBody>
      </p:sp>
      <p:sp>
        <p:nvSpPr>
          <p:cNvPr id="11" name="TextBox 10"/>
          <p:cNvSpPr txBox="1"/>
          <p:nvPr/>
        </p:nvSpPr>
        <p:spPr>
          <a:xfrm>
            <a:off x="868680" y="5876544"/>
            <a:ext cx="22555200" cy="3215640"/>
          </a:xfrm>
          <a:prstGeom prst="rect">
            <a:avLst/>
          </a:prstGeom>
          <a:noFill/>
        </p:spPr>
        <p:txBody>
          <a:bodyPr wrap="square">
            <a:spAutoFit/>
          </a:bodyPr>
          <a:lstStyle/>
          <a:p>
            <a:pPr>
              <a:spcAft>
                <a:spcPts val="1200"/>
              </a:spcAft>
            </a:pPr>
            <a:r>
              <a:rPr sz="1600" b="0">
                <a:solidFill>
                  <a:srgbClr val="F4F9FD"/>
                </a:solidFill>
                <a:latin typeface="Aptos"/>
              </a:rPr>
              <a:t>Google Veo 3.1: blog.google (Jan 2026)  |  Runway: runwayml.com</a:t>
            </a:r>
          </a:p>
        </p:txBody>
      </p:sp>
      <p:sp>
        <p:nvSpPr>
          <p:cNvPr id="12" name="Rounded Rectangle 11"/>
          <p:cNvSpPr/>
          <p:nvPr/>
        </p:nvSpPr>
        <p:spPr>
          <a:xfrm>
            <a:off x="640080" y="9302495"/>
            <a:ext cx="23103840" cy="3745992"/>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9393935"/>
            <a:ext cx="22555200" cy="320040"/>
          </a:xfrm>
          <a:prstGeom prst="rect">
            <a:avLst/>
          </a:prstGeom>
          <a:noFill/>
        </p:spPr>
        <p:txBody>
          <a:bodyPr wrap="square">
            <a:spAutoFit/>
          </a:bodyPr>
          <a:lstStyle/>
          <a:p>
            <a:r>
              <a:t>Group challenge</a:t>
            </a:r>
          </a:p>
        </p:txBody>
      </p:sp>
      <p:sp>
        <p:nvSpPr>
          <p:cNvPr id="14" name="TextBox 13"/>
          <p:cNvSpPr txBox="1"/>
          <p:nvPr/>
        </p:nvSpPr>
        <p:spPr>
          <a:xfrm>
            <a:off x="868680" y="9787127"/>
            <a:ext cx="22555200" cy="3215640"/>
          </a:xfrm>
          <a:prstGeom prst="rect">
            <a:avLst/>
          </a:prstGeom>
          <a:noFill/>
        </p:spPr>
        <p:txBody>
          <a:bodyPr wrap="square">
            <a:spAutoFit/>
          </a:bodyPr>
          <a:lstStyle/>
          <a:p>
            <a:pPr>
              <a:spcAft>
                <a:spcPts val="1200"/>
              </a:spcAft>
            </a:pPr>
            <a:r>
              <a:rPr sz="1600" b="0">
                <a:solidFill>
                  <a:srgbClr val="F4F9FD"/>
                </a:solidFill>
                <a:latin typeface="Aptos"/>
              </a:rPr>
              <a:t>Choose traffic, campus security or disaster response. Propose a video pipeline, metrics and ethical safeguards.</a:t>
            </a:r>
          </a:p>
        </p:txBody>
      </p:sp>
      <p:sp>
        <p:nvSpPr>
          <p:cNvPr id="15" name="TextBox 14"/>
          <p:cNvSpPr txBox="1"/>
          <p:nvPr/>
        </p:nvSpPr>
        <p:spPr>
          <a:xfrm>
            <a:off x="713232" y="13277088"/>
            <a:ext cx="23103840" cy="292608"/>
          </a:xfrm>
          <a:prstGeom prst="rect">
            <a:avLst/>
          </a:prstGeom>
          <a:noFill/>
        </p:spPr>
        <p:txBody>
          <a:bodyPr wrap="square">
            <a:spAutoFit/>
          </a:bodyPr>
          <a:lstStyle/>
          <a:p>
            <a:pPr>
              <a:spcAft>
                <a:spcPts val="1200"/>
              </a:spcAft>
            </a:pPr>
            <a:r>
              <a:rPr sz="1000" b="0">
                <a:solidFill>
                  <a:srgbClr val="B9CEDC"/>
                </a:solidFill>
                <a:latin typeface="Aptos"/>
              </a:rPr>
              <a:t>Further reading: Szeliski (Computer Vision, 2nd ed.); NVIDIA Neuralangelo (2023).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82C"/>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Rounded Rectangle 2"/>
          <p:cNvSpPr/>
          <p:nvPr/>
        </p:nvSpPr>
        <p:spPr>
          <a:xfrm>
            <a:off x="914400" y="713232"/>
            <a:ext cx="164592" cy="822960"/>
          </a:xfrm>
          <a:prstGeom prst="roundRect">
            <a:avLst/>
          </a:prstGeom>
          <a:solidFill>
            <a:srgbClr val="33D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53312" y="676656"/>
            <a:ext cx="22006560" cy="594360"/>
          </a:xfrm>
          <a:prstGeom prst="rect">
            <a:avLst/>
          </a:prstGeom>
          <a:noFill/>
        </p:spPr>
        <p:txBody>
          <a:bodyPr wrap="square">
            <a:spAutoFit/>
          </a:bodyPr>
          <a:lstStyle/>
          <a:p>
            <a:pPr>
              <a:spcAft>
                <a:spcPts val="800"/>
              </a:spcAft>
            </a:pPr>
            <a:r>
              <a:rPr sz="3400" b="1">
                <a:solidFill>
                  <a:srgbClr val="F1F8FC"/>
                </a:solidFill>
                <a:latin typeface="Aptos"/>
              </a:rPr>
              <a:t>FROM THEORY TO REAL VIDEO AI</a:t>
            </a:r>
          </a:p>
        </p:txBody>
      </p:sp>
      <p:sp>
        <p:nvSpPr>
          <p:cNvPr id="5" name="TextBox 4"/>
          <p:cNvSpPr txBox="1"/>
          <p:nvPr/>
        </p:nvSpPr>
        <p:spPr>
          <a:xfrm>
            <a:off x="1371600" y="1426464"/>
            <a:ext cx="21640800" cy="329184"/>
          </a:xfrm>
          <a:prstGeom prst="rect">
            <a:avLst/>
          </a:prstGeom>
          <a:noFill/>
        </p:spPr>
        <p:txBody>
          <a:bodyPr wrap="square">
            <a:spAutoFit/>
          </a:bodyPr>
          <a:lstStyle/>
          <a:p>
            <a:pPr>
              <a:spcAft>
                <a:spcPts val="800"/>
              </a:spcAft>
            </a:pPr>
            <a:r>
              <a:rPr sz="1400" b="1">
                <a:solidFill>
                  <a:srgbClr val="33D6D2"/>
                </a:solidFill>
                <a:latin typeface="Aptos"/>
              </a:rPr>
              <a:t>THREE CLASSROOM DEMOS · GOOGLE COLAB</a:t>
            </a:r>
          </a:p>
        </p:txBody>
      </p:sp>
      <p:sp>
        <p:nvSpPr>
          <p:cNvPr id="6" name="Rounded Rectangle 5"/>
          <p:cNvSpPr/>
          <p:nvPr/>
        </p:nvSpPr>
        <p:spPr>
          <a:xfrm>
            <a:off x="822960" y="2011680"/>
            <a:ext cx="22738080" cy="2907792"/>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12848"/>
            <a:ext cx="22189440" cy="411480"/>
          </a:xfrm>
          <a:prstGeom prst="rect">
            <a:avLst/>
          </a:prstGeom>
          <a:noFill/>
        </p:spPr>
        <p:txBody>
          <a:bodyPr wrap="square">
            <a:spAutoFit/>
          </a:bodyPr>
          <a:lstStyle/>
          <a:p>
            <a:pPr>
              <a:spcAft>
                <a:spcPts val="800"/>
              </a:spcAft>
            </a:pPr>
            <a:r>
              <a:rPr sz="2000" b="1">
                <a:solidFill>
                  <a:srgbClr val="FFBE53"/>
                </a:solidFill>
                <a:latin typeface="Aptos"/>
              </a:rPr>
              <a:t>DEMO A  |  SMART TRAFFIC</a:t>
            </a:r>
          </a:p>
        </p:txBody>
      </p:sp>
      <p:sp>
        <p:nvSpPr>
          <p:cNvPr id="8" name="TextBox 7"/>
          <p:cNvSpPr txBox="1"/>
          <p:nvPr/>
        </p:nvSpPr>
        <p:spPr>
          <a:xfrm>
            <a:off x="1097280" y="2770632"/>
            <a:ext cx="22189440" cy="1993392"/>
          </a:xfrm>
          <a:prstGeom prst="rect">
            <a:avLst/>
          </a:prstGeom>
          <a:noFill/>
        </p:spPr>
        <p:txBody>
          <a:bodyPr wrap="square">
            <a:spAutoFit/>
          </a:bodyPr>
          <a:lstStyle/>
          <a:p>
            <a:pPr>
              <a:spcAft>
                <a:spcPts val="800"/>
              </a:spcAft>
            </a:pPr>
            <a:r>
              <a:rPr sz="1900" b="0">
                <a:solidFill>
                  <a:srgbClr val="F1F8FC"/>
                </a:solidFill>
                <a:latin typeface="Aptos"/>
              </a:rPr>
              <a:t>Upload traffic MP4 → detect motion → track moving objects → crossing estimate.</a:t>
            </a:r>
          </a:p>
          <a:p>
            <a:pPr>
              <a:spcAft>
                <a:spcPts val="800"/>
              </a:spcAft>
            </a:pPr>
            <a:r>
              <a:rPr sz="1900" b="0">
                <a:solidFill>
                  <a:srgbClr val="F1F8FC"/>
                </a:solidFill>
                <a:latin typeface="Aptos"/>
              </a:rPr>
              <a:t>OpenCV baseline; no verified vehicle-specific YOLO results yet.</a:t>
            </a:r>
          </a:p>
        </p:txBody>
      </p:sp>
      <p:sp>
        <p:nvSpPr>
          <p:cNvPr id="9" name="Rounded Rectangle 8"/>
          <p:cNvSpPr/>
          <p:nvPr/>
        </p:nvSpPr>
        <p:spPr>
          <a:xfrm>
            <a:off x="822960" y="5367528"/>
            <a:ext cx="22738080" cy="2907792"/>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568696"/>
            <a:ext cx="22189440" cy="411480"/>
          </a:xfrm>
          <a:prstGeom prst="rect">
            <a:avLst/>
          </a:prstGeom>
          <a:noFill/>
        </p:spPr>
        <p:txBody>
          <a:bodyPr wrap="square">
            <a:spAutoFit/>
          </a:bodyPr>
          <a:lstStyle/>
          <a:p>
            <a:pPr>
              <a:spcAft>
                <a:spcPts val="800"/>
              </a:spcAft>
            </a:pPr>
            <a:r>
              <a:rPr sz="2000" b="1">
                <a:solidFill>
                  <a:srgbClr val="FFBE53"/>
                </a:solidFill>
                <a:latin typeface="Aptos"/>
              </a:rPr>
              <a:t>DEMO B  |  DRONE HUMAN DETECTION</a:t>
            </a:r>
          </a:p>
        </p:txBody>
      </p:sp>
      <p:sp>
        <p:nvSpPr>
          <p:cNvPr id="11" name="TextBox 10"/>
          <p:cNvSpPr txBox="1"/>
          <p:nvPr/>
        </p:nvSpPr>
        <p:spPr>
          <a:xfrm>
            <a:off x="1097280" y="6126480"/>
            <a:ext cx="22189440" cy="1993392"/>
          </a:xfrm>
          <a:prstGeom prst="rect">
            <a:avLst/>
          </a:prstGeom>
          <a:noFill/>
        </p:spPr>
        <p:txBody>
          <a:bodyPr wrap="square">
            <a:spAutoFit/>
          </a:bodyPr>
          <a:lstStyle/>
          <a:p>
            <a:pPr>
              <a:spcAft>
                <a:spcPts val="800"/>
              </a:spcAft>
            </a:pPr>
            <a:r>
              <a:rPr sz="1900" b="0">
                <a:solidFill>
                  <a:srgbClr val="F1F8FC"/>
                </a:solidFill>
                <a:latin typeface="Aptos"/>
              </a:rPr>
              <a:t>Upload aerial MP4 → YOLO person detection → ByteTrack IDs → annotated video and detection chart.</a:t>
            </a:r>
          </a:p>
          <a:p>
            <a:pPr>
              <a:spcAft>
                <a:spcPts val="800"/>
              </a:spcAft>
            </a:pPr>
            <a:r>
              <a:rPr sz="1900" b="0">
                <a:solidFill>
                  <a:srgbClr val="F1F8FC"/>
                </a:solidFill>
                <a:latin typeface="Aptos"/>
              </a:rPr>
              <a:t>Tested on a real aerial crowd video.</a:t>
            </a:r>
          </a:p>
        </p:txBody>
      </p:sp>
      <p:sp>
        <p:nvSpPr>
          <p:cNvPr id="12" name="Rounded Rectangle 11"/>
          <p:cNvSpPr/>
          <p:nvPr/>
        </p:nvSpPr>
        <p:spPr>
          <a:xfrm>
            <a:off x="822960" y="8723376"/>
            <a:ext cx="22738080" cy="2907792"/>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8924544"/>
            <a:ext cx="22189440" cy="411480"/>
          </a:xfrm>
          <a:prstGeom prst="rect">
            <a:avLst/>
          </a:prstGeom>
          <a:noFill/>
        </p:spPr>
        <p:txBody>
          <a:bodyPr wrap="square">
            <a:spAutoFit/>
          </a:bodyPr>
          <a:lstStyle/>
          <a:p>
            <a:pPr>
              <a:spcAft>
                <a:spcPts val="800"/>
              </a:spcAft>
            </a:pPr>
            <a:r>
              <a:rPr sz="2000" b="1">
                <a:solidFill>
                  <a:srgbClr val="FFBE53"/>
                </a:solidFill>
                <a:latin typeface="Aptos"/>
              </a:rPr>
              <a:t>DEMO C  |  SMART CCTV ANALYTICS</a:t>
            </a:r>
          </a:p>
        </p:txBody>
      </p:sp>
      <p:sp>
        <p:nvSpPr>
          <p:cNvPr id="14" name="TextBox 13"/>
          <p:cNvSpPr txBox="1"/>
          <p:nvPr/>
        </p:nvSpPr>
        <p:spPr>
          <a:xfrm>
            <a:off x="1097280" y="9482328"/>
            <a:ext cx="22189440" cy="1993392"/>
          </a:xfrm>
          <a:prstGeom prst="rect">
            <a:avLst/>
          </a:prstGeom>
          <a:noFill/>
        </p:spPr>
        <p:txBody>
          <a:bodyPr wrap="square">
            <a:spAutoFit/>
          </a:bodyPr>
          <a:lstStyle/>
          <a:p>
            <a:pPr>
              <a:spcAft>
                <a:spcPts val="800"/>
              </a:spcAft>
            </a:pPr>
            <a:r>
              <a:rPr sz="1900" b="0">
                <a:solidFill>
                  <a:srgbClr val="F1F8FC"/>
                </a:solidFill>
                <a:latin typeface="Aptos"/>
              </a:rPr>
              <a:t>Load surveillance sample → YOLO + ByteTrack → virtual vertical line → event CSV and graphs.</a:t>
            </a:r>
          </a:p>
          <a:p>
            <a:pPr>
              <a:spcAft>
                <a:spcPts val="800"/>
              </a:spcAft>
            </a:pPr>
            <a:r>
              <a:rPr sz="1900" b="0">
                <a:solidFill>
                  <a:srgbClr val="F1F8FC"/>
                </a:solidFill>
                <a:latin typeface="Aptos"/>
              </a:rPr>
              <a:t>Tested on OpenCV pedestrian footage.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82C"/>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Rounded Rectangle 2"/>
          <p:cNvSpPr/>
          <p:nvPr/>
        </p:nvSpPr>
        <p:spPr>
          <a:xfrm>
            <a:off x="914400" y="713232"/>
            <a:ext cx="164592" cy="822960"/>
          </a:xfrm>
          <a:prstGeom prst="roundRect">
            <a:avLst/>
          </a:prstGeom>
          <a:solidFill>
            <a:srgbClr val="33D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53312" y="676656"/>
            <a:ext cx="22006560" cy="594360"/>
          </a:xfrm>
          <a:prstGeom prst="rect">
            <a:avLst/>
          </a:prstGeom>
          <a:noFill/>
        </p:spPr>
        <p:txBody>
          <a:bodyPr wrap="square">
            <a:spAutoFit/>
          </a:bodyPr>
          <a:lstStyle/>
          <a:p>
            <a:pPr>
              <a:spcAft>
                <a:spcPts val="800"/>
              </a:spcAft>
            </a:pPr>
            <a:r>
              <a:rPr sz="3400" b="1">
                <a:solidFill>
                  <a:srgbClr val="F1F8FC"/>
                </a:solidFill>
                <a:latin typeface="Aptos"/>
              </a:rPr>
              <a:t>DEMO B | DRONE HUMAN DETECTION</a:t>
            </a:r>
          </a:p>
        </p:txBody>
      </p:sp>
      <p:sp>
        <p:nvSpPr>
          <p:cNvPr id="5" name="TextBox 4"/>
          <p:cNvSpPr txBox="1"/>
          <p:nvPr/>
        </p:nvSpPr>
        <p:spPr>
          <a:xfrm>
            <a:off x="1371600" y="1426464"/>
            <a:ext cx="21640800" cy="329184"/>
          </a:xfrm>
          <a:prstGeom prst="rect">
            <a:avLst/>
          </a:prstGeom>
          <a:noFill/>
        </p:spPr>
        <p:txBody>
          <a:bodyPr wrap="square">
            <a:spAutoFit/>
          </a:bodyPr>
          <a:lstStyle/>
          <a:p>
            <a:pPr>
              <a:spcAft>
                <a:spcPts val="800"/>
              </a:spcAft>
            </a:pPr>
            <a:r>
              <a:rPr sz="1400" b="1">
                <a:solidFill>
                  <a:srgbClr val="33D6D2"/>
                </a:solidFill>
                <a:latin typeface="Aptos"/>
              </a:rPr>
              <a:t>ACTUAL COLAB OUTPUT · YOLO + BYTETRACK</a:t>
            </a:r>
          </a:p>
        </p:txBody>
      </p:sp>
      <p:pic>
        <p:nvPicPr>
          <p:cNvPr id="6" name="Picture 5" descr="session07_drone_result.png"/>
          <p:cNvPicPr>
            <a:picLocks noChangeAspect="1"/>
          </p:cNvPicPr>
          <p:nvPr/>
        </p:nvPicPr>
        <p:blipFill>
          <a:blip r:embed="rId2"/>
          <a:stretch>
            <a:fillRect/>
          </a:stretch>
        </p:blipFill>
        <p:spPr>
          <a:xfrm>
            <a:off x="868680" y="2130552"/>
            <a:ext cx="14630400" cy="7853963"/>
          </a:xfrm>
          <a:prstGeom prst="rect">
            <a:avLst/>
          </a:prstGeom>
        </p:spPr>
      </p:pic>
      <p:sp>
        <p:nvSpPr>
          <p:cNvPr id="7" name="Rounded Rectangle 6"/>
          <p:cNvSpPr/>
          <p:nvPr/>
        </p:nvSpPr>
        <p:spPr>
          <a:xfrm>
            <a:off x="15864840" y="2130552"/>
            <a:ext cx="7543800" cy="2926080"/>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139160" y="2331720"/>
            <a:ext cx="6995160" cy="411480"/>
          </a:xfrm>
          <a:prstGeom prst="rect">
            <a:avLst/>
          </a:prstGeom>
          <a:noFill/>
        </p:spPr>
        <p:txBody>
          <a:bodyPr wrap="square">
            <a:spAutoFit/>
          </a:bodyPr>
          <a:lstStyle/>
          <a:p>
            <a:pPr>
              <a:spcAft>
                <a:spcPts val="800"/>
              </a:spcAft>
            </a:pPr>
            <a:r>
              <a:rPr sz="2000" b="1">
                <a:solidFill>
                  <a:srgbClr val="33D6D2"/>
                </a:solidFill>
                <a:latin typeface="Aptos"/>
              </a:rPr>
              <a:t>35  MAX DETECTIONS</a:t>
            </a:r>
          </a:p>
        </p:txBody>
      </p:sp>
      <p:sp>
        <p:nvSpPr>
          <p:cNvPr id="9" name="TextBox 8"/>
          <p:cNvSpPr txBox="1"/>
          <p:nvPr/>
        </p:nvSpPr>
        <p:spPr>
          <a:xfrm>
            <a:off x="16139160" y="2889504"/>
            <a:ext cx="6995160" cy="2011680"/>
          </a:xfrm>
          <a:prstGeom prst="rect">
            <a:avLst/>
          </a:prstGeom>
          <a:noFill/>
        </p:spPr>
        <p:txBody>
          <a:bodyPr wrap="square">
            <a:spAutoFit/>
          </a:bodyPr>
          <a:lstStyle/>
          <a:p>
            <a:pPr>
              <a:spcAft>
                <a:spcPts val="800"/>
              </a:spcAft>
            </a:pPr>
            <a:r>
              <a:rPr sz="1900" b="0">
                <a:solidFill>
                  <a:srgbClr val="F1F8FC"/>
                </a:solidFill>
                <a:latin typeface="Aptos"/>
              </a:rPr>
              <a:t>Maximum number of person detections in a single frame.</a:t>
            </a:r>
          </a:p>
        </p:txBody>
      </p:sp>
      <p:sp>
        <p:nvSpPr>
          <p:cNvPr id="10" name="Rounded Rectangle 9"/>
          <p:cNvSpPr/>
          <p:nvPr/>
        </p:nvSpPr>
        <p:spPr>
          <a:xfrm>
            <a:off x="15864840" y="5349240"/>
            <a:ext cx="7543800" cy="2971800"/>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139160" y="5550407"/>
            <a:ext cx="6995160" cy="411480"/>
          </a:xfrm>
          <a:prstGeom prst="rect">
            <a:avLst/>
          </a:prstGeom>
          <a:noFill/>
        </p:spPr>
        <p:txBody>
          <a:bodyPr wrap="square">
            <a:spAutoFit/>
          </a:bodyPr>
          <a:lstStyle/>
          <a:p>
            <a:pPr>
              <a:spcAft>
                <a:spcPts val="800"/>
              </a:spcAft>
            </a:pPr>
            <a:r>
              <a:rPr sz="2000" b="1">
                <a:solidFill>
                  <a:srgbClr val="FFBE53"/>
                </a:solidFill>
                <a:latin typeface="Aptos"/>
              </a:rPr>
              <a:t>26.6  AVERAGE</a:t>
            </a:r>
          </a:p>
        </p:txBody>
      </p:sp>
      <p:sp>
        <p:nvSpPr>
          <p:cNvPr id="12" name="TextBox 11"/>
          <p:cNvSpPr txBox="1"/>
          <p:nvPr/>
        </p:nvSpPr>
        <p:spPr>
          <a:xfrm>
            <a:off x="16139160" y="6108192"/>
            <a:ext cx="6995160" cy="2057400"/>
          </a:xfrm>
          <a:prstGeom prst="rect">
            <a:avLst/>
          </a:prstGeom>
          <a:noFill/>
        </p:spPr>
        <p:txBody>
          <a:bodyPr wrap="square">
            <a:spAutoFit/>
          </a:bodyPr>
          <a:lstStyle/>
          <a:p>
            <a:pPr>
              <a:spcAft>
                <a:spcPts val="800"/>
              </a:spcAft>
            </a:pPr>
            <a:r>
              <a:rPr sz="1900" b="0">
                <a:solidFill>
                  <a:srgbClr val="F1F8FC"/>
                </a:solidFill>
                <a:latin typeface="Aptos"/>
              </a:rPr>
              <a:t>Average detections per frame across 300 processed frames.</a:t>
            </a:r>
          </a:p>
        </p:txBody>
      </p:sp>
      <p:sp>
        <p:nvSpPr>
          <p:cNvPr id="13" name="Rounded Rectangle 12"/>
          <p:cNvSpPr/>
          <p:nvPr/>
        </p:nvSpPr>
        <p:spPr>
          <a:xfrm>
            <a:off x="15864840" y="8613648"/>
            <a:ext cx="7543800" cy="2743200"/>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139160" y="8814816"/>
            <a:ext cx="6995160" cy="411480"/>
          </a:xfrm>
          <a:prstGeom prst="rect">
            <a:avLst/>
          </a:prstGeom>
          <a:noFill/>
        </p:spPr>
        <p:txBody>
          <a:bodyPr wrap="square">
            <a:spAutoFit/>
          </a:bodyPr>
          <a:lstStyle/>
          <a:p>
            <a:pPr>
              <a:spcAft>
                <a:spcPts val="800"/>
              </a:spcAft>
            </a:pPr>
            <a:r>
              <a:rPr sz="2000" b="1">
                <a:solidFill>
                  <a:srgbClr val="63D799"/>
                </a:solidFill>
                <a:latin typeface="Aptos"/>
              </a:rPr>
              <a:t>63  TRACK IDs</a:t>
            </a:r>
          </a:p>
        </p:txBody>
      </p:sp>
      <p:sp>
        <p:nvSpPr>
          <p:cNvPr id="15" name="TextBox 14"/>
          <p:cNvSpPr txBox="1"/>
          <p:nvPr/>
        </p:nvSpPr>
        <p:spPr>
          <a:xfrm>
            <a:off x="16139160" y="9372600"/>
            <a:ext cx="6995160" cy="1828800"/>
          </a:xfrm>
          <a:prstGeom prst="rect">
            <a:avLst/>
          </a:prstGeom>
          <a:noFill/>
        </p:spPr>
        <p:txBody>
          <a:bodyPr wrap="square">
            <a:spAutoFit/>
          </a:bodyPr>
          <a:lstStyle/>
          <a:p>
            <a:pPr>
              <a:spcAft>
                <a:spcPts val="800"/>
              </a:spcAft>
            </a:pPr>
            <a:r>
              <a:rPr sz="1900" b="0">
                <a:solidFill>
                  <a:srgbClr val="F1F8FC"/>
                </a:solidFill>
                <a:latin typeface="Aptos"/>
              </a:rPr>
              <a:t>Not a verified number of unique people. IDs can be reassigned.</a:t>
            </a:r>
          </a:p>
        </p:txBody>
      </p:sp>
      <p:sp>
        <p:nvSpPr>
          <p:cNvPr id="16" name="TextBox 15"/>
          <p:cNvSpPr txBox="1"/>
          <p:nvPr/>
        </p:nvSpPr>
        <p:spPr>
          <a:xfrm>
            <a:off x="914400" y="11887200"/>
            <a:ext cx="21945600" cy="502920"/>
          </a:xfrm>
          <a:prstGeom prst="rect">
            <a:avLst/>
          </a:prstGeom>
          <a:noFill/>
        </p:spPr>
        <p:txBody>
          <a:bodyPr wrap="square">
            <a:spAutoFit/>
          </a:bodyPr>
          <a:lstStyle/>
          <a:p>
            <a:pPr>
              <a:spcAft>
                <a:spcPts val="800"/>
              </a:spcAft>
            </a:pPr>
            <a:r>
              <a:rPr sz="1900" b="1">
                <a:solidFill>
                  <a:srgbClr val="F1F8FC"/>
                </a:solidFill>
                <a:latin typeface="Aptos"/>
              </a:rPr>
              <a:t>Observed improvement: HOG detected 0; YOLO detected people in the same aerial scene.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82C"/>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Rounded Rectangle 2"/>
          <p:cNvSpPr/>
          <p:nvPr/>
        </p:nvSpPr>
        <p:spPr>
          <a:xfrm>
            <a:off x="914400" y="713232"/>
            <a:ext cx="164592" cy="822960"/>
          </a:xfrm>
          <a:prstGeom prst="roundRect">
            <a:avLst/>
          </a:prstGeom>
          <a:solidFill>
            <a:srgbClr val="33D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53312" y="676656"/>
            <a:ext cx="22006560" cy="594360"/>
          </a:xfrm>
          <a:prstGeom prst="rect">
            <a:avLst/>
          </a:prstGeom>
          <a:noFill/>
        </p:spPr>
        <p:txBody>
          <a:bodyPr wrap="square">
            <a:spAutoFit/>
          </a:bodyPr>
          <a:lstStyle/>
          <a:p>
            <a:pPr>
              <a:spcAft>
                <a:spcPts val="800"/>
              </a:spcAft>
            </a:pPr>
            <a:r>
              <a:rPr sz="3400" b="1">
                <a:solidFill>
                  <a:srgbClr val="F1F8FC"/>
                </a:solidFill>
                <a:latin typeface="Aptos"/>
              </a:rPr>
              <a:t>DEMO C | SMART CCTV</a:t>
            </a:r>
          </a:p>
        </p:txBody>
      </p:sp>
      <p:sp>
        <p:nvSpPr>
          <p:cNvPr id="5" name="TextBox 4"/>
          <p:cNvSpPr txBox="1"/>
          <p:nvPr/>
        </p:nvSpPr>
        <p:spPr>
          <a:xfrm>
            <a:off x="1371600" y="1426464"/>
            <a:ext cx="21640800" cy="329184"/>
          </a:xfrm>
          <a:prstGeom prst="rect">
            <a:avLst/>
          </a:prstGeom>
          <a:noFill/>
        </p:spPr>
        <p:txBody>
          <a:bodyPr wrap="square">
            <a:spAutoFit/>
          </a:bodyPr>
          <a:lstStyle/>
          <a:p>
            <a:pPr>
              <a:spcAft>
                <a:spcPts val="800"/>
              </a:spcAft>
            </a:pPr>
            <a:r>
              <a:rPr sz="1400" b="1">
                <a:solidFill>
                  <a:srgbClr val="33D6D2"/>
                </a:solidFill>
                <a:latin typeface="Aptos"/>
              </a:rPr>
              <a:t>ACTUAL COLAB OUTPUT · VERTICAL CROSSING LINE</a:t>
            </a:r>
          </a:p>
        </p:txBody>
      </p:sp>
      <p:pic>
        <p:nvPicPr>
          <p:cNvPr id="6" name="Picture 5" descr="session07_cctv_result.png"/>
          <p:cNvPicPr>
            <a:picLocks noChangeAspect="1"/>
          </p:cNvPicPr>
          <p:nvPr/>
        </p:nvPicPr>
        <p:blipFill>
          <a:blip r:embed="rId2"/>
          <a:stretch>
            <a:fillRect/>
          </a:stretch>
        </p:blipFill>
        <p:spPr>
          <a:xfrm>
            <a:off x="822960" y="2103120"/>
            <a:ext cx="14081760" cy="10054782"/>
          </a:xfrm>
          <a:prstGeom prst="rect">
            <a:avLst/>
          </a:prstGeom>
        </p:spPr>
      </p:pic>
      <p:sp>
        <p:nvSpPr>
          <p:cNvPr id="7" name="Rounded Rectangle 6"/>
          <p:cNvSpPr/>
          <p:nvPr/>
        </p:nvSpPr>
        <p:spPr>
          <a:xfrm>
            <a:off x="15316200" y="2103120"/>
            <a:ext cx="8092440" cy="2880360"/>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590520" y="2304288"/>
            <a:ext cx="7543800" cy="411480"/>
          </a:xfrm>
          <a:prstGeom prst="rect">
            <a:avLst/>
          </a:prstGeom>
          <a:noFill/>
        </p:spPr>
        <p:txBody>
          <a:bodyPr wrap="square">
            <a:spAutoFit/>
          </a:bodyPr>
          <a:lstStyle/>
          <a:p>
            <a:pPr>
              <a:spcAft>
                <a:spcPts val="800"/>
              </a:spcAft>
            </a:pPr>
            <a:r>
              <a:rPr sz="2000" b="1">
                <a:solidFill>
                  <a:srgbClr val="33D6D2"/>
                </a:solidFill>
                <a:latin typeface="Aptos"/>
              </a:rPr>
              <a:t>2 IN / 0 OUT</a:t>
            </a:r>
          </a:p>
        </p:txBody>
      </p:sp>
      <p:sp>
        <p:nvSpPr>
          <p:cNvPr id="9" name="TextBox 8"/>
          <p:cNvSpPr txBox="1"/>
          <p:nvPr/>
        </p:nvSpPr>
        <p:spPr>
          <a:xfrm>
            <a:off x="15590520" y="2862072"/>
            <a:ext cx="7543800" cy="1965960"/>
          </a:xfrm>
          <a:prstGeom prst="rect">
            <a:avLst/>
          </a:prstGeom>
          <a:noFill/>
        </p:spPr>
        <p:txBody>
          <a:bodyPr wrap="square">
            <a:spAutoFit/>
          </a:bodyPr>
          <a:lstStyle/>
          <a:p>
            <a:pPr>
              <a:spcAft>
                <a:spcPts val="800"/>
              </a:spcAft>
            </a:pPr>
            <a:r>
              <a:rPr sz="1900" b="0">
                <a:solidFill>
                  <a:srgbClr val="F1F8FC"/>
                </a:solidFill>
                <a:latin typeface="Aptos"/>
              </a:rPr>
              <a:t>Detected crossing events in the tested 150-frame clip.</a:t>
            </a:r>
          </a:p>
        </p:txBody>
      </p:sp>
      <p:sp>
        <p:nvSpPr>
          <p:cNvPr id="10" name="Rounded Rectangle 9"/>
          <p:cNvSpPr/>
          <p:nvPr/>
        </p:nvSpPr>
        <p:spPr>
          <a:xfrm>
            <a:off x="15316200" y="5248656"/>
            <a:ext cx="8092440" cy="2880360"/>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590520" y="5449824"/>
            <a:ext cx="7543800" cy="411480"/>
          </a:xfrm>
          <a:prstGeom prst="rect">
            <a:avLst/>
          </a:prstGeom>
          <a:noFill/>
        </p:spPr>
        <p:txBody>
          <a:bodyPr wrap="square">
            <a:spAutoFit/>
          </a:bodyPr>
          <a:lstStyle/>
          <a:p>
            <a:pPr>
              <a:spcAft>
                <a:spcPts val="800"/>
              </a:spcAft>
            </a:pPr>
            <a:r>
              <a:rPr sz="2000" b="1">
                <a:solidFill>
                  <a:srgbClr val="FFBE53"/>
                </a:solidFill>
                <a:latin typeface="Aptos"/>
              </a:rPr>
              <a:t>9 MAX / 5.7 AVG</a:t>
            </a:r>
          </a:p>
        </p:txBody>
      </p:sp>
      <p:sp>
        <p:nvSpPr>
          <p:cNvPr id="12" name="TextBox 11"/>
          <p:cNvSpPr txBox="1"/>
          <p:nvPr/>
        </p:nvSpPr>
        <p:spPr>
          <a:xfrm>
            <a:off x="15590520" y="6007608"/>
            <a:ext cx="7543800" cy="1965960"/>
          </a:xfrm>
          <a:prstGeom prst="rect">
            <a:avLst/>
          </a:prstGeom>
          <a:noFill/>
        </p:spPr>
        <p:txBody>
          <a:bodyPr wrap="square">
            <a:spAutoFit/>
          </a:bodyPr>
          <a:lstStyle/>
          <a:p>
            <a:pPr>
              <a:spcAft>
                <a:spcPts val="800"/>
              </a:spcAft>
            </a:pPr>
            <a:r>
              <a:rPr sz="1900" b="0">
                <a:solidFill>
                  <a:srgbClr val="F1F8FC"/>
                </a:solidFill>
                <a:latin typeface="Aptos"/>
              </a:rPr>
              <a:t>Person detections per frame; the maximum is simultaneous detections.</a:t>
            </a:r>
          </a:p>
        </p:txBody>
      </p:sp>
      <p:sp>
        <p:nvSpPr>
          <p:cNvPr id="13" name="Rounded Rectangle 12"/>
          <p:cNvSpPr/>
          <p:nvPr/>
        </p:nvSpPr>
        <p:spPr>
          <a:xfrm>
            <a:off x="15316200" y="8394192"/>
            <a:ext cx="8092440" cy="3017520"/>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590520" y="8595360"/>
            <a:ext cx="7543800" cy="411480"/>
          </a:xfrm>
          <a:prstGeom prst="rect">
            <a:avLst/>
          </a:prstGeom>
          <a:noFill/>
        </p:spPr>
        <p:txBody>
          <a:bodyPr wrap="square">
            <a:spAutoFit/>
          </a:bodyPr>
          <a:lstStyle/>
          <a:p>
            <a:pPr>
              <a:spcAft>
                <a:spcPts val="800"/>
              </a:spcAft>
            </a:pPr>
            <a:r>
              <a:rPr sz="2000" b="1">
                <a:solidFill>
                  <a:srgbClr val="63D799"/>
                </a:solidFill>
                <a:latin typeface="Aptos"/>
              </a:rPr>
              <a:t>16 OBSERVED IDs</a:t>
            </a:r>
          </a:p>
        </p:txBody>
      </p:sp>
      <p:sp>
        <p:nvSpPr>
          <p:cNvPr id="15" name="TextBox 14"/>
          <p:cNvSpPr txBox="1"/>
          <p:nvPr/>
        </p:nvSpPr>
        <p:spPr>
          <a:xfrm>
            <a:off x="15590520" y="9153144"/>
            <a:ext cx="7543800" cy="2103120"/>
          </a:xfrm>
          <a:prstGeom prst="rect">
            <a:avLst/>
          </a:prstGeom>
          <a:noFill/>
        </p:spPr>
        <p:txBody>
          <a:bodyPr wrap="square">
            <a:spAutoFit/>
          </a:bodyPr>
          <a:lstStyle/>
          <a:p>
            <a:pPr>
              <a:spcAft>
                <a:spcPts val="800"/>
              </a:spcAft>
            </a:pPr>
            <a:r>
              <a:rPr sz="1900" b="0">
                <a:solidFill>
                  <a:srgbClr val="F1F8FC"/>
                </a:solidFill>
                <a:latin typeface="Aptos"/>
              </a:rPr>
              <a:t>Tracker IDs are not unique-person counts. Count events need manual checks.</a:t>
            </a:r>
          </a:p>
        </p:txBody>
      </p:sp>
      <p:sp>
        <p:nvSpPr>
          <p:cNvPr id="16" name="TextBox 15"/>
          <p:cNvSpPr txBox="1"/>
          <p:nvPr/>
        </p:nvSpPr>
        <p:spPr>
          <a:xfrm>
            <a:off x="914400" y="11978640"/>
            <a:ext cx="21945600" cy="457200"/>
          </a:xfrm>
          <a:prstGeom prst="rect">
            <a:avLst/>
          </a:prstGeom>
          <a:noFill/>
        </p:spPr>
        <p:txBody>
          <a:bodyPr wrap="square">
            <a:spAutoFit/>
          </a:bodyPr>
          <a:lstStyle/>
          <a:p>
            <a:pPr>
              <a:spcAft>
                <a:spcPts val="800"/>
              </a:spcAft>
            </a:pPr>
            <a:r>
              <a:rPr sz="1900" b="1">
                <a:solidFill>
                  <a:srgbClr val="F1F8FC"/>
                </a:solidFill>
                <a:latin typeface="Aptos"/>
              </a:rPr>
              <a:t>Crossing events ≠ people inside the area (occupancy).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82C"/>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Rounded Rectangle 2"/>
          <p:cNvSpPr/>
          <p:nvPr/>
        </p:nvSpPr>
        <p:spPr>
          <a:xfrm>
            <a:off x="914400" y="713232"/>
            <a:ext cx="164592" cy="822960"/>
          </a:xfrm>
          <a:prstGeom prst="roundRect">
            <a:avLst/>
          </a:prstGeom>
          <a:solidFill>
            <a:srgbClr val="33D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53312" y="676656"/>
            <a:ext cx="22006560" cy="594360"/>
          </a:xfrm>
          <a:prstGeom prst="rect">
            <a:avLst/>
          </a:prstGeom>
          <a:noFill/>
        </p:spPr>
        <p:txBody>
          <a:bodyPr wrap="square">
            <a:spAutoFit/>
          </a:bodyPr>
          <a:lstStyle/>
          <a:p>
            <a:pPr>
              <a:spcAft>
                <a:spcPts val="800"/>
              </a:spcAft>
            </a:pPr>
            <a:r>
              <a:rPr sz="3400" b="1">
                <a:solidFill>
                  <a:srgbClr val="F1F8FC"/>
                </a:solidFill>
                <a:latin typeface="Aptos"/>
              </a:rPr>
              <a:t>READ THE CCTV GRAPHS</a:t>
            </a:r>
          </a:p>
        </p:txBody>
      </p:sp>
      <p:sp>
        <p:nvSpPr>
          <p:cNvPr id="5" name="TextBox 4"/>
          <p:cNvSpPr txBox="1"/>
          <p:nvPr/>
        </p:nvSpPr>
        <p:spPr>
          <a:xfrm>
            <a:off x="1371600" y="1426464"/>
            <a:ext cx="21640800" cy="329184"/>
          </a:xfrm>
          <a:prstGeom prst="rect">
            <a:avLst/>
          </a:prstGeom>
          <a:noFill/>
        </p:spPr>
        <p:txBody>
          <a:bodyPr wrap="square">
            <a:spAutoFit/>
          </a:bodyPr>
          <a:lstStyle/>
          <a:p>
            <a:pPr>
              <a:spcAft>
                <a:spcPts val="800"/>
              </a:spcAft>
            </a:pPr>
            <a:r>
              <a:rPr sz="1400" b="1">
                <a:solidFill>
                  <a:srgbClr val="33D6D2"/>
                </a:solidFill>
                <a:latin typeface="Aptos"/>
              </a:rPr>
              <a:t>DETECTIONS ARE NOT THE SAME AS CROSSING COUNTS</a:t>
            </a:r>
          </a:p>
        </p:txBody>
      </p:sp>
      <p:pic>
        <p:nvPicPr>
          <p:cNvPr id="6" name="Picture 5" descr="session07_cctv_graphs.png"/>
          <p:cNvPicPr>
            <a:picLocks noChangeAspect="1"/>
          </p:cNvPicPr>
          <p:nvPr/>
        </p:nvPicPr>
        <p:blipFill>
          <a:blip r:embed="rId2"/>
          <a:stretch>
            <a:fillRect/>
          </a:stretch>
        </p:blipFill>
        <p:spPr>
          <a:xfrm>
            <a:off x="777240" y="1938528"/>
            <a:ext cx="12070080" cy="6684480"/>
          </a:xfrm>
          <a:prstGeom prst="rect">
            <a:avLst/>
          </a:prstGeom>
        </p:spPr>
      </p:pic>
      <p:sp>
        <p:nvSpPr>
          <p:cNvPr id="7" name="Rounded Rectangle 6"/>
          <p:cNvSpPr/>
          <p:nvPr/>
        </p:nvSpPr>
        <p:spPr>
          <a:xfrm>
            <a:off x="13258800" y="2011680"/>
            <a:ext cx="10287000" cy="2926080"/>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533120" y="2212848"/>
            <a:ext cx="9738360" cy="411480"/>
          </a:xfrm>
          <a:prstGeom prst="rect">
            <a:avLst/>
          </a:prstGeom>
          <a:noFill/>
        </p:spPr>
        <p:txBody>
          <a:bodyPr wrap="square">
            <a:spAutoFit/>
          </a:bodyPr>
          <a:lstStyle/>
          <a:p>
            <a:pPr>
              <a:spcAft>
                <a:spcPts val="800"/>
              </a:spcAft>
            </a:pPr>
            <a:r>
              <a:rPr sz="2000" b="1">
                <a:solidFill>
                  <a:srgbClr val="33D6D2"/>
                </a:solidFill>
                <a:latin typeface="Aptos"/>
              </a:rPr>
              <a:t>DETECTION CURVE</a:t>
            </a:r>
          </a:p>
        </p:txBody>
      </p:sp>
      <p:sp>
        <p:nvSpPr>
          <p:cNvPr id="9" name="TextBox 8"/>
          <p:cNvSpPr txBox="1"/>
          <p:nvPr/>
        </p:nvSpPr>
        <p:spPr>
          <a:xfrm>
            <a:off x="13533120" y="2770632"/>
            <a:ext cx="9738360" cy="2011680"/>
          </a:xfrm>
          <a:prstGeom prst="rect">
            <a:avLst/>
          </a:prstGeom>
          <a:noFill/>
        </p:spPr>
        <p:txBody>
          <a:bodyPr wrap="square">
            <a:spAutoFit/>
          </a:bodyPr>
          <a:lstStyle/>
          <a:p>
            <a:pPr>
              <a:spcAft>
                <a:spcPts val="800"/>
              </a:spcAft>
            </a:pPr>
            <a:r>
              <a:rPr sz="1900" b="0">
                <a:solidFill>
                  <a:srgbClr val="F1F8FC"/>
                </a:solidFill>
                <a:latin typeface="Aptos"/>
              </a:rPr>
              <a:t>How many people were detected in each frame? Why can this change without people entering?</a:t>
            </a:r>
          </a:p>
        </p:txBody>
      </p:sp>
      <p:sp>
        <p:nvSpPr>
          <p:cNvPr id="10" name="Rounded Rectangle 9"/>
          <p:cNvSpPr/>
          <p:nvPr/>
        </p:nvSpPr>
        <p:spPr>
          <a:xfrm>
            <a:off x="13258800" y="5212080"/>
            <a:ext cx="10287000" cy="2834640"/>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33120" y="5413248"/>
            <a:ext cx="9738360" cy="411480"/>
          </a:xfrm>
          <a:prstGeom prst="rect">
            <a:avLst/>
          </a:prstGeom>
          <a:noFill/>
        </p:spPr>
        <p:txBody>
          <a:bodyPr wrap="square">
            <a:spAutoFit/>
          </a:bodyPr>
          <a:lstStyle/>
          <a:p>
            <a:pPr>
              <a:spcAft>
                <a:spcPts val="800"/>
              </a:spcAft>
            </a:pPr>
            <a:r>
              <a:rPr sz="2000" b="1">
                <a:solidFill>
                  <a:srgbClr val="FFBE53"/>
                </a:solidFill>
                <a:latin typeface="Aptos"/>
              </a:rPr>
              <a:t>CUMULATIVE EVENTS</a:t>
            </a:r>
          </a:p>
        </p:txBody>
      </p:sp>
      <p:sp>
        <p:nvSpPr>
          <p:cNvPr id="12" name="TextBox 11"/>
          <p:cNvSpPr txBox="1"/>
          <p:nvPr/>
        </p:nvSpPr>
        <p:spPr>
          <a:xfrm>
            <a:off x="13533120" y="5971032"/>
            <a:ext cx="9738360" cy="1920240"/>
          </a:xfrm>
          <a:prstGeom prst="rect">
            <a:avLst/>
          </a:prstGeom>
          <a:noFill/>
        </p:spPr>
        <p:txBody>
          <a:bodyPr wrap="square">
            <a:spAutoFit/>
          </a:bodyPr>
          <a:lstStyle/>
          <a:p>
            <a:pPr>
              <a:spcAft>
                <a:spcPts val="800"/>
              </a:spcAft>
            </a:pPr>
            <a:r>
              <a:rPr sz="1900" b="0">
                <a:solidFill>
                  <a:srgbClr val="F1F8FC"/>
                </a:solidFill>
                <a:latin typeface="Aptos"/>
              </a:rPr>
              <a:t>Crossings grow stepwise at observed boundary events: 2 IN, 0 OUT.</a:t>
            </a:r>
          </a:p>
        </p:txBody>
      </p:sp>
      <p:sp>
        <p:nvSpPr>
          <p:cNvPr id="13" name="Rounded Rectangle 12"/>
          <p:cNvSpPr/>
          <p:nvPr/>
        </p:nvSpPr>
        <p:spPr>
          <a:xfrm>
            <a:off x="13258800" y="8302752"/>
            <a:ext cx="10287000" cy="2880360"/>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533120" y="8503920"/>
            <a:ext cx="9738360" cy="411480"/>
          </a:xfrm>
          <a:prstGeom prst="rect">
            <a:avLst/>
          </a:prstGeom>
          <a:noFill/>
        </p:spPr>
        <p:txBody>
          <a:bodyPr wrap="square">
            <a:spAutoFit/>
          </a:bodyPr>
          <a:lstStyle/>
          <a:p>
            <a:pPr>
              <a:spcAft>
                <a:spcPts val="800"/>
              </a:spcAft>
            </a:pPr>
            <a:r>
              <a:rPr sz="2000" b="1">
                <a:solidFill>
                  <a:srgbClr val="63D799"/>
                </a:solidFill>
                <a:latin typeface="Aptos"/>
              </a:rPr>
              <a:t>INTERPRET CAREFULLY</a:t>
            </a:r>
          </a:p>
        </p:txBody>
      </p:sp>
      <p:sp>
        <p:nvSpPr>
          <p:cNvPr id="15" name="TextBox 14"/>
          <p:cNvSpPr txBox="1"/>
          <p:nvPr/>
        </p:nvSpPr>
        <p:spPr>
          <a:xfrm>
            <a:off x="13533120" y="9061704"/>
            <a:ext cx="9738360" cy="1965960"/>
          </a:xfrm>
          <a:prstGeom prst="rect">
            <a:avLst/>
          </a:prstGeom>
          <a:noFill/>
        </p:spPr>
        <p:txBody>
          <a:bodyPr wrap="square">
            <a:spAutoFit/>
          </a:bodyPr>
          <a:lstStyle/>
          <a:p>
            <a:pPr>
              <a:spcAft>
                <a:spcPts val="800"/>
              </a:spcAft>
            </a:pPr>
            <a:r>
              <a:rPr sz="1900" b="0">
                <a:solidFill>
                  <a:srgbClr val="F1F8FC"/>
                </a:solidFill>
                <a:latin typeface="Aptos"/>
              </a:rPr>
              <a:t>Compare with manual viewing; false crossings, ID switches, and missed people are possible.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82C"/>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Rounded Rectangle 2"/>
          <p:cNvSpPr/>
          <p:nvPr/>
        </p:nvSpPr>
        <p:spPr>
          <a:xfrm>
            <a:off x="914400" y="713232"/>
            <a:ext cx="164592" cy="822960"/>
          </a:xfrm>
          <a:prstGeom prst="roundRect">
            <a:avLst/>
          </a:prstGeom>
          <a:solidFill>
            <a:srgbClr val="33D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53312" y="676656"/>
            <a:ext cx="22006560" cy="594360"/>
          </a:xfrm>
          <a:prstGeom prst="rect">
            <a:avLst/>
          </a:prstGeom>
          <a:noFill/>
        </p:spPr>
        <p:txBody>
          <a:bodyPr wrap="square">
            <a:spAutoFit/>
          </a:bodyPr>
          <a:lstStyle/>
          <a:p>
            <a:pPr>
              <a:spcAft>
                <a:spcPts val="800"/>
              </a:spcAft>
            </a:pPr>
            <a:r>
              <a:rPr sz="3400" b="1">
                <a:solidFill>
                  <a:srgbClr val="F1F8FC"/>
                </a:solidFill>
                <a:latin typeface="Aptos"/>
              </a:rPr>
              <a:t>READY-TO-RUN COLAB WORKFLOW</a:t>
            </a:r>
          </a:p>
        </p:txBody>
      </p:sp>
      <p:sp>
        <p:nvSpPr>
          <p:cNvPr id="5" name="TextBox 4"/>
          <p:cNvSpPr txBox="1"/>
          <p:nvPr/>
        </p:nvSpPr>
        <p:spPr>
          <a:xfrm>
            <a:off x="1371600" y="1426464"/>
            <a:ext cx="21640800" cy="329184"/>
          </a:xfrm>
          <a:prstGeom prst="rect">
            <a:avLst/>
          </a:prstGeom>
          <a:noFill/>
        </p:spPr>
        <p:txBody>
          <a:bodyPr wrap="square">
            <a:spAutoFit/>
          </a:bodyPr>
          <a:lstStyle/>
          <a:p>
            <a:pPr>
              <a:spcAft>
                <a:spcPts val="800"/>
              </a:spcAft>
            </a:pPr>
            <a:r>
              <a:rPr sz="1400" b="1">
                <a:solidFill>
                  <a:srgbClr val="33D6D2"/>
                </a:solidFill>
                <a:latin typeface="Aptos"/>
              </a:rPr>
              <a:t>STUDENT PRACTICE · NO PAID DESKTOP EDITOR</a:t>
            </a:r>
          </a:p>
        </p:txBody>
      </p:sp>
      <p:sp>
        <p:nvSpPr>
          <p:cNvPr id="6" name="Rounded Rectangle 5"/>
          <p:cNvSpPr/>
          <p:nvPr/>
        </p:nvSpPr>
        <p:spPr>
          <a:xfrm>
            <a:off x="914400" y="2039112"/>
            <a:ext cx="22555200" cy="2176272"/>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2240280"/>
            <a:ext cx="22006560" cy="411480"/>
          </a:xfrm>
          <a:prstGeom prst="rect">
            <a:avLst/>
          </a:prstGeom>
          <a:noFill/>
        </p:spPr>
        <p:txBody>
          <a:bodyPr wrap="square">
            <a:spAutoFit/>
          </a:bodyPr>
          <a:lstStyle/>
          <a:p>
            <a:pPr>
              <a:spcAft>
                <a:spcPts val="800"/>
              </a:spcAft>
            </a:pPr>
            <a:r>
              <a:rPr sz="2000" b="1">
                <a:solidFill>
                  <a:srgbClr val="33D6D2"/>
                </a:solidFill>
                <a:latin typeface="Aptos"/>
              </a:rPr>
              <a:t>01  PREPARE</a:t>
            </a:r>
          </a:p>
        </p:txBody>
      </p:sp>
      <p:sp>
        <p:nvSpPr>
          <p:cNvPr id="8" name="TextBox 7"/>
          <p:cNvSpPr txBox="1"/>
          <p:nvPr/>
        </p:nvSpPr>
        <p:spPr>
          <a:xfrm>
            <a:off x="1188720" y="2798064"/>
            <a:ext cx="22006560" cy="1261872"/>
          </a:xfrm>
          <a:prstGeom prst="rect">
            <a:avLst/>
          </a:prstGeom>
          <a:noFill/>
        </p:spPr>
        <p:txBody>
          <a:bodyPr wrap="square">
            <a:spAutoFit/>
          </a:bodyPr>
          <a:lstStyle/>
          <a:p>
            <a:pPr>
              <a:spcAft>
                <a:spcPts val="800"/>
              </a:spcAft>
            </a:pPr>
            <a:r>
              <a:rPr sz="1900" b="0">
                <a:solidFill>
                  <a:srgbClr val="F1F8FC"/>
                </a:solidFill>
                <a:latin typeface="Aptos"/>
              </a:rPr>
              <a:t>Open the appropriate notebook; enable GPU for YOLO if available.</a:t>
            </a:r>
          </a:p>
        </p:txBody>
      </p:sp>
      <p:sp>
        <p:nvSpPr>
          <p:cNvPr id="9" name="Rounded Rectangle 8"/>
          <p:cNvSpPr/>
          <p:nvPr/>
        </p:nvSpPr>
        <p:spPr>
          <a:xfrm>
            <a:off x="914400" y="4526280"/>
            <a:ext cx="22555200" cy="2176272"/>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4727448"/>
            <a:ext cx="22006560" cy="411480"/>
          </a:xfrm>
          <a:prstGeom prst="rect">
            <a:avLst/>
          </a:prstGeom>
          <a:noFill/>
        </p:spPr>
        <p:txBody>
          <a:bodyPr wrap="square">
            <a:spAutoFit/>
          </a:bodyPr>
          <a:lstStyle/>
          <a:p>
            <a:pPr>
              <a:spcAft>
                <a:spcPts val="800"/>
              </a:spcAft>
            </a:pPr>
            <a:r>
              <a:rPr sz="2000" b="1">
                <a:solidFill>
                  <a:srgbClr val="FFBE53"/>
                </a:solidFill>
                <a:latin typeface="Aptos"/>
              </a:rPr>
              <a:t>02  INPUT</a:t>
            </a:r>
          </a:p>
        </p:txBody>
      </p:sp>
      <p:sp>
        <p:nvSpPr>
          <p:cNvPr id="11" name="TextBox 10"/>
          <p:cNvSpPr txBox="1"/>
          <p:nvPr/>
        </p:nvSpPr>
        <p:spPr>
          <a:xfrm>
            <a:off x="1188720" y="5285232"/>
            <a:ext cx="22006560" cy="1261872"/>
          </a:xfrm>
          <a:prstGeom prst="rect">
            <a:avLst/>
          </a:prstGeom>
          <a:noFill/>
        </p:spPr>
        <p:txBody>
          <a:bodyPr wrap="square">
            <a:spAutoFit/>
          </a:bodyPr>
          <a:lstStyle/>
          <a:p>
            <a:pPr>
              <a:spcAft>
                <a:spcPts val="800"/>
              </a:spcAft>
            </a:pPr>
            <a:r>
              <a:rPr sz="1900" b="0">
                <a:solidFill>
                  <a:srgbClr val="F1F8FC"/>
                </a:solidFill>
                <a:latin typeface="Aptos"/>
              </a:rPr>
              <a:t>Traffic: upload MP4. Drone: upload aerial MP4. CCTV: load vtest sample or upload MP4.</a:t>
            </a:r>
          </a:p>
        </p:txBody>
      </p:sp>
      <p:sp>
        <p:nvSpPr>
          <p:cNvPr id="12" name="Rounded Rectangle 11"/>
          <p:cNvSpPr/>
          <p:nvPr/>
        </p:nvSpPr>
        <p:spPr>
          <a:xfrm>
            <a:off x="914400" y="7013448"/>
            <a:ext cx="22555200" cy="2176272"/>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7214616"/>
            <a:ext cx="22006560" cy="411480"/>
          </a:xfrm>
          <a:prstGeom prst="rect">
            <a:avLst/>
          </a:prstGeom>
          <a:noFill/>
        </p:spPr>
        <p:txBody>
          <a:bodyPr wrap="square">
            <a:spAutoFit/>
          </a:bodyPr>
          <a:lstStyle/>
          <a:p>
            <a:pPr>
              <a:spcAft>
                <a:spcPts val="800"/>
              </a:spcAft>
            </a:pPr>
            <a:r>
              <a:rPr sz="2000" b="1">
                <a:solidFill>
                  <a:srgbClr val="63D799"/>
                </a:solidFill>
                <a:latin typeface="Aptos"/>
              </a:rPr>
              <a:t>03  ANALYZE</a:t>
            </a:r>
          </a:p>
        </p:txBody>
      </p:sp>
      <p:sp>
        <p:nvSpPr>
          <p:cNvPr id="14" name="TextBox 13"/>
          <p:cNvSpPr txBox="1"/>
          <p:nvPr/>
        </p:nvSpPr>
        <p:spPr>
          <a:xfrm>
            <a:off x="1188720" y="7772400"/>
            <a:ext cx="22006560" cy="1261872"/>
          </a:xfrm>
          <a:prstGeom prst="rect">
            <a:avLst/>
          </a:prstGeom>
          <a:noFill/>
        </p:spPr>
        <p:txBody>
          <a:bodyPr wrap="square">
            <a:spAutoFit/>
          </a:bodyPr>
          <a:lstStyle/>
          <a:p>
            <a:pPr>
              <a:spcAft>
                <a:spcPts val="800"/>
              </a:spcAft>
            </a:pPr>
            <a:r>
              <a:rPr sz="1900" b="0">
                <a:solidFill>
                  <a:srgbClr val="F1F8FC"/>
                </a:solidFill>
                <a:latin typeface="Aptos"/>
              </a:rPr>
              <a:t>Run detection and tracking. Select line location and counting direction where applicable.</a:t>
            </a:r>
          </a:p>
        </p:txBody>
      </p:sp>
      <p:sp>
        <p:nvSpPr>
          <p:cNvPr id="15" name="Rounded Rectangle 14"/>
          <p:cNvSpPr/>
          <p:nvPr/>
        </p:nvSpPr>
        <p:spPr>
          <a:xfrm>
            <a:off x="914400" y="9500616"/>
            <a:ext cx="22555200" cy="2176272"/>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88720" y="9701784"/>
            <a:ext cx="22006560" cy="411480"/>
          </a:xfrm>
          <a:prstGeom prst="rect">
            <a:avLst/>
          </a:prstGeom>
          <a:noFill/>
        </p:spPr>
        <p:txBody>
          <a:bodyPr wrap="square">
            <a:spAutoFit/>
          </a:bodyPr>
          <a:lstStyle/>
          <a:p>
            <a:pPr>
              <a:spcAft>
                <a:spcPts val="800"/>
              </a:spcAft>
            </a:pPr>
            <a:r>
              <a:rPr sz="2000" b="1">
                <a:solidFill>
                  <a:srgbClr val="4C9BE9"/>
                </a:solidFill>
                <a:latin typeface="Aptos"/>
              </a:rPr>
              <a:t>04  EVALUATE</a:t>
            </a:r>
          </a:p>
        </p:txBody>
      </p:sp>
      <p:sp>
        <p:nvSpPr>
          <p:cNvPr id="17" name="TextBox 16"/>
          <p:cNvSpPr txBox="1"/>
          <p:nvPr/>
        </p:nvSpPr>
        <p:spPr>
          <a:xfrm>
            <a:off x="1188720" y="10259568"/>
            <a:ext cx="22006560" cy="1261872"/>
          </a:xfrm>
          <a:prstGeom prst="rect">
            <a:avLst/>
          </a:prstGeom>
          <a:noFill/>
        </p:spPr>
        <p:txBody>
          <a:bodyPr wrap="square">
            <a:spAutoFit/>
          </a:bodyPr>
          <a:lstStyle/>
          <a:p>
            <a:pPr>
              <a:spcAft>
                <a:spcPts val="800"/>
              </a:spcAft>
            </a:pPr>
            <a:r>
              <a:rPr sz="1900" b="0">
                <a:solidFill>
                  <a:srgbClr val="F1F8FC"/>
                </a:solidFill>
                <a:latin typeface="Aptos"/>
              </a:rPr>
              <a:t>Compare annotated MP4, per-frame graph, crossing log CSV, and manual observations.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82C"/>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Rounded Rectangle 2"/>
          <p:cNvSpPr/>
          <p:nvPr/>
        </p:nvSpPr>
        <p:spPr>
          <a:xfrm>
            <a:off x="914400" y="713232"/>
            <a:ext cx="164592" cy="822960"/>
          </a:xfrm>
          <a:prstGeom prst="roundRect">
            <a:avLst/>
          </a:prstGeom>
          <a:solidFill>
            <a:srgbClr val="33D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53312" y="676656"/>
            <a:ext cx="22006560" cy="594360"/>
          </a:xfrm>
          <a:prstGeom prst="rect">
            <a:avLst/>
          </a:prstGeom>
          <a:noFill/>
        </p:spPr>
        <p:txBody>
          <a:bodyPr wrap="square">
            <a:spAutoFit/>
          </a:bodyPr>
          <a:lstStyle/>
          <a:p>
            <a:pPr>
              <a:spcAft>
                <a:spcPts val="800"/>
              </a:spcAft>
            </a:pPr>
            <a:r>
              <a:rPr sz="3400" b="1">
                <a:solidFill>
                  <a:srgbClr val="F1F8FC"/>
                </a:solidFill>
                <a:latin typeface="Aptos"/>
              </a:rPr>
              <a:t>STUDENT CHALLENGE | EVALUATE AI</a:t>
            </a:r>
          </a:p>
        </p:txBody>
      </p:sp>
      <p:sp>
        <p:nvSpPr>
          <p:cNvPr id="5" name="TextBox 4"/>
          <p:cNvSpPr txBox="1"/>
          <p:nvPr/>
        </p:nvSpPr>
        <p:spPr>
          <a:xfrm>
            <a:off x="1371600" y="1426464"/>
            <a:ext cx="21640800" cy="329184"/>
          </a:xfrm>
          <a:prstGeom prst="rect">
            <a:avLst/>
          </a:prstGeom>
          <a:noFill/>
        </p:spPr>
        <p:txBody>
          <a:bodyPr wrap="square">
            <a:spAutoFit/>
          </a:bodyPr>
          <a:lstStyle/>
          <a:p>
            <a:pPr>
              <a:spcAft>
                <a:spcPts val="800"/>
              </a:spcAft>
            </a:pPr>
            <a:r>
              <a:rPr sz="1400" b="1">
                <a:solidFill>
                  <a:srgbClr val="33D6D2"/>
                </a:solidFill>
                <a:latin typeface="Aptos"/>
              </a:rPr>
              <a:t>GROUP DISCUSSION · 15 MINUTES</a:t>
            </a:r>
          </a:p>
        </p:txBody>
      </p:sp>
      <p:sp>
        <p:nvSpPr>
          <p:cNvPr id="6" name="Rounded Rectangle 5"/>
          <p:cNvSpPr/>
          <p:nvPr/>
        </p:nvSpPr>
        <p:spPr>
          <a:xfrm>
            <a:off x="914400" y="1965960"/>
            <a:ext cx="22555200" cy="2267712"/>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2167128"/>
            <a:ext cx="22006560" cy="411480"/>
          </a:xfrm>
          <a:prstGeom prst="rect">
            <a:avLst/>
          </a:prstGeom>
          <a:noFill/>
        </p:spPr>
        <p:txBody>
          <a:bodyPr wrap="square">
            <a:spAutoFit/>
          </a:bodyPr>
          <a:lstStyle/>
          <a:p>
            <a:pPr>
              <a:spcAft>
                <a:spcPts val="800"/>
              </a:spcAft>
            </a:pPr>
            <a:r>
              <a:rPr sz="2000" b="1">
                <a:solidFill>
                  <a:srgbClr val="33D6D2"/>
                </a:solidFill>
                <a:latin typeface="Aptos"/>
              </a:rPr>
              <a:t>A. TRAFFIC</a:t>
            </a:r>
          </a:p>
        </p:txBody>
      </p:sp>
      <p:sp>
        <p:nvSpPr>
          <p:cNvPr id="8" name="TextBox 7"/>
          <p:cNvSpPr txBox="1"/>
          <p:nvPr/>
        </p:nvSpPr>
        <p:spPr>
          <a:xfrm>
            <a:off x="1188720" y="2724912"/>
            <a:ext cx="22006560" cy="1353312"/>
          </a:xfrm>
          <a:prstGeom prst="rect">
            <a:avLst/>
          </a:prstGeom>
          <a:noFill/>
        </p:spPr>
        <p:txBody>
          <a:bodyPr wrap="square">
            <a:spAutoFit/>
          </a:bodyPr>
          <a:lstStyle/>
          <a:p>
            <a:pPr>
              <a:spcAft>
                <a:spcPts val="800"/>
              </a:spcAft>
            </a:pPr>
            <a:r>
              <a:rPr sz="1900" b="0">
                <a:solidFill>
                  <a:srgbClr val="F1F8FC"/>
                </a:solidFill>
                <a:latin typeface="Aptos"/>
              </a:rPr>
              <a:t>Why does foreground motion detection not classify cars vs motorcycles? What changes with YOLO?</a:t>
            </a:r>
          </a:p>
        </p:txBody>
      </p:sp>
      <p:sp>
        <p:nvSpPr>
          <p:cNvPr id="9" name="Rounded Rectangle 8"/>
          <p:cNvSpPr/>
          <p:nvPr/>
        </p:nvSpPr>
        <p:spPr>
          <a:xfrm>
            <a:off x="914400" y="4507992"/>
            <a:ext cx="22555200" cy="2267712"/>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4709159"/>
            <a:ext cx="22006560" cy="411480"/>
          </a:xfrm>
          <a:prstGeom prst="rect">
            <a:avLst/>
          </a:prstGeom>
          <a:noFill/>
        </p:spPr>
        <p:txBody>
          <a:bodyPr wrap="square">
            <a:spAutoFit/>
          </a:bodyPr>
          <a:lstStyle/>
          <a:p>
            <a:pPr>
              <a:spcAft>
                <a:spcPts val="800"/>
              </a:spcAft>
            </a:pPr>
            <a:r>
              <a:rPr sz="2000" b="1">
                <a:solidFill>
                  <a:srgbClr val="FFBE53"/>
                </a:solidFill>
                <a:latin typeface="Aptos"/>
              </a:rPr>
              <a:t>B. DRONE</a:t>
            </a:r>
          </a:p>
        </p:txBody>
      </p:sp>
      <p:sp>
        <p:nvSpPr>
          <p:cNvPr id="11" name="TextBox 10"/>
          <p:cNvSpPr txBox="1"/>
          <p:nvPr/>
        </p:nvSpPr>
        <p:spPr>
          <a:xfrm>
            <a:off x="1188720" y="5266944"/>
            <a:ext cx="22006560" cy="1353312"/>
          </a:xfrm>
          <a:prstGeom prst="rect">
            <a:avLst/>
          </a:prstGeom>
          <a:noFill/>
        </p:spPr>
        <p:txBody>
          <a:bodyPr wrap="square">
            <a:spAutoFit/>
          </a:bodyPr>
          <a:lstStyle/>
          <a:p>
            <a:pPr>
              <a:spcAft>
                <a:spcPts val="800"/>
              </a:spcAft>
            </a:pPr>
            <a:r>
              <a:rPr sz="1900" b="0">
                <a:solidFill>
                  <a:srgbClr val="F1F8FC"/>
                </a:solidFill>
                <a:latin typeface="Aptos"/>
              </a:rPr>
              <a:t>Why did HOG miss visible people? What happens if the camera moves or the person is tiny?</a:t>
            </a:r>
          </a:p>
        </p:txBody>
      </p:sp>
      <p:sp>
        <p:nvSpPr>
          <p:cNvPr id="12" name="Rounded Rectangle 11"/>
          <p:cNvSpPr/>
          <p:nvPr/>
        </p:nvSpPr>
        <p:spPr>
          <a:xfrm>
            <a:off x="914400" y="7050023"/>
            <a:ext cx="22555200" cy="2267712"/>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7251191"/>
            <a:ext cx="22006560" cy="411480"/>
          </a:xfrm>
          <a:prstGeom prst="rect">
            <a:avLst/>
          </a:prstGeom>
          <a:noFill/>
        </p:spPr>
        <p:txBody>
          <a:bodyPr wrap="square">
            <a:spAutoFit/>
          </a:bodyPr>
          <a:lstStyle/>
          <a:p>
            <a:pPr>
              <a:spcAft>
                <a:spcPts val="800"/>
              </a:spcAft>
            </a:pPr>
            <a:r>
              <a:rPr sz="2000" b="1">
                <a:solidFill>
                  <a:srgbClr val="63D799"/>
                </a:solidFill>
                <a:latin typeface="Aptos"/>
              </a:rPr>
              <a:t>C. CCTV</a:t>
            </a:r>
          </a:p>
        </p:txBody>
      </p:sp>
      <p:sp>
        <p:nvSpPr>
          <p:cNvPr id="14" name="TextBox 13"/>
          <p:cNvSpPr txBox="1"/>
          <p:nvPr/>
        </p:nvSpPr>
        <p:spPr>
          <a:xfrm>
            <a:off x="1188720" y="7808975"/>
            <a:ext cx="22006560" cy="1353312"/>
          </a:xfrm>
          <a:prstGeom prst="rect">
            <a:avLst/>
          </a:prstGeom>
          <a:noFill/>
        </p:spPr>
        <p:txBody>
          <a:bodyPr wrap="square">
            <a:spAutoFit/>
          </a:bodyPr>
          <a:lstStyle/>
          <a:p>
            <a:pPr>
              <a:spcAft>
                <a:spcPts val="800"/>
              </a:spcAft>
            </a:pPr>
            <a:r>
              <a:rPr sz="1900" b="0">
                <a:solidFill>
                  <a:srgbClr val="F1F8FC"/>
                </a:solidFill>
                <a:latin typeface="Aptos"/>
              </a:rPr>
              <a:t>Manually verify 2 IN / 0 OUT. Does a crossing event prove a person entered a building?</a:t>
            </a:r>
          </a:p>
        </p:txBody>
      </p:sp>
      <p:sp>
        <p:nvSpPr>
          <p:cNvPr id="15" name="Rounded Rectangle 14"/>
          <p:cNvSpPr/>
          <p:nvPr/>
        </p:nvSpPr>
        <p:spPr>
          <a:xfrm>
            <a:off x="914400" y="9592056"/>
            <a:ext cx="22555200" cy="2267712"/>
          </a:xfrm>
          <a:prstGeom prst="roundRect">
            <a:avLst/>
          </a:prstGeom>
          <a:solidFill>
            <a:srgbClr val="15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88720" y="9793224"/>
            <a:ext cx="22006560" cy="411480"/>
          </a:xfrm>
          <a:prstGeom prst="rect">
            <a:avLst/>
          </a:prstGeom>
          <a:noFill/>
        </p:spPr>
        <p:txBody>
          <a:bodyPr wrap="square">
            <a:spAutoFit/>
          </a:bodyPr>
          <a:lstStyle/>
          <a:p>
            <a:pPr>
              <a:spcAft>
                <a:spcPts val="800"/>
              </a:spcAft>
            </a:pPr>
            <a:r>
              <a:rPr sz="2000" b="1">
                <a:solidFill>
                  <a:srgbClr val="4C9BE9"/>
                </a:solidFill>
                <a:latin typeface="Aptos"/>
              </a:rPr>
              <a:t>REPORT</a:t>
            </a:r>
          </a:p>
        </p:txBody>
      </p:sp>
      <p:sp>
        <p:nvSpPr>
          <p:cNvPr id="17" name="TextBox 16"/>
          <p:cNvSpPr txBox="1"/>
          <p:nvPr/>
        </p:nvSpPr>
        <p:spPr>
          <a:xfrm>
            <a:off x="1188720" y="10351008"/>
            <a:ext cx="22006560" cy="1353312"/>
          </a:xfrm>
          <a:prstGeom prst="rect">
            <a:avLst/>
          </a:prstGeom>
          <a:noFill/>
        </p:spPr>
        <p:txBody>
          <a:bodyPr wrap="square">
            <a:spAutoFit/>
          </a:bodyPr>
          <a:lstStyle/>
          <a:p>
            <a:pPr>
              <a:spcAft>
                <a:spcPts val="800"/>
              </a:spcAft>
            </a:pPr>
            <a:r>
              <a:rPr sz="1900" b="0">
                <a:solidFill>
                  <a:srgbClr val="F1F8FC"/>
                </a:solidFill>
                <a:latin typeface="Aptos"/>
              </a:rPr>
              <a:t>Give one screenshot, one failure case, one useful metric, and one privacy/ethics risk.</a:t>
            </a:r>
          </a:p>
        </p:txBody>
      </p:sp>
    </p:spTree>
  </p:cSld>
  <p:clrMapOvr>
    <a:masterClrMapping/>
  </p:clrMapOvr>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3  -  Read-Only" id="{0B9ADDDE-C7FD-42D8-83B7-6621693F3C5D}" vid="{472DF894-1FEC-4319-A5F3-1F8BDBEC1F3D}"/>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21_BasicWhite</Template>
  <TotalTime>17968</TotalTime>
  <Words>821</Words>
  <Application>Microsoft Macintosh PowerPoint</Application>
  <PresentationFormat>Custom</PresentationFormat>
  <Paragraphs>79</Paragraphs>
  <Slides>17</Slides>
  <Notes>3</Notes>
  <HiddenSlides>0</HiddenSlides>
  <MMClips>7</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Open Sans Light</vt:lpstr>
      <vt:lpstr>Open Sans</vt:lpstr>
      <vt:lpstr>Wingdings</vt:lpstr>
      <vt:lpstr>Open Sans Semibold</vt:lpstr>
      <vt:lpstr>OCRB</vt:lpstr>
      <vt:lpstr>Open Sans ExtraBold</vt:lpstr>
      <vt:lpstr>21_BasicWhite</vt:lpstr>
      <vt:lpstr>Video Processing</vt:lpstr>
      <vt:lpstr>Learning Outcomes</vt:lpstr>
      <vt:lpstr>outline</vt:lpstr>
      <vt:lpstr>Introduction to video processing</vt:lpstr>
      <vt:lpstr>Introduction to video processing</vt:lpstr>
      <vt:lpstr>Object tracking</vt:lpstr>
      <vt:lpstr>Object tracking</vt:lpstr>
      <vt:lpstr>Video-based 3d data inference</vt:lpstr>
      <vt:lpstr>Video-based 3d data inference</vt:lpstr>
      <vt:lpstr>Video restoration</vt:lpstr>
      <vt:lpstr>Video restoration</vt:lpstr>
      <vt:lpstr>Video generation</vt:lpstr>
      <vt:lpstr>Video Generation</vt:lpstr>
      <vt:lpstr>Video generation</vt:lpstr>
      <vt:lpstr>Video generation</vt:lpstr>
      <vt:lpstr>Video generation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HENRY LUCKY</dc:creator>
  <cp:lastModifiedBy>HENRY LUCKY</cp:lastModifiedBy>
  <cp:revision>59</cp:revision>
  <dcterms:created xsi:type="dcterms:W3CDTF">2023-11-17T02:51:40Z</dcterms:created>
  <dcterms:modified xsi:type="dcterms:W3CDTF">2024-07-01T09:54:43Z</dcterms:modified>
</cp:coreProperties>
</file>